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4.jpg" ContentType="image/jpe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86"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7" r:id="rId23"/>
    <p:sldId id="288" r:id="rId24"/>
    <p:sldId id="289" r:id="rId25"/>
    <p:sldId id="290" r:id="rId26"/>
    <p:sldId id="293" r:id="rId27"/>
    <p:sldId id="292" r:id="rId28"/>
    <p:sldId id="291" r:id="rId29"/>
    <p:sldId id="294" r:id="rId30"/>
    <p:sldId id="285"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3AA42A-412B-6A41-21A9-C80B671D19EF}" v="3" dt="2026-08-13T11:41:55.9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8" d="100"/>
          <a:sy n="108" d="100"/>
        </p:scale>
        <p:origin x="96" y="1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600517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6941306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6929265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955848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2050349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6026073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8709397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8203740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7877690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926"/>
        </a:solidFill>
        <a:effectLst/>
      </p:bgPr>
    </p:bg>
    <p:spTree>
      <p:nvGrpSpPr>
        <p:cNvPr id="1" name=""/>
        <p:cNvGrpSpPr/>
        <p:nvPr/>
      </p:nvGrpSpPr>
      <p:grpSpPr>
        <a:xfrm>
          <a:off x="0" y="0"/>
          <a:ext cx="0" cy="0"/>
          <a:chOff x="0" y="0"/>
          <a:chExt cx="0" cy="0"/>
        </a:xfrm>
      </p:grpSpPr>
      <p:pic>
        <p:nvPicPr>
          <p:cNvPr id="2" name="Image 0" descr="Aerial view of a large rooftop solar photovoltaic array in a desert landscape at golden hour"/>
          <p:cNvPicPr>
            <a:picLocks noChangeAspect="1"/>
          </p:cNvPicPr>
          <p:nvPr/>
        </p:nvPicPr>
        <p:blipFill>
          <a:blip r:embed="rId3"/>
          <a:srcRect t="27" b="27"/>
          <a:stretch/>
        </p:blipFill>
        <p:spPr>
          <a:xfrm>
            <a:off x="0" y="0"/>
            <a:ext cx="9144000" cy="5143500"/>
          </a:xfrm>
          <a:prstGeom prst="rect">
            <a:avLst/>
          </a:prstGeom>
        </p:spPr>
      </p:pic>
      <p:sp>
        <p:nvSpPr>
          <p:cNvPr id="3" name="Image scrim">
            <a:extLst>
              <a:ext uri="{C183D7F6-B498-43B3-948B-1728B52AA6E4}">
                <adec:decorative xmlns="" xmlns:adec="http://schemas.microsoft.com/office/drawing/2017/decorative" val="1"/>
              </a:ext>
            </a:extLst>
          </p:cNvPr>
          <p:cNvSpPr/>
          <p:nvPr/>
        </p:nvSpPr>
        <p:spPr>
          <a:xfrm>
            <a:off x="0" y="0"/>
            <a:ext cx="9144000" cy="5143500"/>
          </a:xfrm>
          <a:prstGeom prst="rect">
            <a:avLst/>
          </a:prstGeom>
          <a:solidFill>
            <a:srgbClr val="2B2926">
              <a:alpha val="70000"/>
            </a:srgbClr>
          </a:solidFill>
          <a:ln/>
        </p:spPr>
      </p:sp>
      <p:sp>
        <p:nvSpPr>
          <p:cNvPr id="4" name="Left text panel wash">
            <a:extLst>
              <a:ext uri="{C183D7F6-B498-43B3-948B-1728B52AA6E4}">
                <adec:decorative xmlns="" xmlns:adec="http://schemas.microsoft.com/office/drawing/2017/decorative" val="1"/>
              </a:ext>
            </a:extLst>
          </p:cNvPr>
          <p:cNvSpPr/>
          <p:nvPr/>
        </p:nvSpPr>
        <p:spPr>
          <a:xfrm>
            <a:off x="0" y="0"/>
            <a:ext cx="5394960" cy="5143500"/>
          </a:xfrm>
          <a:prstGeom prst="rect">
            <a:avLst/>
          </a:prstGeom>
          <a:solidFill>
            <a:srgbClr val="2B2926">
              <a:alpha val="88000"/>
            </a:srgbClr>
          </a:solidFill>
          <a:ln/>
        </p:spPr>
      </p:sp>
      <p:sp>
        <p:nvSpPr>
          <p:cNvPr id="5" name="Accent rule">
            <a:extLst>
              <a:ext uri="{C183D7F6-B498-43B3-948B-1728B52AA6E4}">
                <adec:decorative xmlns="" xmlns:adec="http://schemas.microsoft.com/office/drawing/2017/decorative" val="1"/>
              </a:ext>
            </a:extLst>
          </p:cNvPr>
          <p:cNvSpPr/>
          <p:nvPr/>
        </p:nvSpPr>
        <p:spPr>
          <a:xfrm>
            <a:off x="640080" y="1298448"/>
            <a:ext cx="685800" cy="45720"/>
          </a:xfrm>
          <a:prstGeom prst="rect">
            <a:avLst/>
          </a:prstGeom>
          <a:solidFill>
            <a:srgbClr val="B4632B"/>
          </a:solidFill>
          <a:ln/>
        </p:spPr>
      </p:sp>
      <p:sp>
        <p:nvSpPr>
          <p:cNvPr id="6" name="Text 3"/>
          <p:cNvSpPr/>
          <p:nvPr/>
        </p:nvSpPr>
        <p:spPr>
          <a:xfrm>
            <a:off x="640080" y="868680"/>
            <a:ext cx="4572000" cy="320040"/>
          </a:xfrm>
          <a:prstGeom prst="rect">
            <a:avLst/>
          </a:prstGeom>
          <a:noFill/>
          <a:ln/>
        </p:spPr>
        <p:txBody>
          <a:bodyPr wrap="square" lIns="0" tIns="0" rIns="0" bIns="0" rtlCol="0" anchor="ctr"/>
          <a:lstStyle/>
          <a:p>
            <a:pPr marL="0" indent="0">
              <a:buNone/>
            </a:pPr>
            <a:r>
              <a:rPr lang="en-US" sz="1250" b="1" kern="0" spc="400" dirty="0">
                <a:solidFill>
                  <a:srgbClr val="E2D6C3"/>
                </a:solidFill>
                <a:latin typeface="Trebuchet MS" pitchFamily="34" charset="0"/>
                <a:ea typeface="Trebuchet MS" pitchFamily="34" charset="-122"/>
                <a:cs typeface="Trebuchet MS" pitchFamily="34" charset="-120"/>
              </a:rPr>
              <a:t>PROJECT PORTFOLIO</a:t>
            </a:r>
            <a:endParaRPr lang="en-US" sz="1250" dirty="0"/>
          </a:p>
        </p:txBody>
      </p:sp>
      <p:sp>
        <p:nvSpPr>
          <p:cNvPr id="7" name="Text 4"/>
          <p:cNvSpPr/>
          <p:nvPr/>
        </p:nvSpPr>
        <p:spPr>
          <a:xfrm>
            <a:off x="640080" y="1572768"/>
            <a:ext cx="4846320" cy="1371600"/>
          </a:xfrm>
          <a:prstGeom prst="rect">
            <a:avLst/>
          </a:prstGeom>
          <a:noFill/>
          <a:ln/>
        </p:spPr>
        <p:txBody>
          <a:bodyPr wrap="square" lIns="0" tIns="0" rIns="0" bIns="0" rtlCol="0" anchor="ctr"/>
          <a:lstStyle/>
          <a:p>
            <a:pPr marL="0" indent="0">
              <a:lnSpc>
                <a:spcPts val="4200"/>
              </a:lnSpc>
              <a:buNone/>
            </a:pPr>
            <a:r>
              <a:rPr lang="en-US" sz="3800" b="1" dirty="0">
                <a:solidFill>
                  <a:srgbClr val="FFFFFF"/>
                </a:solidFill>
                <a:latin typeface="Georgia" pitchFamily="34" charset="0"/>
                <a:ea typeface="Georgia" pitchFamily="34" charset="-122"/>
                <a:cs typeface="Georgia" pitchFamily="34" charset="-120"/>
              </a:rPr>
              <a:t>Completed Solar PV Projects</a:t>
            </a:r>
            <a:endParaRPr lang="en-US" sz="3800" dirty="0"/>
          </a:p>
        </p:txBody>
      </p:sp>
      <p:sp>
        <p:nvSpPr>
          <p:cNvPr id="8" name="Text 5"/>
          <p:cNvSpPr/>
          <p:nvPr/>
        </p:nvSpPr>
        <p:spPr>
          <a:xfrm>
            <a:off x="640080" y="2999232"/>
            <a:ext cx="4480560" cy="731520"/>
          </a:xfrm>
          <a:prstGeom prst="rect">
            <a:avLst/>
          </a:prstGeom>
          <a:noFill/>
          <a:ln/>
        </p:spPr>
        <p:txBody>
          <a:bodyPr wrap="square" lIns="0" tIns="0" rIns="0" bIns="0" rtlCol="0" anchor="ctr"/>
          <a:lstStyle/>
          <a:p>
            <a:pPr marL="0" indent="0">
              <a:lnSpc>
                <a:spcPts val="2000"/>
              </a:lnSpc>
              <a:buNone/>
            </a:pPr>
            <a:r>
              <a:rPr lang="en-US" sz="1350" dirty="0">
                <a:solidFill>
                  <a:srgbClr val="E2D6C3"/>
                </a:solidFill>
                <a:latin typeface="Trebuchet MS" pitchFamily="34" charset="0"/>
                <a:ea typeface="Trebuchet MS" pitchFamily="34" charset="-122"/>
                <a:cs typeface="Trebuchet MS" pitchFamily="34" charset="-120"/>
              </a:rPr>
              <a:t>Twelve delivered rooftop and ground-mount installations — design, supply, installation and commissioning.</a:t>
            </a:r>
            <a:endParaRPr lang="en-US" sz="1350" dirty="0"/>
          </a:p>
        </p:txBody>
      </p:sp>
      <p:sp>
        <p:nvSpPr>
          <p:cNvPr id="9" name="Divider">
            <a:extLst>
              <a:ext uri="{C183D7F6-B498-43B3-948B-1728B52AA6E4}">
                <adec:decorative xmlns="" xmlns:adec="http://schemas.microsoft.com/office/drawing/2017/decorative" val="1"/>
              </a:ext>
            </a:extLst>
          </p:cNvPr>
          <p:cNvSpPr/>
          <p:nvPr/>
        </p:nvSpPr>
        <p:spPr>
          <a:xfrm>
            <a:off x="640080" y="3977640"/>
            <a:ext cx="4206240" cy="18288"/>
          </a:xfrm>
          <a:prstGeom prst="rect">
            <a:avLst/>
          </a:prstGeom>
          <a:solidFill>
            <a:srgbClr val="FFFFFF">
              <a:alpha val="35000"/>
            </a:srgbClr>
          </a:solidFill>
          <a:ln/>
        </p:spPr>
      </p:sp>
      <p:sp>
        <p:nvSpPr>
          <p:cNvPr id="10" name="Text 7"/>
          <p:cNvSpPr/>
          <p:nvPr/>
        </p:nvSpPr>
        <p:spPr>
          <a:xfrm>
            <a:off x="640080" y="4160520"/>
            <a:ext cx="5120640" cy="320040"/>
          </a:xfrm>
          <a:prstGeom prst="rect">
            <a:avLst/>
          </a:prstGeom>
          <a:noFill/>
          <a:ln/>
        </p:spPr>
        <p:txBody>
          <a:bodyPr wrap="square" lIns="0" tIns="0" rIns="0" bIns="0" rtlCol="0" anchor="ctr"/>
          <a:lstStyle/>
          <a:p>
            <a:pPr marL="0" indent="0">
              <a:buNone/>
            </a:pPr>
            <a:r>
              <a:rPr lang="en-US" sz="950" b="1" kern="0" spc="80" dirty="0">
                <a:solidFill>
                  <a:srgbClr val="B4632B"/>
                </a:solidFill>
                <a:latin typeface="Trebuchet MS" pitchFamily="34" charset="0"/>
                <a:ea typeface="Trebuchet MS" pitchFamily="34" charset="-122"/>
                <a:cs typeface="Trebuchet MS" pitchFamily="34" charset="-120"/>
              </a:rPr>
              <a:t>12 PROJECTS  ·  ROOFTOP &amp; GROUND-MOUNT  ·  TURNKEY EPC</a:t>
            </a:r>
            <a:endParaRPr lang="en-US" sz="9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pic>
        <p:nvPicPr>
          <p:cNvPr id="3" name="Image 0" descr="Close-up of solar photovoltaic module rows in warm desert light"/>
          <p:cNvPicPr>
            <a:picLocks noChangeAspect="1"/>
          </p:cNvPicPr>
          <p:nvPr/>
        </p:nvPicPr>
        <p:blipFill>
          <a:blip r:embed="rId3"/>
          <a:srcRect l="28621" r="28621"/>
          <a:stretch/>
        </p:blipFill>
        <p:spPr>
          <a:xfrm>
            <a:off x="5897880" y="82296"/>
            <a:ext cx="3246120" cy="5061204"/>
          </a:xfrm>
          <a:prstGeom prst="rect">
            <a:avLst/>
          </a:prstGeom>
        </p:spPr>
      </p:pic>
      <p:sp>
        <p:nvSpPr>
          <p:cNvPr id="4" name="Text 1"/>
          <p:cNvSpPr/>
          <p:nvPr/>
        </p:nvSpPr>
        <p:spPr>
          <a:xfrm>
            <a:off x="548640" y="548640"/>
            <a:ext cx="4114800" cy="274320"/>
          </a:xfrm>
          <a:prstGeom prst="rect">
            <a:avLst/>
          </a:prstGeom>
          <a:noFill/>
          <a:ln/>
        </p:spPr>
        <p:txBody>
          <a:bodyPr wrap="square" lIns="0" tIns="0" rIns="0" bIns="0" rtlCol="0" anchor="ctr"/>
          <a:lstStyle/>
          <a:p>
            <a:pPr marL="0" indent="0">
              <a:buNone/>
            </a:pPr>
            <a:r>
              <a:rPr lang="en-US" sz="1100" b="1" kern="0" spc="300" dirty="0">
                <a:solidFill>
                  <a:srgbClr val="B4632B"/>
                </a:solidFill>
                <a:latin typeface="Trebuchet MS" pitchFamily="34" charset="0"/>
                <a:ea typeface="Trebuchet MS" pitchFamily="34" charset="-122"/>
                <a:cs typeface="Trebuchet MS" pitchFamily="34" charset="-120"/>
              </a:rPr>
              <a:t>PORTFOLIO AT A GLANCE</a:t>
            </a:r>
            <a:endParaRPr lang="en-US" sz="1100" dirty="0"/>
          </a:p>
        </p:txBody>
      </p:sp>
      <p:sp>
        <p:nvSpPr>
          <p:cNvPr id="5" name="Text 2"/>
          <p:cNvSpPr/>
          <p:nvPr/>
        </p:nvSpPr>
        <p:spPr>
          <a:xfrm>
            <a:off x="548640" y="914400"/>
            <a:ext cx="4937760" cy="1051560"/>
          </a:xfrm>
          <a:prstGeom prst="rect">
            <a:avLst/>
          </a:prstGeom>
          <a:noFill/>
          <a:ln/>
        </p:spPr>
        <p:txBody>
          <a:bodyPr wrap="square" lIns="0" tIns="0" rIns="0" bIns="0" rtlCol="0" anchor="ctr"/>
          <a:lstStyle/>
          <a:p>
            <a:pPr marL="0" indent="0">
              <a:lnSpc>
                <a:spcPts val="3300"/>
              </a:lnSpc>
              <a:buNone/>
            </a:pPr>
            <a:r>
              <a:rPr lang="en-US" sz="2700" b="1" dirty="0">
                <a:solidFill>
                  <a:srgbClr val="2B2926"/>
                </a:solidFill>
                <a:latin typeface="Georgia" pitchFamily="34" charset="0"/>
                <a:ea typeface="Georgia" pitchFamily="34" charset="-122"/>
                <a:cs typeface="Georgia" pitchFamily="34" charset="-120"/>
              </a:rPr>
              <a:t>A delivery record built on</a:t>
            </a:r>
            <a:endParaRPr lang="en-US" sz="2700" dirty="0"/>
          </a:p>
          <a:p>
            <a:pPr marL="0" indent="0">
              <a:lnSpc>
                <a:spcPts val="3300"/>
              </a:lnSpc>
              <a:buNone/>
            </a:pPr>
            <a:r>
              <a:rPr lang="en-US" sz="2700" b="1" dirty="0">
                <a:solidFill>
                  <a:srgbClr val="2B2926"/>
                </a:solidFill>
                <a:latin typeface="Georgia" pitchFamily="34" charset="0"/>
                <a:ea typeface="Georgia" pitchFamily="34" charset="-122"/>
                <a:cs typeface="Georgia" pitchFamily="34" charset="-120"/>
              </a:rPr>
              <a:t>repeatable execution</a:t>
            </a:r>
            <a:endParaRPr lang="en-US" sz="2700" dirty="0"/>
          </a:p>
        </p:txBody>
      </p:sp>
      <p:sp>
        <p:nvSpPr>
          <p:cNvPr id="6" name="Text 3"/>
          <p:cNvSpPr/>
          <p:nvPr/>
        </p:nvSpPr>
        <p:spPr>
          <a:xfrm>
            <a:off x="548640" y="2057400"/>
            <a:ext cx="4937760" cy="914400"/>
          </a:xfrm>
          <a:prstGeom prst="rect">
            <a:avLst/>
          </a:prstGeom>
          <a:noFill/>
          <a:ln/>
        </p:spPr>
        <p:txBody>
          <a:bodyPr wrap="square" lIns="0" tIns="0" rIns="0" bIns="0" rtlCol="0" anchor="ctr"/>
          <a:lstStyle/>
          <a:p>
            <a:pPr marL="0" indent="0">
              <a:lnSpc>
                <a:spcPts val="1800"/>
              </a:lnSpc>
              <a:buNone/>
            </a:pPr>
            <a:r>
              <a:rPr lang="en-US" sz="1200" dirty="0">
                <a:solidFill>
                  <a:srgbClr val="45413B"/>
                </a:solidFill>
                <a:latin typeface="Trebuchet MS" pitchFamily="34" charset="0"/>
                <a:ea typeface="Trebuchet MS" pitchFamily="34" charset="-122"/>
                <a:cs typeface="Trebuchet MS" pitchFamily="34" charset="-120"/>
              </a:rPr>
              <a:t>Each project below was delivered end to end — feasibility and design, procurement, installation, testing, grid interface and handover — with the same safety and quality standards applied at every site.</a:t>
            </a:r>
            <a:endParaRPr lang="en-US" sz="1200" dirty="0"/>
          </a:p>
        </p:txBody>
      </p:sp>
      <p:sp>
        <p:nvSpPr>
          <p:cNvPr id="7" name="Stat card">
            <a:extLst>
              <a:ext uri="{C183D7F6-B498-43B3-948B-1728B52AA6E4}">
                <adec:decorative xmlns="" xmlns:adec="http://schemas.microsoft.com/office/drawing/2017/decorative" val="1"/>
              </a:ext>
            </a:extLst>
          </p:cNvPr>
          <p:cNvSpPr/>
          <p:nvPr/>
        </p:nvSpPr>
        <p:spPr>
          <a:xfrm>
            <a:off x="548640" y="3200400"/>
            <a:ext cx="1508760" cy="1143000"/>
          </a:xfrm>
          <a:prstGeom prst="rect">
            <a:avLst/>
          </a:prstGeom>
          <a:solidFill>
            <a:srgbClr val="FFFFFF"/>
          </a:solidFill>
          <a:ln/>
          <a:effectLst>
            <a:outerShdw blurRad="127000" dist="25400" dir="5400000" algn="bl" rotWithShape="0">
              <a:srgbClr val="000000">
                <a:alpha val="10000"/>
              </a:srgbClr>
            </a:outerShdw>
          </a:effectLst>
        </p:spPr>
      </p:sp>
      <p:sp>
        <p:nvSpPr>
          <p:cNvPr id="8" name="Stat card accent">
            <a:extLst>
              <a:ext uri="{C183D7F6-B498-43B3-948B-1728B52AA6E4}">
                <adec:decorative xmlns="" xmlns:adec="http://schemas.microsoft.com/office/drawing/2017/decorative" val="1"/>
              </a:ext>
            </a:extLst>
          </p:cNvPr>
          <p:cNvSpPr/>
          <p:nvPr/>
        </p:nvSpPr>
        <p:spPr>
          <a:xfrm>
            <a:off x="548640" y="3200400"/>
            <a:ext cx="1508760" cy="45720"/>
          </a:xfrm>
          <a:prstGeom prst="rect">
            <a:avLst/>
          </a:prstGeom>
          <a:solidFill>
            <a:srgbClr val="B4632B"/>
          </a:solidFill>
          <a:ln/>
        </p:spPr>
      </p:sp>
      <p:sp>
        <p:nvSpPr>
          <p:cNvPr id="9" name="Text 6"/>
          <p:cNvSpPr/>
          <p:nvPr/>
        </p:nvSpPr>
        <p:spPr>
          <a:xfrm>
            <a:off x="676656" y="3401568"/>
            <a:ext cx="1298448" cy="502920"/>
          </a:xfrm>
          <a:prstGeom prst="rect">
            <a:avLst/>
          </a:prstGeom>
          <a:noFill/>
          <a:ln/>
        </p:spPr>
        <p:txBody>
          <a:bodyPr wrap="square" lIns="0" tIns="0" rIns="0" bIns="0" rtlCol="0" anchor="ctr"/>
          <a:lstStyle/>
          <a:p>
            <a:pPr marL="0" indent="0" algn="ctr">
              <a:buNone/>
            </a:pPr>
            <a:r>
              <a:rPr lang="en-US" b="1" dirty="0" smtClean="0">
                <a:solidFill>
                  <a:srgbClr val="2B2926"/>
                </a:solidFill>
                <a:latin typeface="Georgia" pitchFamily="34" charset="0"/>
              </a:rPr>
              <a:t>12</a:t>
            </a:r>
            <a:endParaRPr lang="en-US" sz="1800" dirty="0"/>
          </a:p>
        </p:txBody>
      </p:sp>
      <p:sp>
        <p:nvSpPr>
          <p:cNvPr id="10" name="Text 7"/>
          <p:cNvSpPr/>
          <p:nvPr/>
        </p:nvSpPr>
        <p:spPr>
          <a:xfrm>
            <a:off x="685800" y="3913632"/>
            <a:ext cx="1280160" cy="384048"/>
          </a:xfrm>
          <a:prstGeom prst="rect">
            <a:avLst/>
          </a:prstGeom>
          <a:noFill/>
          <a:ln/>
        </p:spPr>
        <p:txBody>
          <a:bodyPr wrap="square" lIns="0" tIns="0" rIns="0" bIns="0" rtlCol="0" anchor="ctr"/>
          <a:lstStyle/>
          <a:p>
            <a:pPr marL="0" indent="0">
              <a:lnSpc>
                <a:spcPts val="1200"/>
              </a:lnSpc>
              <a:buNone/>
            </a:pPr>
            <a:r>
              <a:rPr lang="en-US" sz="950" dirty="0">
                <a:solidFill>
                  <a:srgbClr val="8A8175"/>
                </a:solidFill>
                <a:latin typeface="Trebuchet MS" pitchFamily="34" charset="0"/>
                <a:ea typeface="Trebuchet MS" pitchFamily="34" charset="-122"/>
                <a:cs typeface="Trebuchet MS" pitchFamily="34" charset="-120"/>
              </a:rPr>
              <a:t>Projects completed</a:t>
            </a:r>
            <a:endParaRPr lang="en-US" sz="950" dirty="0"/>
          </a:p>
        </p:txBody>
      </p:sp>
      <p:sp>
        <p:nvSpPr>
          <p:cNvPr id="11" name="Stat card">
            <a:extLst>
              <a:ext uri="{C183D7F6-B498-43B3-948B-1728B52AA6E4}">
                <adec:decorative xmlns="" xmlns:adec="http://schemas.microsoft.com/office/drawing/2017/decorative" val="1"/>
              </a:ext>
            </a:extLst>
          </p:cNvPr>
          <p:cNvSpPr/>
          <p:nvPr/>
        </p:nvSpPr>
        <p:spPr>
          <a:xfrm>
            <a:off x="2240280" y="3200400"/>
            <a:ext cx="1508760" cy="1143000"/>
          </a:xfrm>
          <a:prstGeom prst="rect">
            <a:avLst/>
          </a:prstGeom>
          <a:solidFill>
            <a:srgbClr val="FFFFFF"/>
          </a:solidFill>
          <a:ln/>
          <a:effectLst>
            <a:outerShdw blurRad="127000" dist="25400" dir="5400000" algn="bl" rotWithShape="0">
              <a:srgbClr val="000000">
                <a:alpha val="10000"/>
              </a:srgbClr>
            </a:outerShdw>
          </a:effectLst>
        </p:spPr>
      </p:sp>
      <p:sp>
        <p:nvSpPr>
          <p:cNvPr id="12" name="Stat card accent">
            <a:extLst>
              <a:ext uri="{C183D7F6-B498-43B3-948B-1728B52AA6E4}">
                <adec:decorative xmlns="" xmlns:adec="http://schemas.microsoft.com/office/drawing/2017/decorative" val="1"/>
              </a:ext>
            </a:extLst>
          </p:cNvPr>
          <p:cNvSpPr/>
          <p:nvPr/>
        </p:nvSpPr>
        <p:spPr>
          <a:xfrm>
            <a:off x="2240280" y="3200400"/>
            <a:ext cx="1508760" cy="45720"/>
          </a:xfrm>
          <a:prstGeom prst="rect">
            <a:avLst/>
          </a:prstGeom>
          <a:solidFill>
            <a:srgbClr val="B4632B"/>
          </a:solidFill>
          <a:ln/>
        </p:spPr>
      </p:sp>
      <p:sp>
        <p:nvSpPr>
          <p:cNvPr id="13" name="Text 10"/>
          <p:cNvSpPr/>
          <p:nvPr/>
        </p:nvSpPr>
        <p:spPr>
          <a:xfrm>
            <a:off x="2368296" y="3401568"/>
            <a:ext cx="1298448" cy="502920"/>
          </a:xfrm>
          <a:prstGeom prst="rect">
            <a:avLst/>
          </a:prstGeom>
          <a:noFill/>
          <a:ln/>
        </p:spPr>
        <p:txBody>
          <a:bodyPr wrap="square" lIns="0" tIns="0" rIns="0" bIns="0" rtlCol="0" anchor="ctr"/>
          <a:lstStyle/>
          <a:p>
            <a:pPr marL="0" indent="0">
              <a:buNone/>
            </a:pPr>
            <a:r>
              <a:rPr lang="en-US" b="1" dirty="0" smtClean="0">
                <a:solidFill>
                  <a:srgbClr val="2B2926"/>
                </a:solidFill>
                <a:latin typeface="Georgia" pitchFamily="34" charset="0"/>
                <a:ea typeface="Georgia" pitchFamily="34" charset="-122"/>
                <a:cs typeface="Georgia" pitchFamily="34" charset="-120"/>
              </a:rPr>
              <a:t>11.13</a:t>
            </a:r>
            <a:r>
              <a:rPr lang="en-US" sz="1800" b="1" dirty="0" smtClean="0">
                <a:solidFill>
                  <a:srgbClr val="2B2926"/>
                </a:solidFill>
                <a:latin typeface="Georgia" pitchFamily="34" charset="0"/>
                <a:ea typeface="Georgia" pitchFamily="34" charset="-122"/>
                <a:cs typeface="Georgia" pitchFamily="34" charset="-120"/>
              </a:rPr>
              <a:t> </a:t>
            </a:r>
            <a:r>
              <a:rPr lang="en-US" sz="1800" b="1" dirty="0">
                <a:solidFill>
                  <a:srgbClr val="2B2926"/>
                </a:solidFill>
                <a:latin typeface="Georgia" pitchFamily="34" charset="0"/>
                <a:ea typeface="Georgia" pitchFamily="34" charset="-122"/>
                <a:cs typeface="Georgia" pitchFamily="34" charset="-120"/>
              </a:rPr>
              <a:t>MWp</a:t>
            </a:r>
            <a:endParaRPr lang="en-US" sz="1800" dirty="0"/>
          </a:p>
        </p:txBody>
      </p:sp>
      <p:sp>
        <p:nvSpPr>
          <p:cNvPr id="14" name="Text 11"/>
          <p:cNvSpPr/>
          <p:nvPr/>
        </p:nvSpPr>
        <p:spPr>
          <a:xfrm>
            <a:off x="2377440" y="3913632"/>
            <a:ext cx="1280160" cy="384048"/>
          </a:xfrm>
          <a:prstGeom prst="rect">
            <a:avLst/>
          </a:prstGeom>
          <a:noFill/>
          <a:ln/>
        </p:spPr>
        <p:txBody>
          <a:bodyPr wrap="square" lIns="0" tIns="0" rIns="0" bIns="0" rtlCol="0" anchor="ctr"/>
          <a:lstStyle/>
          <a:p>
            <a:pPr marL="0" indent="0">
              <a:lnSpc>
                <a:spcPts val="1200"/>
              </a:lnSpc>
              <a:buNone/>
            </a:pPr>
            <a:r>
              <a:rPr lang="en-US" sz="950" dirty="0">
                <a:solidFill>
                  <a:srgbClr val="8A8175"/>
                </a:solidFill>
                <a:latin typeface="Trebuchet MS" pitchFamily="34" charset="0"/>
                <a:ea typeface="Trebuchet MS" pitchFamily="34" charset="-122"/>
                <a:cs typeface="Trebuchet MS" pitchFamily="34" charset="-120"/>
              </a:rPr>
              <a:t>Confirmed to date</a:t>
            </a:r>
            <a:endParaRPr lang="en-US" sz="950" dirty="0"/>
          </a:p>
        </p:txBody>
      </p:sp>
      <p:sp>
        <p:nvSpPr>
          <p:cNvPr id="15" name="Stat card">
            <a:extLst>
              <a:ext uri="{C183D7F6-B498-43B3-948B-1728B52AA6E4}">
                <adec:decorative xmlns="" xmlns:adec="http://schemas.microsoft.com/office/drawing/2017/decorative" val="1"/>
              </a:ext>
            </a:extLst>
          </p:cNvPr>
          <p:cNvSpPr/>
          <p:nvPr/>
        </p:nvSpPr>
        <p:spPr>
          <a:xfrm>
            <a:off x="3931920" y="3200400"/>
            <a:ext cx="1508760" cy="1143000"/>
          </a:xfrm>
          <a:prstGeom prst="rect">
            <a:avLst/>
          </a:prstGeom>
          <a:solidFill>
            <a:srgbClr val="FFFFFF"/>
          </a:solidFill>
          <a:ln/>
          <a:effectLst>
            <a:outerShdw blurRad="127000" dist="25400" dir="5400000" algn="bl" rotWithShape="0">
              <a:srgbClr val="000000">
                <a:alpha val="10000"/>
              </a:srgbClr>
            </a:outerShdw>
          </a:effectLst>
        </p:spPr>
      </p:sp>
      <p:sp>
        <p:nvSpPr>
          <p:cNvPr id="16" name="Stat card accent">
            <a:extLst>
              <a:ext uri="{C183D7F6-B498-43B3-948B-1728B52AA6E4}">
                <adec:decorative xmlns="" xmlns:adec="http://schemas.microsoft.com/office/drawing/2017/decorative" val="1"/>
              </a:ext>
            </a:extLst>
          </p:cNvPr>
          <p:cNvSpPr/>
          <p:nvPr/>
        </p:nvSpPr>
        <p:spPr>
          <a:xfrm>
            <a:off x="3931920" y="3200400"/>
            <a:ext cx="1508760" cy="45720"/>
          </a:xfrm>
          <a:prstGeom prst="rect">
            <a:avLst/>
          </a:prstGeom>
          <a:solidFill>
            <a:srgbClr val="B4632B"/>
          </a:solidFill>
          <a:ln/>
        </p:spPr>
      </p:sp>
      <p:sp>
        <p:nvSpPr>
          <p:cNvPr id="17" name="Text 14"/>
          <p:cNvSpPr/>
          <p:nvPr/>
        </p:nvSpPr>
        <p:spPr>
          <a:xfrm>
            <a:off x="4059936" y="3401568"/>
            <a:ext cx="1298448" cy="502920"/>
          </a:xfrm>
          <a:prstGeom prst="rect">
            <a:avLst/>
          </a:prstGeom>
          <a:noFill/>
          <a:ln/>
        </p:spPr>
        <p:txBody>
          <a:bodyPr wrap="square" lIns="0" tIns="0" rIns="0" bIns="0" rtlCol="0" anchor="ctr"/>
          <a:lstStyle/>
          <a:p>
            <a:pPr marL="0" indent="0">
              <a:buNone/>
            </a:pPr>
            <a:r>
              <a:rPr lang="en-US" sz="1800" b="1" dirty="0">
                <a:solidFill>
                  <a:srgbClr val="2B2926"/>
                </a:solidFill>
                <a:latin typeface="Georgia" pitchFamily="34" charset="0"/>
                <a:ea typeface="Georgia" pitchFamily="34" charset="-122"/>
                <a:cs typeface="Georgia" pitchFamily="34" charset="-120"/>
              </a:rPr>
              <a:t>100%</a:t>
            </a:r>
            <a:endParaRPr lang="en-US" sz="1800" dirty="0"/>
          </a:p>
        </p:txBody>
      </p:sp>
      <p:sp>
        <p:nvSpPr>
          <p:cNvPr id="18" name="Text 15"/>
          <p:cNvSpPr/>
          <p:nvPr/>
        </p:nvSpPr>
        <p:spPr>
          <a:xfrm>
            <a:off x="4069080" y="3913632"/>
            <a:ext cx="1280160" cy="384048"/>
          </a:xfrm>
          <a:prstGeom prst="rect">
            <a:avLst/>
          </a:prstGeom>
          <a:noFill/>
          <a:ln/>
        </p:spPr>
        <p:txBody>
          <a:bodyPr wrap="square" lIns="0" tIns="0" rIns="0" bIns="0" rtlCol="0" anchor="ctr"/>
          <a:lstStyle/>
          <a:p>
            <a:pPr marL="0" indent="0">
              <a:lnSpc>
                <a:spcPts val="1200"/>
              </a:lnSpc>
              <a:buNone/>
            </a:pPr>
            <a:r>
              <a:rPr lang="en-US" sz="950" dirty="0">
                <a:solidFill>
                  <a:srgbClr val="8A8175"/>
                </a:solidFill>
                <a:latin typeface="Trebuchet MS" pitchFamily="34" charset="0"/>
                <a:ea typeface="Trebuchet MS" pitchFamily="34" charset="-122"/>
                <a:cs typeface="Trebuchet MS" pitchFamily="34" charset="-120"/>
              </a:rPr>
              <a:t>Turnkey EPC delivery</a:t>
            </a:r>
            <a:endParaRPr lang="en-US" sz="9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COMPLETED PROJECT PORTFOLIO</a:t>
            </a:r>
            <a:endParaRPr lang="en-US" sz="1000" dirty="0"/>
          </a:p>
        </p:txBody>
      </p:sp>
      <p:sp>
        <p:nvSpPr>
          <p:cNvPr id="4" name="Text 2"/>
          <p:cNvSpPr/>
          <p:nvPr/>
        </p:nvSpPr>
        <p:spPr>
          <a:xfrm>
            <a:off x="548640" y="658368"/>
            <a:ext cx="4572000" cy="457200"/>
          </a:xfrm>
          <a:prstGeom prst="rect">
            <a:avLst/>
          </a:prstGeom>
          <a:noFill/>
          <a:ln/>
        </p:spPr>
        <p:txBody>
          <a:bodyPr wrap="square" lIns="0" tIns="0" rIns="0" bIns="0" rtlCol="0" anchor="ctr"/>
          <a:lstStyle/>
          <a:p>
            <a:pPr marL="0" indent="0">
              <a:buNone/>
            </a:pPr>
            <a:r>
              <a:rPr lang="en-US" sz="2300" b="1" dirty="0">
                <a:solidFill>
                  <a:srgbClr val="2B2926"/>
                </a:solidFill>
                <a:latin typeface="Georgia" pitchFamily="34" charset="0"/>
                <a:ea typeface="Georgia" pitchFamily="34" charset="-122"/>
                <a:cs typeface="Georgia" pitchFamily="34" charset="-120"/>
              </a:rPr>
              <a:t>Projects 01 – 04</a:t>
            </a:r>
            <a:endParaRPr lang="en-US" sz="2300" dirty="0"/>
          </a:p>
        </p:txBody>
      </p:sp>
      <p:sp>
        <p:nvSpPr>
          <p:cNvPr id="5" name="Text 3"/>
          <p:cNvSpPr/>
          <p:nvPr/>
        </p:nvSpPr>
        <p:spPr>
          <a:xfrm>
            <a:off x="5120640" y="786384"/>
            <a:ext cx="347472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Completed installations</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Project card">
            <a:extLst>
              <a:ext uri="{C183D7F6-B498-43B3-948B-1728B52AA6E4}">
                <adec:decorative xmlns="" xmlns:adec="http://schemas.microsoft.com/office/drawing/2017/decorative" val="1"/>
              </a:ext>
            </a:extLst>
          </p:cNvPr>
          <p:cNvSpPr/>
          <p:nvPr/>
        </p:nvSpPr>
        <p:spPr>
          <a:xfrm>
            <a:off x="548640" y="1284732"/>
            <a:ext cx="3931920" cy="1664208"/>
          </a:xfrm>
          <a:prstGeom prst="rect">
            <a:avLst/>
          </a:prstGeom>
          <a:solidFill>
            <a:srgbClr val="FFFFFF"/>
          </a:solidFill>
          <a:ln/>
          <a:effectLst>
            <a:outerShdw blurRad="127000" dist="25400" dir="5400000" algn="bl" rotWithShape="0">
              <a:srgbClr val="000000">
                <a:alpha val="10000"/>
              </a:srgbClr>
            </a:outerShdw>
          </a:effectLst>
        </p:spPr>
      </p:sp>
      <p:sp>
        <p:nvSpPr>
          <p:cNvPr id="8" name="Card edge accent">
            <a:extLst>
              <a:ext uri="{C183D7F6-B498-43B3-948B-1728B52AA6E4}">
                <adec:decorative xmlns="" xmlns:adec="http://schemas.microsoft.com/office/drawing/2017/decorative" val="1"/>
              </a:ext>
            </a:extLst>
          </p:cNvPr>
          <p:cNvSpPr/>
          <p:nvPr/>
        </p:nvSpPr>
        <p:spPr>
          <a:xfrm>
            <a:off x="548640" y="1298448"/>
            <a:ext cx="64008" cy="1664208"/>
          </a:xfrm>
          <a:prstGeom prst="rect">
            <a:avLst/>
          </a:prstGeom>
          <a:solidFill>
            <a:srgbClr val="B4632B"/>
          </a:solidFill>
          <a:ln/>
        </p:spPr>
      </p:sp>
      <p:sp>
        <p:nvSpPr>
          <p:cNvPr id="9" name="Text 7"/>
          <p:cNvSpPr/>
          <p:nvPr/>
        </p:nvSpPr>
        <p:spPr>
          <a:xfrm>
            <a:off x="804672" y="1444752"/>
            <a:ext cx="566928" cy="365760"/>
          </a:xfrm>
          <a:prstGeom prst="rect">
            <a:avLst/>
          </a:prstGeom>
          <a:noFill/>
          <a:ln/>
        </p:spPr>
        <p:txBody>
          <a:bodyPr wrap="square" lIns="0" tIns="0" rIns="0" bIns="0" rtlCol="0" anchor="ctr"/>
          <a:lstStyle/>
          <a:p>
            <a:pPr marL="0" indent="0">
              <a:buNone/>
            </a:pPr>
            <a:r>
              <a:rPr lang="en-US" sz="1900" b="1" dirty="0">
                <a:solidFill>
                  <a:srgbClr val="B4632B"/>
                </a:solidFill>
                <a:latin typeface="Georgia" pitchFamily="34" charset="0"/>
                <a:ea typeface="Georgia" pitchFamily="34" charset="-122"/>
                <a:cs typeface="Georgia" pitchFamily="34" charset="-120"/>
              </a:rPr>
              <a:t>01</a:t>
            </a:r>
            <a:endParaRPr lang="en-US" sz="1900" dirty="0"/>
          </a:p>
        </p:txBody>
      </p:sp>
      <p:sp>
        <p:nvSpPr>
          <p:cNvPr id="10" name="Text 8"/>
          <p:cNvSpPr/>
          <p:nvPr/>
        </p:nvSpPr>
        <p:spPr>
          <a:xfrm>
            <a:off x="1417320" y="1463040"/>
            <a:ext cx="2880360" cy="384048"/>
          </a:xfrm>
          <a:prstGeom prst="rect">
            <a:avLst/>
          </a:prstGeom>
          <a:noFill/>
          <a:ln/>
        </p:spPr>
        <p:txBody>
          <a:bodyPr wrap="square" lIns="0" tIns="0" rIns="0" bIns="0" rtlCol="0" anchor="ctr"/>
          <a:lstStyle/>
          <a:p>
            <a:pPr marL="0" indent="0">
              <a:buNone/>
            </a:pPr>
            <a:r>
              <a:rPr lang="en-US" sz="1400" b="1" dirty="0">
                <a:solidFill>
                  <a:srgbClr val="2B2926"/>
                </a:solidFill>
                <a:latin typeface="Georgia" pitchFamily="34" charset="0"/>
                <a:ea typeface="Georgia" pitchFamily="34" charset="-122"/>
                <a:cs typeface="Georgia" pitchFamily="34" charset="-120"/>
              </a:rPr>
              <a:t>Amazon Jeddah Solar PV</a:t>
            </a:r>
            <a:endParaRPr lang="en-US" sz="1400" dirty="0"/>
          </a:p>
        </p:txBody>
      </p:sp>
      <p:sp>
        <p:nvSpPr>
          <p:cNvPr id="11" name="Card divider">
            <a:extLst>
              <a:ext uri="{C183D7F6-B498-43B3-948B-1728B52AA6E4}">
                <adec:decorative xmlns="" xmlns:adec="http://schemas.microsoft.com/office/drawing/2017/decorative" val="1"/>
              </a:ext>
            </a:extLst>
          </p:cNvPr>
          <p:cNvSpPr/>
          <p:nvPr/>
        </p:nvSpPr>
        <p:spPr>
          <a:xfrm>
            <a:off x="1417320" y="1920240"/>
            <a:ext cx="2880360" cy="13716"/>
          </a:xfrm>
          <a:prstGeom prst="rect">
            <a:avLst/>
          </a:prstGeom>
          <a:solidFill>
            <a:srgbClr val="E2D6C3"/>
          </a:solidFill>
          <a:ln/>
        </p:spPr>
      </p:sp>
      <p:sp>
        <p:nvSpPr>
          <p:cNvPr id="12" name="Text 10"/>
          <p:cNvSpPr/>
          <p:nvPr/>
        </p:nvSpPr>
        <p:spPr>
          <a:xfrm>
            <a:off x="1417320" y="2029968"/>
            <a:ext cx="731520" cy="219456"/>
          </a:xfrm>
          <a:prstGeom prst="rect">
            <a:avLst/>
          </a:prstGeom>
          <a:noFill/>
          <a:ln/>
        </p:spPr>
        <p:txBody>
          <a:bodyPr wrap="square" lIns="0" tIns="0" rIns="0" bIns="0" rtlCol="0" anchor="ctr"/>
          <a:lstStyle/>
          <a:p>
            <a:pPr marL="0" indent="0">
              <a:buNone/>
            </a:pPr>
            <a:r>
              <a:rPr lang="en-US" sz="950" b="1" dirty="0">
                <a:solidFill>
                  <a:srgbClr val="8A8175"/>
                </a:solidFill>
                <a:latin typeface="Trebuchet MS" pitchFamily="34" charset="0"/>
                <a:ea typeface="Trebuchet MS" pitchFamily="34" charset="-122"/>
                <a:cs typeface="Trebuchet MS" pitchFamily="34" charset="-120"/>
              </a:rPr>
              <a:t>Capacity</a:t>
            </a:r>
            <a:endParaRPr lang="en-US" sz="950" dirty="0"/>
          </a:p>
        </p:txBody>
      </p:sp>
      <p:sp>
        <p:nvSpPr>
          <p:cNvPr id="13" name="Text 11"/>
          <p:cNvSpPr/>
          <p:nvPr/>
        </p:nvSpPr>
        <p:spPr>
          <a:xfrm>
            <a:off x="2232990" y="2029968"/>
            <a:ext cx="2110409" cy="219456"/>
          </a:xfrm>
          <a:prstGeom prst="rect">
            <a:avLst/>
          </a:prstGeom>
          <a:noFill/>
          <a:ln/>
        </p:spPr>
        <p:txBody>
          <a:bodyPr wrap="square" lIns="0" tIns="0" rIns="0" bIns="0" rtlCol="0" anchor="ctr"/>
          <a:lstStyle/>
          <a:p>
            <a:pPr marL="0" indent="0">
              <a:buNone/>
            </a:pPr>
            <a:r>
              <a:rPr lang="en-US" sz="950" b="1" dirty="0" smtClean="0">
                <a:solidFill>
                  <a:srgbClr val="2B2926"/>
                </a:solidFill>
                <a:latin typeface="Trebuchet MS" pitchFamily="34" charset="0"/>
                <a:ea typeface="Trebuchet MS" pitchFamily="34" charset="-122"/>
                <a:cs typeface="Trebuchet MS" pitchFamily="34" charset="-120"/>
              </a:rPr>
              <a:t>2.06 </a:t>
            </a:r>
            <a:r>
              <a:rPr lang="en-US" sz="950" b="1" dirty="0">
                <a:solidFill>
                  <a:srgbClr val="2B2926"/>
                </a:solidFill>
                <a:latin typeface="Trebuchet MS" pitchFamily="34" charset="0"/>
                <a:ea typeface="Trebuchet MS" pitchFamily="34" charset="-122"/>
                <a:cs typeface="Trebuchet MS" pitchFamily="34" charset="-120"/>
              </a:rPr>
              <a:t>MWp</a:t>
            </a:r>
            <a:endParaRPr lang="en-US" sz="950" dirty="0"/>
          </a:p>
        </p:txBody>
      </p:sp>
      <p:sp>
        <p:nvSpPr>
          <p:cNvPr id="14" name="Text 12"/>
          <p:cNvSpPr/>
          <p:nvPr/>
        </p:nvSpPr>
        <p:spPr>
          <a:xfrm>
            <a:off x="1417320" y="2295144"/>
            <a:ext cx="731520" cy="219456"/>
          </a:xfrm>
          <a:prstGeom prst="rect">
            <a:avLst/>
          </a:prstGeom>
          <a:noFill/>
          <a:ln/>
        </p:spPr>
        <p:txBody>
          <a:bodyPr wrap="square" lIns="0" tIns="0" rIns="0" bIns="0" rtlCol="0" anchor="ctr"/>
          <a:lstStyle/>
          <a:p>
            <a:pPr marL="0" indent="0">
              <a:buNone/>
            </a:pPr>
            <a:r>
              <a:rPr lang="en-US" sz="950" b="1" dirty="0">
                <a:solidFill>
                  <a:srgbClr val="8A8175"/>
                </a:solidFill>
                <a:latin typeface="Trebuchet MS" pitchFamily="34" charset="0"/>
                <a:ea typeface="Trebuchet MS" pitchFamily="34" charset="-122"/>
                <a:cs typeface="Trebuchet MS" pitchFamily="34" charset="-120"/>
              </a:rPr>
              <a:t>Location</a:t>
            </a:r>
            <a:endParaRPr lang="en-US" sz="950" dirty="0"/>
          </a:p>
        </p:txBody>
      </p:sp>
      <p:sp>
        <p:nvSpPr>
          <p:cNvPr id="15" name="Text 13"/>
          <p:cNvSpPr/>
          <p:nvPr/>
        </p:nvSpPr>
        <p:spPr>
          <a:xfrm>
            <a:off x="2194560" y="2295144"/>
            <a:ext cx="2148840" cy="219456"/>
          </a:xfrm>
          <a:prstGeom prst="rect">
            <a:avLst/>
          </a:prstGeom>
          <a:noFill/>
          <a:ln/>
        </p:spPr>
        <p:txBody>
          <a:bodyPr wrap="square" lIns="0" tIns="0" rIns="0" bIns="0" rtlCol="0" anchor="ctr"/>
          <a:lstStyle/>
          <a:p>
            <a:pPr marL="0" indent="0">
              <a:buNone/>
            </a:pPr>
            <a:r>
              <a:rPr lang="en-US" sz="950" dirty="0">
                <a:solidFill>
                  <a:srgbClr val="45413B"/>
                </a:solidFill>
                <a:latin typeface="Trebuchet MS" pitchFamily="34" charset="0"/>
                <a:ea typeface="Trebuchet MS" pitchFamily="34" charset="-122"/>
                <a:cs typeface="Trebuchet MS" pitchFamily="34" charset="-120"/>
              </a:rPr>
              <a:t>Jeddah, Saudi Arabia</a:t>
            </a:r>
            <a:endParaRPr lang="en-US" sz="950" dirty="0"/>
          </a:p>
        </p:txBody>
      </p:sp>
      <p:sp>
        <p:nvSpPr>
          <p:cNvPr id="16" name="Text 14"/>
          <p:cNvSpPr/>
          <p:nvPr/>
        </p:nvSpPr>
        <p:spPr>
          <a:xfrm>
            <a:off x="1417320" y="2560320"/>
            <a:ext cx="731520" cy="219456"/>
          </a:xfrm>
          <a:prstGeom prst="rect">
            <a:avLst/>
          </a:prstGeom>
          <a:noFill/>
          <a:ln/>
        </p:spPr>
        <p:txBody>
          <a:bodyPr wrap="square" lIns="0" tIns="0" rIns="0" bIns="0" rtlCol="0" anchor="ctr"/>
          <a:lstStyle/>
          <a:p>
            <a:pPr marL="0" indent="0">
              <a:buNone/>
            </a:pPr>
            <a:r>
              <a:rPr lang="en-US" sz="950" b="1" dirty="0">
                <a:solidFill>
                  <a:srgbClr val="8A8175"/>
                </a:solidFill>
                <a:latin typeface="Trebuchet MS" pitchFamily="34" charset="0"/>
                <a:ea typeface="Trebuchet MS" pitchFamily="34" charset="-122"/>
                <a:cs typeface="Trebuchet MS" pitchFamily="34" charset="-120"/>
              </a:rPr>
              <a:t>Scope</a:t>
            </a:r>
            <a:endParaRPr lang="en-US" sz="950" dirty="0"/>
          </a:p>
        </p:txBody>
      </p:sp>
      <p:sp>
        <p:nvSpPr>
          <p:cNvPr id="17" name="Text 15"/>
          <p:cNvSpPr/>
          <p:nvPr/>
        </p:nvSpPr>
        <p:spPr>
          <a:xfrm>
            <a:off x="2194560" y="2560320"/>
            <a:ext cx="2148840" cy="219456"/>
          </a:xfrm>
          <a:prstGeom prst="rect">
            <a:avLst/>
          </a:prstGeom>
          <a:noFill/>
          <a:ln/>
        </p:spPr>
        <p:txBody>
          <a:bodyPr wrap="square" lIns="0" tIns="0" rIns="0" bIns="0" rtlCol="0" anchor="ctr"/>
          <a:lstStyle/>
          <a:p>
            <a:pPr marL="0" indent="0">
              <a:buNone/>
            </a:pPr>
            <a:r>
              <a:rPr lang="en-US" sz="950" dirty="0">
                <a:solidFill>
                  <a:srgbClr val="45413B"/>
                </a:solidFill>
                <a:latin typeface="Trebuchet MS" pitchFamily="34" charset="0"/>
                <a:ea typeface="Trebuchet MS" pitchFamily="34" charset="-122"/>
                <a:cs typeface="Trebuchet MS" pitchFamily="34" charset="-120"/>
              </a:rPr>
              <a:t>Rooftop solar PV · Turnkey EPC</a:t>
            </a:r>
            <a:endParaRPr lang="en-US" sz="950" dirty="0"/>
          </a:p>
        </p:txBody>
      </p:sp>
      <p:sp>
        <p:nvSpPr>
          <p:cNvPr id="18" name="Project card">
            <a:extLst>
              <a:ext uri="{C183D7F6-B498-43B3-948B-1728B52AA6E4}">
                <adec:decorative xmlns="" xmlns:adec="http://schemas.microsoft.com/office/drawing/2017/decorative" val="1"/>
              </a:ext>
            </a:extLst>
          </p:cNvPr>
          <p:cNvSpPr/>
          <p:nvPr/>
        </p:nvSpPr>
        <p:spPr>
          <a:xfrm>
            <a:off x="4754880" y="1298448"/>
            <a:ext cx="3931920" cy="1664208"/>
          </a:xfrm>
          <a:prstGeom prst="rect">
            <a:avLst/>
          </a:prstGeom>
          <a:solidFill>
            <a:srgbClr val="FFFFFF"/>
          </a:solidFill>
          <a:ln/>
          <a:effectLst>
            <a:outerShdw blurRad="127000" dist="25400" dir="5400000" algn="bl" rotWithShape="0">
              <a:srgbClr val="000000">
                <a:alpha val="10000"/>
              </a:srgbClr>
            </a:outerShdw>
          </a:effectLst>
        </p:spPr>
      </p:sp>
      <p:sp>
        <p:nvSpPr>
          <p:cNvPr id="19" name="Card edge accent">
            <a:extLst>
              <a:ext uri="{C183D7F6-B498-43B3-948B-1728B52AA6E4}">
                <adec:decorative xmlns="" xmlns:adec="http://schemas.microsoft.com/office/drawing/2017/decorative" val="1"/>
              </a:ext>
            </a:extLst>
          </p:cNvPr>
          <p:cNvSpPr/>
          <p:nvPr/>
        </p:nvSpPr>
        <p:spPr>
          <a:xfrm>
            <a:off x="4754880" y="1298448"/>
            <a:ext cx="64008" cy="1664208"/>
          </a:xfrm>
          <a:prstGeom prst="rect">
            <a:avLst/>
          </a:prstGeom>
          <a:solidFill>
            <a:srgbClr val="B4632B"/>
          </a:solidFill>
          <a:ln/>
        </p:spPr>
      </p:sp>
      <p:sp>
        <p:nvSpPr>
          <p:cNvPr id="20" name="Text 18"/>
          <p:cNvSpPr/>
          <p:nvPr/>
        </p:nvSpPr>
        <p:spPr>
          <a:xfrm>
            <a:off x="5010912" y="1444752"/>
            <a:ext cx="566928" cy="365760"/>
          </a:xfrm>
          <a:prstGeom prst="rect">
            <a:avLst/>
          </a:prstGeom>
          <a:noFill/>
          <a:ln/>
        </p:spPr>
        <p:txBody>
          <a:bodyPr wrap="square" lIns="0" tIns="0" rIns="0" bIns="0" rtlCol="0" anchor="ctr"/>
          <a:lstStyle/>
          <a:p>
            <a:pPr marL="0" indent="0">
              <a:buNone/>
            </a:pPr>
            <a:r>
              <a:rPr lang="en-US" sz="1900" b="1" dirty="0">
                <a:solidFill>
                  <a:srgbClr val="B4632B"/>
                </a:solidFill>
                <a:latin typeface="Georgia" pitchFamily="34" charset="0"/>
                <a:ea typeface="Georgia" pitchFamily="34" charset="-122"/>
                <a:cs typeface="Georgia" pitchFamily="34" charset="-120"/>
              </a:rPr>
              <a:t>02</a:t>
            </a:r>
            <a:endParaRPr lang="en-US" sz="1900" dirty="0"/>
          </a:p>
        </p:txBody>
      </p:sp>
      <p:sp>
        <p:nvSpPr>
          <p:cNvPr id="21" name="Text 19"/>
          <p:cNvSpPr/>
          <p:nvPr/>
        </p:nvSpPr>
        <p:spPr>
          <a:xfrm>
            <a:off x="5623560" y="1463040"/>
            <a:ext cx="2880360" cy="384048"/>
          </a:xfrm>
          <a:prstGeom prst="rect">
            <a:avLst/>
          </a:prstGeom>
          <a:noFill/>
          <a:ln/>
        </p:spPr>
        <p:txBody>
          <a:bodyPr wrap="square" lIns="0" tIns="0" rIns="0" bIns="0" rtlCol="0" anchor="ctr"/>
          <a:lstStyle/>
          <a:p>
            <a:pPr marL="0" indent="0">
              <a:buNone/>
            </a:pPr>
            <a:r>
              <a:rPr lang="en-US" sz="1400" b="1" dirty="0">
                <a:solidFill>
                  <a:srgbClr val="2B2926"/>
                </a:solidFill>
                <a:latin typeface="Georgia" pitchFamily="34" charset="0"/>
                <a:ea typeface="Georgia" pitchFamily="34" charset="-122"/>
                <a:cs typeface="Georgia" pitchFamily="34" charset="-120"/>
              </a:rPr>
              <a:t>Amazon Riyadh Solar PV</a:t>
            </a:r>
            <a:endParaRPr lang="en-US" sz="1400" dirty="0"/>
          </a:p>
        </p:txBody>
      </p:sp>
      <p:sp>
        <p:nvSpPr>
          <p:cNvPr id="22" name="Card divider">
            <a:extLst>
              <a:ext uri="{C183D7F6-B498-43B3-948B-1728B52AA6E4}">
                <adec:decorative xmlns="" xmlns:adec="http://schemas.microsoft.com/office/drawing/2017/decorative" val="1"/>
              </a:ext>
            </a:extLst>
          </p:cNvPr>
          <p:cNvSpPr/>
          <p:nvPr/>
        </p:nvSpPr>
        <p:spPr>
          <a:xfrm>
            <a:off x="5623560" y="1920240"/>
            <a:ext cx="2880360" cy="13716"/>
          </a:xfrm>
          <a:prstGeom prst="rect">
            <a:avLst/>
          </a:prstGeom>
          <a:solidFill>
            <a:srgbClr val="E2D6C3"/>
          </a:solidFill>
          <a:ln/>
        </p:spPr>
      </p:sp>
      <p:sp>
        <p:nvSpPr>
          <p:cNvPr id="23" name="Text 21"/>
          <p:cNvSpPr/>
          <p:nvPr/>
        </p:nvSpPr>
        <p:spPr>
          <a:xfrm>
            <a:off x="5623560" y="2029968"/>
            <a:ext cx="731520" cy="219456"/>
          </a:xfrm>
          <a:prstGeom prst="rect">
            <a:avLst/>
          </a:prstGeom>
          <a:noFill/>
          <a:ln/>
        </p:spPr>
        <p:txBody>
          <a:bodyPr wrap="square" lIns="0" tIns="0" rIns="0" bIns="0" rtlCol="0" anchor="ctr"/>
          <a:lstStyle/>
          <a:p>
            <a:pPr marL="0" indent="0">
              <a:buNone/>
            </a:pPr>
            <a:r>
              <a:rPr lang="en-US" sz="950" b="1" dirty="0">
                <a:solidFill>
                  <a:srgbClr val="8A8175"/>
                </a:solidFill>
                <a:latin typeface="Trebuchet MS" pitchFamily="34" charset="0"/>
                <a:ea typeface="Trebuchet MS" pitchFamily="34" charset="-122"/>
                <a:cs typeface="Trebuchet MS" pitchFamily="34" charset="-120"/>
              </a:rPr>
              <a:t>Capacity</a:t>
            </a:r>
            <a:endParaRPr lang="en-US" sz="950" dirty="0"/>
          </a:p>
        </p:txBody>
      </p:sp>
      <p:sp>
        <p:nvSpPr>
          <p:cNvPr id="24" name="Text 22"/>
          <p:cNvSpPr/>
          <p:nvPr/>
        </p:nvSpPr>
        <p:spPr>
          <a:xfrm>
            <a:off x="6400800" y="2029968"/>
            <a:ext cx="2148840" cy="219456"/>
          </a:xfrm>
          <a:prstGeom prst="rect">
            <a:avLst/>
          </a:prstGeom>
          <a:noFill/>
          <a:ln/>
        </p:spPr>
        <p:txBody>
          <a:bodyPr wrap="square" lIns="0" tIns="0" rIns="0" bIns="0" rtlCol="0" anchor="ctr"/>
          <a:lstStyle/>
          <a:p>
            <a:pPr marL="0" indent="0">
              <a:buNone/>
            </a:pPr>
            <a:r>
              <a:rPr lang="en-US" sz="950" b="1" dirty="0">
                <a:solidFill>
                  <a:srgbClr val="2B2926"/>
                </a:solidFill>
                <a:latin typeface="Trebuchet MS" pitchFamily="34" charset="0"/>
                <a:ea typeface="Trebuchet MS" pitchFamily="34" charset="-122"/>
                <a:cs typeface="Trebuchet MS" pitchFamily="34" charset="-120"/>
              </a:rPr>
              <a:t>2.6 MWp</a:t>
            </a:r>
            <a:endParaRPr lang="en-US" sz="950" dirty="0"/>
          </a:p>
        </p:txBody>
      </p:sp>
      <p:sp>
        <p:nvSpPr>
          <p:cNvPr id="25" name="Text 23"/>
          <p:cNvSpPr/>
          <p:nvPr/>
        </p:nvSpPr>
        <p:spPr>
          <a:xfrm>
            <a:off x="5623560" y="2295144"/>
            <a:ext cx="731520" cy="219456"/>
          </a:xfrm>
          <a:prstGeom prst="rect">
            <a:avLst/>
          </a:prstGeom>
          <a:noFill/>
          <a:ln/>
        </p:spPr>
        <p:txBody>
          <a:bodyPr wrap="square" lIns="0" tIns="0" rIns="0" bIns="0" rtlCol="0" anchor="ctr"/>
          <a:lstStyle/>
          <a:p>
            <a:pPr marL="0" indent="0">
              <a:buNone/>
            </a:pPr>
            <a:r>
              <a:rPr lang="en-US" sz="950" b="1" dirty="0">
                <a:solidFill>
                  <a:srgbClr val="8A8175"/>
                </a:solidFill>
                <a:latin typeface="Trebuchet MS" pitchFamily="34" charset="0"/>
                <a:ea typeface="Trebuchet MS" pitchFamily="34" charset="-122"/>
                <a:cs typeface="Trebuchet MS" pitchFamily="34" charset="-120"/>
              </a:rPr>
              <a:t>Location</a:t>
            </a:r>
            <a:endParaRPr lang="en-US" sz="950" dirty="0"/>
          </a:p>
        </p:txBody>
      </p:sp>
      <p:sp>
        <p:nvSpPr>
          <p:cNvPr id="26" name="Text 24"/>
          <p:cNvSpPr/>
          <p:nvPr/>
        </p:nvSpPr>
        <p:spPr>
          <a:xfrm>
            <a:off x="6400800" y="2295144"/>
            <a:ext cx="2148840" cy="219456"/>
          </a:xfrm>
          <a:prstGeom prst="rect">
            <a:avLst/>
          </a:prstGeom>
          <a:noFill/>
          <a:ln/>
        </p:spPr>
        <p:txBody>
          <a:bodyPr wrap="square" lIns="0" tIns="0" rIns="0" bIns="0" rtlCol="0" anchor="ctr"/>
          <a:lstStyle/>
          <a:p>
            <a:pPr marL="0" indent="0">
              <a:buNone/>
            </a:pPr>
            <a:r>
              <a:rPr lang="en-US" sz="950" dirty="0">
                <a:solidFill>
                  <a:srgbClr val="45413B"/>
                </a:solidFill>
                <a:latin typeface="Trebuchet MS" pitchFamily="34" charset="0"/>
                <a:ea typeface="Trebuchet MS" pitchFamily="34" charset="-122"/>
                <a:cs typeface="Trebuchet MS" pitchFamily="34" charset="-120"/>
              </a:rPr>
              <a:t>Riyadh, Saudi Arabia</a:t>
            </a:r>
            <a:endParaRPr lang="en-US" sz="950" dirty="0"/>
          </a:p>
        </p:txBody>
      </p:sp>
      <p:sp>
        <p:nvSpPr>
          <p:cNvPr id="27" name="Text 25"/>
          <p:cNvSpPr/>
          <p:nvPr/>
        </p:nvSpPr>
        <p:spPr>
          <a:xfrm>
            <a:off x="5623560" y="2560320"/>
            <a:ext cx="731520" cy="219456"/>
          </a:xfrm>
          <a:prstGeom prst="rect">
            <a:avLst/>
          </a:prstGeom>
          <a:noFill/>
          <a:ln/>
        </p:spPr>
        <p:txBody>
          <a:bodyPr wrap="square" lIns="0" tIns="0" rIns="0" bIns="0" rtlCol="0" anchor="ctr"/>
          <a:lstStyle/>
          <a:p>
            <a:pPr marL="0" indent="0">
              <a:buNone/>
            </a:pPr>
            <a:r>
              <a:rPr lang="en-US" sz="950" b="1" dirty="0">
                <a:solidFill>
                  <a:srgbClr val="8A8175"/>
                </a:solidFill>
                <a:latin typeface="Trebuchet MS" pitchFamily="34" charset="0"/>
                <a:ea typeface="Trebuchet MS" pitchFamily="34" charset="-122"/>
                <a:cs typeface="Trebuchet MS" pitchFamily="34" charset="-120"/>
              </a:rPr>
              <a:t>Scope</a:t>
            </a:r>
            <a:endParaRPr lang="en-US" sz="950" dirty="0"/>
          </a:p>
        </p:txBody>
      </p:sp>
      <p:sp>
        <p:nvSpPr>
          <p:cNvPr id="28" name="Text 26"/>
          <p:cNvSpPr/>
          <p:nvPr/>
        </p:nvSpPr>
        <p:spPr>
          <a:xfrm>
            <a:off x="6400800" y="2560320"/>
            <a:ext cx="2148840" cy="219456"/>
          </a:xfrm>
          <a:prstGeom prst="rect">
            <a:avLst/>
          </a:prstGeom>
          <a:noFill/>
          <a:ln/>
        </p:spPr>
        <p:txBody>
          <a:bodyPr wrap="square" lIns="0" tIns="0" rIns="0" bIns="0" rtlCol="0" anchor="ctr"/>
          <a:lstStyle/>
          <a:p>
            <a:pPr marL="0" indent="0">
              <a:buNone/>
            </a:pPr>
            <a:r>
              <a:rPr lang="en-US" sz="950" dirty="0">
                <a:solidFill>
                  <a:srgbClr val="45413B"/>
                </a:solidFill>
                <a:latin typeface="Trebuchet MS" pitchFamily="34" charset="0"/>
                <a:ea typeface="Trebuchet MS" pitchFamily="34" charset="-122"/>
                <a:cs typeface="Trebuchet MS" pitchFamily="34" charset="-120"/>
              </a:rPr>
              <a:t>Rooftop solar PV · Turnkey EPC</a:t>
            </a:r>
            <a:endParaRPr lang="en-US" sz="950" dirty="0"/>
          </a:p>
        </p:txBody>
      </p:sp>
      <p:sp>
        <p:nvSpPr>
          <p:cNvPr id="29" name="Project card">
            <a:extLst>
              <a:ext uri="{C183D7F6-B498-43B3-948B-1728B52AA6E4}">
                <adec:decorative xmlns="" xmlns:adec="http://schemas.microsoft.com/office/drawing/2017/decorative" val="1"/>
              </a:ext>
            </a:extLst>
          </p:cNvPr>
          <p:cNvSpPr/>
          <p:nvPr/>
        </p:nvSpPr>
        <p:spPr>
          <a:xfrm>
            <a:off x="548640" y="3145536"/>
            <a:ext cx="3931920" cy="1664208"/>
          </a:xfrm>
          <a:prstGeom prst="rect">
            <a:avLst/>
          </a:prstGeom>
          <a:solidFill>
            <a:schemeClr val="bg1"/>
          </a:solidFill>
          <a:ln w="12700">
            <a:solidFill>
              <a:srgbClr val="E2D6C3"/>
            </a:solidFill>
            <a:prstDash val="solid"/>
          </a:ln>
        </p:spPr>
      </p:sp>
      <p:sp>
        <p:nvSpPr>
          <p:cNvPr id="30" name="Card edge accent">
            <a:extLst>
              <a:ext uri="{C183D7F6-B498-43B3-948B-1728B52AA6E4}">
                <adec:decorative xmlns="" xmlns:adec="http://schemas.microsoft.com/office/drawing/2017/decorative" val="1"/>
              </a:ext>
            </a:extLst>
          </p:cNvPr>
          <p:cNvSpPr/>
          <p:nvPr/>
        </p:nvSpPr>
        <p:spPr>
          <a:xfrm>
            <a:off x="548640" y="3145536"/>
            <a:ext cx="64008" cy="1664208"/>
          </a:xfrm>
          <a:prstGeom prst="rect">
            <a:avLst/>
          </a:prstGeom>
          <a:solidFill>
            <a:schemeClr val="accent2">
              <a:lumMod val="75000"/>
            </a:schemeClr>
          </a:solidFill>
          <a:ln/>
        </p:spPr>
      </p:sp>
      <p:sp>
        <p:nvSpPr>
          <p:cNvPr id="31" name="Text 29"/>
          <p:cNvSpPr/>
          <p:nvPr/>
        </p:nvSpPr>
        <p:spPr>
          <a:xfrm>
            <a:off x="804672" y="3291840"/>
            <a:ext cx="566928" cy="365760"/>
          </a:xfrm>
          <a:prstGeom prst="rect">
            <a:avLst/>
          </a:prstGeom>
          <a:noFill/>
          <a:ln/>
        </p:spPr>
        <p:txBody>
          <a:bodyPr wrap="square" lIns="0" tIns="0" rIns="0" bIns="0" rtlCol="0" anchor="ctr"/>
          <a:lstStyle/>
          <a:p>
            <a:pPr marL="0" indent="0">
              <a:buNone/>
            </a:pPr>
            <a:r>
              <a:rPr lang="en-US" sz="1900" b="1" dirty="0" smtClean="0">
                <a:solidFill>
                  <a:schemeClr val="accent2">
                    <a:lumMod val="75000"/>
                  </a:schemeClr>
                </a:solidFill>
                <a:latin typeface="Georgia" pitchFamily="34" charset="0"/>
                <a:ea typeface="Georgia" pitchFamily="34" charset="-122"/>
                <a:cs typeface="Georgia" pitchFamily="34" charset="-120"/>
              </a:rPr>
              <a:t>03</a:t>
            </a:r>
            <a:endParaRPr lang="en-US" sz="1900" dirty="0">
              <a:solidFill>
                <a:schemeClr val="accent2">
                  <a:lumMod val="75000"/>
                </a:schemeClr>
              </a:solidFill>
            </a:endParaRPr>
          </a:p>
        </p:txBody>
      </p:sp>
      <p:sp>
        <p:nvSpPr>
          <p:cNvPr id="32" name="Text 30"/>
          <p:cNvSpPr/>
          <p:nvPr/>
        </p:nvSpPr>
        <p:spPr>
          <a:xfrm>
            <a:off x="1417320" y="3310128"/>
            <a:ext cx="2880360" cy="365760"/>
          </a:xfrm>
          <a:prstGeom prst="rect">
            <a:avLst/>
          </a:prstGeom>
          <a:noFill/>
          <a:ln/>
        </p:spPr>
        <p:txBody>
          <a:bodyPr wrap="square" lIns="0" tIns="0" rIns="0" bIns="0" rtlCol="0" anchor="ctr"/>
          <a:lstStyle/>
          <a:p>
            <a:pPr marL="0" indent="0">
              <a:buNone/>
            </a:pPr>
            <a:r>
              <a:rPr lang="en-US" sz="1350" b="1" dirty="0" smtClean="0">
                <a:latin typeface="Georgia" pitchFamily="34" charset="0"/>
              </a:rPr>
              <a:t>Golden Chicken Solar PV</a:t>
            </a:r>
            <a:endParaRPr lang="en-US" sz="1350" dirty="0"/>
          </a:p>
        </p:txBody>
      </p:sp>
      <p:sp>
        <p:nvSpPr>
          <p:cNvPr id="33" name="Card divider">
            <a:extLst>
              <a:ext uri="{C183D7F6-B498-43B3-948B-1728B52AA6E4}">
                <adec:decorative xmlns="" xmlns:adec="http://schemas.microsoft.com/office/drawing/2017/decorative" val="1"/>
              </a:ext>
            </a:extLst>
          </p:cNvPr>
          <p:cNvSpPr/>
          <p:nvPr/>
        </p:nvSpPr>
        <p:spPr>
          <a:xfrm>
            <a:off x="1417320" y="3767328"/>
            <a:ext cx="2880360" cy="13716"/>
          </a:xfrm>
          <a:prstGeom prst="rect">
            <a:avLst/>
          </a:prstGeom>
          <a:solidFill>
            <a:srgbClr val="D5C9B5"/>
          </a:solidFill>
          <a:ln/>
        </p:spPr>
      </p:sp>
      <p:sp>
        <p:nvSpPr>
          <p:cNvPr id="34" name="Text 32"/>
          <p:cNvSpPr/>
          <p:nvPr/>
        </p:nvSpPr>
        <p:spPr>
          <a:xfrm>
            <a:off x="1417320" y="3877056"/>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36" name="Text 34"/>
          <p:cNvSpPr/>
          <p:nvPr/>
        </p:nvSpPr>
        <p:spPr>
          <a:xfrm>
            <a:off x="1417320" y="4142232"/>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38" name="Text 36"/>
          <p:cNvSpPr/>
          <p:nvPr/>
        </p:nvSpPr>
        <p:spPr>
          <a:xfrm>
            <a:off x="1417320" y="4407408"/>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40" name="Project card">
            <a:extLst>
              <a:ext uri="{C183D7F6-B498-43B3-948B-1728B52AA6E4}">
                <adec:decorative xmlns="" xmlns:adec="http://schemas.microsoft.com/office/drawing/2017/decorative" val="1"/>
              </a:ext>
            </a:extLst>
          </p:cNvPr>
          <p:cNvSpPr/>
          <p:nvPr/>
        </p:nvSpPr>
        <p:spPr>
          <a:xfrm>
            <a:off x="4754880" y="3145536"/>
            <a:ext cx="3931920" cy="1664208"/>
          </a:xfrm>
          <a:prstGeom prst="rect">
            <a:avLst/>
          </a:prstGeom>
          <a:solidFill>
            <a:srgbClr val="E9E0D2"/>
          </a:solidFill>
          <a:ln w="12700">
            <a:solidFill>
              <a:srgbClr val="E2D6C3"/>
            </a:solidFill>
            <a:prstDash val="solid"/>
          </a:ln>
        </p:spPr>
        <p:txBody>
          <a:bodyPr/>
          <a:lstStyle/>
          <a:p>
            <a:endParaRPr lang="en-US" dirty="0"/>
          </a:p>
        </p:txBody>
      </p:sp>
      <p:sp>
        <p:nvSpPr>
          <p:cNvPr id="41" name="Card edge accent">
            <a:extLst>
              <a:ext uri="{C183D7F6-B498-43B3-948B-1728B52AA6E4}">
                <adec:decorative xmlns="" xmlns:adec="http://schemas.microsoft.com/office/drawing/2017/decorative" val="1"/>
              </a:ext>
            </a:extLst>
          </p:cNvPr>
          <p:cNvSpPr/>
          <p:nvPr/>
        </p:nvSpPr>
        <p:spPr>
          <a:xfrm>
            <a:off x="4754880" y="3145536"/>
            <a:ext cx="64008" cy="1664208"/>
          </a:xfrm>
          <a:prstGeom prst="rect">
            <a:avLst/>
          </a:prstGeom>
          <a:solidFill>
            <a:srgbClr val="CFC2AE"/>
          </a:solidFill>
          <a:ln/>
        </p:spPr>
      </p:sp>
      <p:sp>
        <p:nvSpPr>
          <p:cNvPr id="42" name="Text 40"/>
          <p:cNvSpPr/>
          <p:nvPr/>
        </p:nvSpPr>
        <p:spPr>
          <a:xfrm>
            <a:off x="5010912" y="3291840"/>
            <a:ext cx="566928" cy="365760"/>
          </a:xfrm>
          <a:prstGeom prst="rect">
            <a:avLst/>
          </a:prstGeom>
          <a:noFill/>
          <a:ln/>
        </p:spPr>
        <p:txBody>
          <a:bodyPr wrap="square" lIns="0" tIns="0" rIns="0" bIns="0" rtlCol="0" anchor="ctr"/>
          <a:lstStyle/>
          <a:p>
            <a:pPr marL="0" indent="0">
              <a:buNone/>
            </a:pPr>
            <a:r>
              <a:rPr lang="en-US" sz="1900" b="1" dirty="0">
                <a:solidFill>
                  <a:srgbClr val="BBAF9B"/>
                </a:solidFill>
                <a:latin typeface="Georgia" pitchFamily="34" charset="0"/>
                <a:ea typeface="Georgia" pitchFamily="34" charset="-122"/>
                <a:cs typeface="Georgia" pitchFamily="34" charset="-120"/>
              </a:rPr>
              <a:t>04</a:t>
            </a:r>
            <a:endParaRPr lang="en-US" sz="1900" dirty="0"/>
          </a:p>
        </p:txBody>
      </p:sp>
      <p:sp>
        <p:nvSpPr>
          <p:cNvPr id="43" name="Text 41"/>
          <p:cNvSpPr/>
          <p:nvPr/>
        </p:nvSpPr>
        <p:spPr>
          <a:xfrm>
            <a:off x="5623560" y="3310128"/>
            <a:ext cx="2880360" cy="365760"/>
          </a:xfrm>
          <a:prstGeom prst="rect">
            <a:avLst/>
          </a:prstGeom>
          <a:noFill/>
          <a:ln/>
        </p:spPr>
        <p:txBody>
          <a:bodyPr wrap="square" lIns="0" tIns="0" rIns="0" bIns="0" rtlCol="0" anchor="ctr"/>
          <a:lstStyle/>
          <a:p>
            <a:pPr marL="0" indent="0">
              <a:buNone/>
            </a:pPr>
            <a:r>
              <a:rPr lang="en-US" sz="1350" b="1" dirty="0">
                <a:solidFill>
                  <a:srgbClr val="B3A791"/>
                </a:solidFill>
                <a:latin typeface="Georgia" pitchFamily="34" charset="0"/>
                <a:ea typeface="Georgia" pitchFamily="34" charset="-122"/>
                <a:cs typeface="Georgia" pitchFamily="34" charset="-120"/>
              </a:rPr>
              <a:t>Project name</a:t>
            </a:r>
            <a:endParaRPr lang="en-US" sz="1350" dirty="0"/>
          </a:p>
        </p:txBody>
      </p:sp>
      <p:sp>
        <p:nvSpPr>
          <p:cNvPr id="44" name="Card divider">
            <a:extLst>
              <a:ext uri="{C183D7F6-B498-43B3-948B-1728B52AA6E4}">
                <adec:decorative xmlns="" xmlns:adec="http://schemas.microsoft.com/office/drawing/2017/decorative" val="1"/>
              </a:ext>
            </a:extLst>
          </p:cNvPr>
          <p:cNvSpPr/>
          <p:nvPr/>
        </p:nvSpPr>
        <p:spPr>
          <a:xfrm>
            <a:off x="5623560" y="3767328"/>
            <a:ext cx="2880360" cy="13716"/>
          </a:xfrm>
          <a:prstGeom prst="rect">
            <a:avLst/>
          </a:prstGeom>
          <a:solidFill>
            <a:srgbClr val="D5C9B5"/>
          </a:solidFill>
          <a:ln/>
        </p:spPr>
      </p:sp>
      <p:sp>
        <p:nvSpPr>
          <p:cNvPr id="45" name="Text 43"/>
          <p:cNvSpPr/>
          <p:nvPr/>
        </p:nvSpPr>
        <p:spPr>
          <a:xfrm>
            <a:off x="5623560" y="3877056"/>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46" name="Fill-in rule">
            <a:extLst>
              <a:ext uri="{C183D7F6-B498-43B3-948B-1728B52AA6E4}">
                <adec:decorative xmlns="" xmlns:adec="http://schemas.microsoft.com/office/drawing/2017/decorative" val="1"/>
              </a:ext>
            </a:extLst>
          </p:cNvPr>
          <p:cNvSpPr/>
          <p:nvPr/>
        </p:nvSpPr>
        <p:spPr>
          <a:xfrm>
            <a:off x="6400800" y="4050792"/>
            <a:ext cx="2103120" cy="10973"/>
          </a:xfrm>
          <a:prstGeom prst="rect">
            <a:avLst/>
          </a:prstGeom>
          <a:solidFill>
            <a:srgbClr val="CFC2AE"/>
          </a:solidFill>
          <a:ln/>
        </p:spPr>
      </p:sp>
      <p:sp>
        <p:nvSpPr>
          <p:cNvPr id="47" name="Text 45"/>
          <p:cNvSpPr/>
          <p:nvPr/>
        </p:nvSpPr>
        <p:spPr>
          <a:xfrm>
            <a:off x="5623560" y="4142232"/>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48" name="Fill-in rule">
            <a:extLst>
              <a:ext uri="{C183D7F6-B498-43B3-948B-1728B52AA6E4}">
                <adec:decorative xmlns="" xmlns:adec="http://schemas.microsoft.com/office/drawing/2017/decorative" val="1"/>
              </a:ext>
            </a:extLst>
          </p:cNvPr>
          <p:cNvSpPr/>
          <p:nvPr/>
        </p:nvSpPr>
        <p:spPr>
          <a:xfrm>
            <a:off x="6400800" y="4315968"/>
            <a:ext cx="2103120" cy="10973"/>
          </a:xfrm>
          <a:prstGeom prst="rect">
            <a:avLst/>
          </a:prstGeom>
          <a:solidFill>
            <a:srgbClr val="CFC2AE"/>
          </a:solidFill>
          <a:ln/>
        </p:spPr>
      </p:sp>
      <p:sp>
        <p:nvSpPr>
          <p:cNvPr id="49" name="Text 47"/>
          <p:cNvSpPr/>
          <p:nvPr/>
        </p:nvSpPr>
        <p:spPr>
          <a:xfrm>
            <a:off x="5623560" y="4407408"/>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50" name="Fill-in rule">
            <a:extLst>
              <a:ext uri="{C183D7F6-B498-43B3-948B-1728B52AA6E4}">
                <adec:decorative xmlns="" xmlns:adec="http://schemas.microsoft.com/office/drawing/2017/decorative" val="1"/>
              </a:ext>
            </a:extLst>
          </p:cNvPr>
          <p:cNvSpPr/>
          <p:nvPr/>
        </p:nvSpPr>
        <p:spPr>
          <a:xfrm>
            <a:off x="6400800" y="4581144"/>
            <a:ext cx="2103120" cy="10973"/>
          </a:xfrm>
          <a:prstGeom prst="rect">
            <a:avLst/>
          </a:prstGeom>
          <a:solidFill>
            <a:srgbClr val="CFC2AE"/>
          </a:solidFill>
          <a:ln/>
        </p:spPr>
      </p:sp>
      <p:sp>
        <p:nvSpPr>
          <p:cNvPr id="52" name="TextBox 51"/>
          <p:cNvSpPr txBox="1"/>
          <p:nvPr/>
        </p:nvSpPr>
        <p:spPr>
          <a:xfrm>
            <a:off x="2194560" y="3858768"/>
            <a:ext cx="1630019" cy="238527"/>
          </a:xfrm>
          <a:prstGeom prst="rect">
            <a:avLst/>
          </a:prstGeom>
          <a:noFill/>
        </p:spPr>
        <p:txBody>
          <a:bodyPr wrap="square" rtlCol="0">
            <a:spAutoFit/>
          </a:bodyPr>
          <a:lstStyle/>
          <a:p>
            <a:pPr lvl="0"/>
            <a:r>
              <a:rPr lang="en-US" sz="950" b="1" dirty="0">
                <a:solidFill>
                  <a:srgbClr val="2B2926"/>
                </a:solidFill>
                <a:latin typeface="Trebuchet MS" pitchFamily="34" charset="0"/>
                <a:ea typeface="Trebuchet MS" pitchFamily="34" charset="-122"/>
                <a:cs typeface="Trebuchet MS" pitchFamily="34" charset="-120"/>
              </a:rPr>
              <a:t>5</a:t>
            </a:r>
            <a:r>
              <a:rPr lang="en-US" sz="950" b="1" dirty="0" smtClean="0">
                <a:solidFill>
                  <a:srgbClr val="2B2926"/>
                </a:solidFill>
                <a:latin typeface="Trebuchet MS" pitchFamily="34" charset="0"/>
                <a:ea typeface="Trebuchet MS" pitchFamily="34" charset="-122"/>
                <a:cs typeface="Trebuchet MS" pitchFamily="34" charset="-120"/>
              </a:rPr>
              <a:t>.0 </a:t>
            </a:r>
            <a:r>
              <a:rPr lang="en-US" sz="950" b="1" dirty="0">
                <a:solidFill>
                  <a:srgbClr val="2B2926"/>
                </a:solidFill>
                <a:latin typeface="Trebuchet MS" pitchFamily="34" charset="0"/>
                <a:ea typeface="Trebuchet MS" pitchFamily="34" charset="-122"/>
                <a:cs typeface="Trebuchet MS" pitchFamily="34" charset="-120"/>
              </a:rPr>
              <a:t>MWp</a:t>
            </a:r>
            <a:endParaRPr lang="en-US" sz="950" dirty="0">
              <a:solidFill>
                <a:prstClr val="black"/>
              </a:solidFill>
            </a:endParaRPr>
          </a:p>
        </p:txBody>
      </p:sp>
      <p:sp>
        <p:nvSpPr>
          <p:cNvPr id="53" name="TextBox 52"/>
          <p:cNvSpPr txBox="1"/>
          <p:nvPr/>
        </p:nvSpPr>
        <p:spPr>
          <a:xfrm>
            <a:off x="2191781" y="4117595"/>
            <a:ext cx="2019629" cy="238527"/>
          </a:xfrm>
          <a:prstGeom prst="rect">
            <a:avLst/>
          </a:prstGeom>
          <a:noFill/>
        </p:spPr>
        <p:txBody>
          <a:bodyPr wrap="square" rtlCol="0">
            <a:spAutoFit/>
          </a:bodyPr>
          <a:lstStyle/>
          <a:p>
            <a:pPr lvl="0"/>
            <a:r>
              <a:rPr lang="en-US" sz="950" dirty="0">
                <a:solidFill>
                  <a:srgbClr val="45413B"/>
                </a:solidFill>
                <a:latin typeface="Trebuchet MS" pitchFamily="34" charset="0"/>
                <a:ea typeface="Trebuchet MS" pitchFamily="34" charset="-122"/>
                <a:cs typeface="Trebuchet MS" pitchFamily="34" charset="-120"/>
              </a:rPr>
              <a:t>Jeddah, Saudi Arabia</a:t>
            </a:r>
            <a:endParaRPr lang="en-US" sz="950" dirty="0">
              <a:solidFill>
                <a:prstClr val="black"/>
              </a:solidFill>
            </a:endParaRPr>
          </a:p>
        </p:txBody>
      </p:sp>
      <p:sp>
        <p:nvSpPr>
          <p:cNvPr id="54" name="TextBox 53"/>
          <p:cNvSpPr txBox="1"/>
          <p:nvPr/>
        </p:nvSpPr>
        <p:spPr>
          <a:xfrm>
            <a:off x="2166931" y="4353590"/>
            <a:ext cx="2312835" cy="238527"/>
          </a:xfrm>
          <a:prstGeom prst="rect">
            <a:avLst/>
          </a:prstGeom>
          <a:noFill/>
        </p:spPr>
        <p:txBody>
          <a:bodyPr wrap="square" rtlCol="0">
            <a:spAutoFit/>
          </a:bodyPr>
          <a:lstStyle/>
          <a:p>
            <a:pPr lvl="0"/>
            <a:r>
              <a:rPr lang="en-US" sz="950" dirty="0" smtClean="0">
                <a:solidFill>
                  <a:srgbClr val="45413B"/>
                </a:solidFill>
                <a:latin typeface="Trebuchet MS" pitchFamily="34" charset="0"/>
                <a:ea typeface="Trebuchet MS" pitchFamily="34" charset="-122"/>
                <a:cs typeface="Trebuchet MS" pitchFamily="34" charset="-120"/>
              </a:rPr>
              <a:t>Ground Mount Tracking </a:t>
            </a:r>
            <a:r>
              <a:rPr lang="en-US" sz="950" dirty="0">
                <a:solidFill>
                  <a:srgbClr val="45413B"/>
                </a:solidFill>
                <a:latin typeface="Trebuchet MS" pitchFamily="34" charset="0"/>
                <a:ea typeface="Trebuchet MS" pitchFamily="34" charset="-122"/>
                <a:cs typeface="Trebuchet MS" pitchFamily="34" charset="-120"/>
              </a:rPr>
              <a:t>· Turnkey EPC</a:t>
            </a:r>
            <a:endParaRPr lang="en-US" sz="950" dirty="0">
              <a:solidFill>
                <a:prstClr val="black"/>
              </a:solidFill>
            </a:endParaRPr>
          </a:p>
        </p:txBody>
      </p:sp>
      <p:sp>
        <p:nvSpPr>
          <p:cNvPr id="55" name="Project card">
            <a:extLst>
              <a:ext uri="{C183D7F6-B498-43B3-948B-1728B52AA6E4}">
                <adec:decorative xmlns="" xmlns:adec="http://schemas.microsoft.com/office/drawing/2017/decorative" val="1"/>
              </a:ext>
            </a:extLst>
          </p:cNvPr>
          <p:cNvSpPr/>
          <p:nvPr/>
        </p:nvSpPr>
        <p:spPr>
          <a:xfrm>
            <a:off x="4748917" y="3154680"/>
            <a:ext cx="3931920" cy="1664208"/>
          </a:xfrm>
          <a:prstGeom prst="rect">
            <a:avLst/>
          </a:prstGeom>
          <a:solidFill>
            <a:schemeClr val="bg1"/>
          </a:solidFill>
          <a:ln w="12700">
            <a:solidFill>
              <a:srgbClr val="E2D6C3"/>
            </a:solidFill>
            <a:prstDash val="solid"/>
          </a:ln>
        </p:spPr>
      </p:sp>
      <p:sp>
        <p:nvSpPr>
          <p:cNvPr id="56" name="Card edge accent">
            <a:extLst>
              <a:ext uri="{C183D7F6-B498-43B3-948B-1728B52AA6E4}">
                <adec:decorative xmlns="" xmlns:adec="http://schemas.microsoft.com/office/drawing/2017/decorative" val="1"/>
              </a:ext>
            </a:extLst>
          </p:cNvPr>
          <p:cNvSpPr/>
          <p:nvPr/>
        </p:nvSpPr>
        <p:spPr>
          <a:xfrm>
            <a:off x="4748917" y="3154680"/>
            <a:ext cx="64008" cy="1664208"/>
          </a:xfrm>
          <a:prstGeom prst="rect">
            <a:avLst/>
          </a:prstGeom>
          <a:solidFill>
            <a:schemeClr val="accent2">
              <a:lumMod val="75000"/>
            </a:schemeClr>
          </a:solidFill>
          <a:ln/>
        </p:spPr>
      </p:sp>
      <p:sp>
        <p:nvSpPr>
          <p:cNvPr id="57" name="Text 29"/>
          <p:cNvSpPr/>
          <p:nvPr/>
        </p:nvSpPr>
        <p:spPr>
          <a:xfrm>
            <a:off x="5004949" y="3300984"/>
            <a:ext cx="566928" cy="365760"/>
          </a:xfrm>
          <a:prstGeom prst="rect">
            <a:avLst/>
          </a:prstGeom>
          <a:noFill/>
          <a:ln/>
        </p:spPr>
        <p:txBody>
          <a:bodyPr wrap="square" lIns="0" tIns="0" rIns="0" bIns="0" rtlCol="0" anchor="ctr"/>
          <a:lstStyle/>
          <a:p>
            <a:pPr marL="0" indent="0">
              <a:buNone/>
            </a:pPr>
            <a:r>
              <a:rPr lang="en-US" sz="1900" b="1" dirty="0" smtClean="0">
                <a:solidFill>
                  <a:schemeClr val="accent2">
                    <a:lumMod val="75000"/>
                  </a:schemeClr>
                </a:solidFill>
                <a:latin typeface="Georgia" pitchFamily="34" charset="0"/>
                <a:ea typeface="Georgia" pitchFamily="34" charset="-122"/>
                <a:cs typeface="Georgia" pitchFamily="34" charset="-120"/>
              </a:rPr>
              <a:t>04</a:t>
            </a:r>
            <a:endParaRPr lang="en-US" sz="1900" dirty="0">
              <a:solidFill>
                <a:schemeClr val="accent2">
                  <a:lumMod val="75000"/>
                </a:schemeClr>
              </a:solidFill>
            </a:endParaRPr>
          </a:p>
        </p:txBody>
      </p:sp>
      <p:sp>
        <p:nvSpPr>
          <p:cNvPr id="58" name="Text 30"/>
          <p:cNvSpPr/>
          <p:nvPr/>
        </p:nvSpPr>
        <p:spPr>
          <a:xfrm>
            <a:off x="5617597" y="3319272"/>
            <a:ext cx="3168594" cy="365760"/>
          </a:xfrm>
          <a:prstGeom prst="rect">
            <a:avLst/>
          </a:prstGeom>
          <a:noFill/>
          <a:ln/>
        </p:spPr>
        <p:txBody>
          <a:bodyPr wrap="square" lIns="0" tIns="0" rIns="0" bIns="0" rtlCol="0" anchor="ctr"/>
          <a:lstStyle/>
          <a:p>
            <a:pPr marL="0" indent="0">
              <a:buNone/>
            </a:pPr>
            <a:r>
              <a:rPr lang="en-US" sz="1350" b="1" dirty="0" smtClean="0">
                <a:latin typeface="Georgia" pitchFamily="34" charset="0"/>
              </a:rPr>
              <a:t>Al </a:t>
            </a:r>
            <a:r>
              <a:rPr lang="en-US" sz="1350" b="1" dirty="0" err="1" smtClean="0">
                <a:latin typeface="Georgia" pitchFamily="34" charset="0"/>
              </a:rPr>
              <a:t>Jomaih</a:t>
            </a:r>
            <a:r>
              <a:rPr lang="en-US" sz="1350" b="1" dirty="0" smtClean="0">
                <a:latin typeface="Georgia" pitchFamily="34" charset="0"/>
              </a:rPr>
              <a:t> Shell Lubricant Factory</a:t>
            </a:r>
            <a:endParaRPr lang="en-US" sz="1350" dirty="0"/>
          </a:p>
        </p:txBody>
      </p:sp>
      <p:sp>
        <p:nvSpPr>
          <p:cNvPr id="59" name="Card divider">
            <a:extLst>
              <a:ext uri="{C183D7F6-B498-43B3-948B-1728B52AA6E4}">
                <adec:decorative xmlns="" xmlns:adec="http://schemas.microsoft.com/office/drawing/2017/decorative" val="1"/>
              </a:ext>
            </a:extLst>
          </p:cNvPr>
          <p:cNvSpPr/>
          <p:nvPr/>
        </p:nvSpPr>
        <p:spPr>
          <a:xfrm>
            <a:off x="5617597" y="3776472"/>
            <a:ext cx="2880360" cy="13716"/>
          </a:xfrm>
          <a:prstGeom prst="rect">
            <a:avLst/>
          </a:prstGeom>
          <a:solidFill>
            <a:srgbClr val="D5C9B5"/>
          </a:solidFill>
          <a:ln/>
        </p:spPr>
      </p:sp>
      <p:sp>
        <p:nvSpPr>
          <p:cNvPr id="60" name="Text 32"/>
          <p:cNvSpPr/>
          <p:nvPr/>
        </p:nvSpPr>
        <p:spPr>
          <a:xfrm>
            <a:off x="5617597" y="3886200"/>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61" name="Text 34"/>
          <p:cNvSpPr/>
          <p:nvPr/>
        </p:nvSpPr>
        <p:spPr>
          <a:xfrm>
            <a:off x="5617597" y="4151376"/>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62" name="Text 36"/>
          <p:cNvSpPr/>
          <p:nvPr/>
        </p:nvSpPr>
        <p:spPr>
          <a:xfrm>
            <a:off x="5617597" y="4416552"/>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63" name="TextBox 62"/>
          <p:cNvSpPr txBox="1"/>
          <p:nvPr/>
        </p:nvSpPr>
        <p:spPr>
          <a:xfrm>
            <a:off x="6394837" y="3867912"/>
            <a:ext cx="1630019" cy="238527"/>
          </a:xfrm>
          <a:prstGeom prst="rect">
            <a:avLst/>
          </a:prstGeom>
          <a:noFill/>
        </p:spPr>
        <p:txBody>
          <a:bodyPr wrap="square" rtlCol="0">
            <a:spAutoFit/>
          </a:bodyPr>
          <a:lstStyle/>
          <a:p>
            <a:pPr lvl="0"/>
            <a:r>
              <a:rPr lang="en-US" sz="950" b="1" dirty="0" smtClean="0">
                <a:solidFill>
                  <a:srgbClr val="2B2926"/>
                </a:solidFill>
                <a:latin typeface="Trebuchet MS" pitchFamily="34" charset="0"/>
                <a:ea typeface="Trebuchet MS" pitchFamily="34" charset="-122"/>
                <a:cs typeface="Trebuchet MS" pitchFamily="34" charset="-120"/>
              </a:rPr>
              <a:t>500 KW</a:t>
            </a:r>
            <a:endParaRPr lang="en-US" sz="950" dirty="0">
              <a:solidFill>
                <a:prstClr val="black"/>
              </a:solidFill>
            </a:endParaRPr>
          </a:p>
        </p:txBody>
      </p:sp>
      <p:sp>
        <p:nvSpPr>
          <p:cNvPr id="64" name="TextBox 63"/>
          <p:cNvSpPr txBox="1"/>
          <p:nvPr/>
        </p:nvSpPr>
        <p:spPr>
          <a:xfrm>
            <a:off x="6392058" y="4126739"/>
            <a:ext cx="2019629" cy="238527"/>
          </a:xfrm>
          <a:prstGeom prst="rect">
            <a:avLst/>
          </a:prstGeom>
          <a:noFill/>
        </p:spPr>
        <p:txBody>
          <a:bodyPr wrap="square" rtlCol="0">
            <a:spAutoFit/>
          </a:bodyPr>
          <a:lstStyle/>
          <a:p>
            <a:pPr lvl="0"/>
            <a:r>
              <a:rPr lang="en-US" sz="950" dirty="0" smtClean="0">
                <a:solidFill>
                  <a:srgbClr val="45413B"/>
                </a:solidFill>
                <a:latin typeface="Trebuchet MS" pitchFamily="34" charset="0"/>
                <a:ea typeface="Trebuchet MS" pitchFamily="34" charset="-122"/>
                <a:cs typeface="Trebuchet MS" pitchFamily="34" charset="-120"/>
              </a:rPr>
              <a:t> </a:t>
            </a:r>
            <a:r>
              <a:rPr lang="en-US" sz="950" dirty="0">
                <a:solidFill>
                  <a:srgbClr val="45413B"/>
                </a:solidFill>
                <a:latin typeface="Trebuchet MS" pitchFamily="34" charset="0"/>
                <a:ea typeface="Trebuchet MS" pitchFamily="34" charset="-122"/>
                <a:cs typeface="Trebuchet MS" pitchFamily="34" charset="-120"/>
              </a:rPr>
              <a:t>Saudi Arabia</a:t>
            </a:r>
            <a:endParaRPr lang="en-US" sz="950" dirty="0">
              <a:solidFill>
                <a:prstClr val="black"/>
              </a:solidFill>
            </a:endParaRPr>
          </a:p>
        </p:txBody>
      </p:sp>
      <p:sp>
        <p:nvSpPr>
          <p:cNvPr id="65" name="TextBox 64"/>
          <p:cNvSpPr txBox="1"/>
          <p:nvPr/>
        </p:nvSpPr>
        <p:spPr>
          <a:xfrm>
            <a:off x="6367209" y="4362734"/>
            <a:ext cx="2069326" cy="238527"/>
          </a:xfrm>
          <a:prstGeom prst="rect">
            <a:avLst/>
          </a:prstGeom>
          <a:noFill/>
        </p:spPr>
        <p:txBody>
          <a:bodyPr wrap="square" rtlCol="0">
            <a:spAutoFit/>
          </a:bodyPr>
          <a:lstStyle/>
          <a:p>
            <a:pPr lvl="0"/>
            <a:r>
              <a:rPr lang="en-US" sz="950">
                <a:solidFill>
                  <a:srgbClr val="45413B"/>
                </a:solidFill>
                <a:latin typeface="Trebuchet MS" pitchFamily="34" charset="0"/>
                <a:ea typeface="Trebuchet MS" pitchFamily="34" charset="-122"/>
                <a:cs typeface="Trebuchet MS" pitchFamily="34" charset="-120"/>
              </a:rPr>
              <a:t>Rooftop solar PV · Turnkey EPC</a:t>
            </a:r>
            <a:endParaRPr lang="en-US" sz="950"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COMPLETED PROJECT PORTFOLIO</a:t>
            </a:r>
            <a:endParaRPr lang="en-US" sz="1000" dirty="0"/>
          </a:p>
        </p:txBody>
      </p:sp>
      <p:sp>
        <p:nvSpPr>
          <p:cNvPr id="4" name="Text 2"/>
          <p:cNvSpPr/>
          <p:nvPr/>
        </p:nvSpPr>
        <p:spPr>
          <a:xfrm>
            <a:off x="548640" y="658368"/>
            <a:ext cx="4572000" cy="457200"/>
          </a:xfrm>
          <a:prstGeom prst="rect">
            <a:avLst/>
          </a:prstGeom>
          <a:noFill/>
          <a:ln/>
        </p:spPr>
        <p:txBody>
          <a:bodyPr wrap="square" lIns="0" tIns="0" rIns="0" bIns="0" rtlCol="0" anchor="ctr"/>
          <a:lstStyle/>
          <a:p>
            <a:pPr marL="0" indent="0">
              <a:buNone/>
            </a:pPr>
            <a:r>
              <a:rPr lang="en-US" sz="2300" b="1" dirty="0">
                <a:solidFill>
                  <a:srgbClr val="2B2926"/>
                </a:solidFill>
                <a:latin typeface="Georgia" pitchFamily="34" charset="0"/>
                <a:ea typeface="Georgia" pitchFamily="34" charset="-122"/>
                <a:cs typeface="Georgia" pitchFamily="34" charset="-120"/>
              </a:rPr>
              <a:t>Projects 05 – 08</a:t>
            </a:r>
            <a:endParaRPr lang="en-US" sz="2300" dirty="0"/>
          </a:p>
        </p:txBody>
      </p:sp>
      <p:sp>
        <p:nvSpPr>
          <p:cNvPr id="5" name="Text 3"/>
          <p:cNvSpPr/>
          <p:nvPr/>
        </p:nvSpPr>
        <p:spPr>
          <a:xfrm>
            <a:off x="5120640" y="786384"/>
            <a:ext cx="347472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Completed installations</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Project card">
            <a:extLst>
              <a:ext uri="{C183D7F6-B498-43B3-948B-1728B52AA6E4}">
                <adec:decorative xmlns="" xmlns:adec="http://schemas.microsoft.com/office/drawing/2017/decorative" val="1"/>
              </a:ext>
            </a:extLst>
          </p:cNvPr>
          <p:cNvSpPr/>
          <p:nvPr/>
        </p:nvSpPr>
        <p:spPr>
          <a:xfrm>
            <a:off x="548640" y="1298448"/>
            <a:ext cx="3931920" cy="1664208"/>
          </a:xfrm>
          <a:prstGeom prst="rect">
            <a:avLst/>
          </a:prstGeom>
          <a:solidFill>
            <a:srgbClr val="E9E0D2"/>
          </a:solidFill>
          <a:ln w="12700">
            <a:solidFill>
              <a:srgbClr val="E2D6C3"/>
            </a:solidFill>
            <a:prstDash val="solid"/>
          </a:ln>
        </p:spPr>
      </p:sp>
      <p:sp>
        <p:nvSpPr>
          <p:cNvPr id="8" name="Card edge accent">
            <a:extLst>
              <a:ext uri="{C183D7F6-B498-43B3-948B-1728B52AA6E4}">
                <adec:decorative xmlns="" xmlns:adec="http://schemas.microsoft.com/office/drawing/2017/decorative" val="1"/>
              </a:ext>
            </a:extLst>
          </p:cNvPr>
          <p:cNvSpPr/>
          <p:nvPr/>
        </p:nvSpPr>
        <p:spPr>
          <a:xfrm>
            <a:off x="548640" y="1298448"/>
            <a:ext cx="64008" cy="1664208"/>
          </a:xfrm>
          <a:prstGeom prst="rect">
            <a:avLst/>
          </a:prstGeom>
          <a:solidFill>
            <a:srgbClr val="CFC2AE"/>
          </a:solidFill>
          <a:ln/>
        </p:spPr>
      </p:sp>
      <p:sp>
        <p:nvSpPr>
          <p:cNvPr id="9" name="Text 7"/>
          <p:cNvSpPr/>
          <p:nvPr/>
        </p:nvSpPr>
        <p:spPr>
          <a:xfrm>
            <a:off x="804672" y="1444752"/>
            <a:ext cx="566928" cy="365760"/>
          </a:xfrm>
          <a:prstGeom prst="rect">
            <a:avLst/>
          </a:prstGeom>
          <a:noFill/>
          <a:ln/>
        </p:spPr>
        <p:txBody>
          <a:bodyPr wrap="square" lIns="0" tIns="0" rIns="0" bIns="0" rtlCol="0" anchor="ctr"/>
          <a:lstStyle/>
          <a:p>
            <a:pPr marL="0" indent="0">
              <a:buNone/>
            </a:pPr>
            <a:r>
              <a:rPr lang="en-US" sz="1900" b="1" dirty="0">
                <a:solidFill>
                  <a:srgbClr val="BBAF9B"/>
                </a:solidFill>
                <a:latin typeface="Georgia" pitchFamily="34" charset="0"/>
                <a:ea typeface="Georgia" pitchFamily="34" charset="-122"/>
                <a:cs typeface="Georgia" pitchFamily="34" charset="-120"/>
              </a:rPr>
              <a:t>05</a:t>
            </a:r>
            <a:endParaRPr lang="en-US" sz="1900" dirty="0"/>
          </a:p>
        </p:txBody>
      </p:sp>
      <p:sp>
        <p:nvSpPr>
          <p:cNvPr id="10" name="Text 8"/>
          <p:cNvSpPr/>
          <p:nvPr/>
        </p:nvSpPr>
        <p:spPr>
          <a:xfrm>
            <a:off x="1417320" y="1463040"/>
            <a:ext cx="2880360" cy="365760"/>
          </a:xfrm>
          <a:prstGeom prst="rect">
            <a:avLst/>
          </a:prstGeom>
          <a:noFill/>
          <a:ln/>
        </p:spPr>
        <p:txBody>
          <a:bodyPr wrap="square" lIns="0" tIns="0" rIns="0" bIns="0" rtlCol="0" anchor="ctr"/>
          <a:lstStyle/>
          <a:p>
            <a:pPr marL="0" indent="0">
              <a:buNone/>
            </a:pPr>
            <a:r>
              <a:rPr lang="en-US" sz="1350" b="1" dirty="0">
                <a:solidFill>
                  <a:srgbClr val="B3A791"/>
                </a:solidFill>
                <a:latin typeface="Georgia" pitchFamily="34" charset="0"/>
                <a:ea typeface="Georgia" pitchFamily="34" charset="-122"/>
                <a:cs typeface="Georgia" pitchFamily="34" charset="-120"/>
              </a:rPr>
              <a:t>Project name</a:t>
            </a:r>
            <a:endParaRPr lang="en-US" sz="1350" dirty="0"/>
          </a:p>
        </p:txBody>
      </p:sp>
      <p:sp>
        <p:nvSpPr>
          <p:cNvPr id="11" name="Card divider">
            <a:extLst>
              <a:ext uri="{C183D7F6-B498-43B3-948B-1728B52AA6E4}">
                <adec:decorative xmlns="" xmlns:adec="http://schemas.microsoft.com/office/drawing/2017/decorative" val="1"/>
              </a:ext>
            </a:extLst>
          </p:cNvPr>
          <p:cNvSpPr/>
          <p:nvPr/>
        </p:nvSpPr>
        <p:spPr>
          <a:xfrm>
            <a:off x="1417320" y="1920240"/>
            <a:ext cx="2880360" cy="13716"/>
          </a:xfrm>
          <a:prstGeom prst="rect">
            <a:avLst/>
          </a:prstGeom>
          <a:solidFill>
            <a:srgbClr val="D5C9B5"/>
          </a:solidFill>
          <a:ln/>
        </p:spPr>
      </p:sp>
      <p:sp>
        <p:nvSpPr>
          <p:cNvPr id="12" name="Text 10"/>
          <p:cNvSpPr/>
          <p:nvPr/>
        </p:nvSpPr>
        <p:spPr>
          <a:xfrm>
            <a:off x="1417320" y="2029968"/>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13" name="Fill-in rule">
            <a:extLst>
              <a:ext uri="{C183D7F6-B498-43B3-948B-1728B52AA6E4}">
                <adec:decorative xmlns="" xmlns:adec="http://schemas.microsoft.com/office/drawing/2017/decorative" val="1"/>
              </a:ext>
            </a:extLst>
          </p:cNvPr>
          <p:cNvSpPr/>
          <p:nvPr/>
        </p:nvSpPr>
        <p:spPr>
          <a:xfrm>
            <a:off x="2194560" y="2203704"/>
            <a:ext cx="2103120" cy="10973"/>
          </a:xfrm>
          <a:prstGeom prst="rect">
            <a:avLst/>
          </a:prstGeom>
          <a:solidFill>
            <a:srgbClr val="CFC2AE"/>
          </a:solidFill>
          <a:ln/>
        </p:spPr>
      </p:sp>
      <p:sp>
        <p:nvSpPr>
          <p:cNvPr id="14" name="Text 12"/>
          <p:cNvSpPr/>
          <p:nvPr/>
        </p:nvSpPr>
        <p:spPr>
          <a:xfrm>
            <a:off x="1417320" y="2295144"/>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15" name="Fill-in rule">
            <a:extLst>
              <a:ext uri="{C183D7F6-B498-43B3-948B-1728B52AA6E4}">
                <adec:decorative xmlns="" xmlns:adec="http://schemas.microsoft.com/office/drawing/2017/decorative" val="1"/>
              </a:ext>
            </a:extLst>
          </p:cNvPr>
          <p:cNvSpPr/>
          <p:nvPr/>
        </p:nvSpPr>
        <p:spPr>
          <a:xfrm>
            <a:off x="2194560" y="2468880"/>
            <a:ext cx="2103120" cy="10973"/>
          </a:xfrm>
          <a:prstGeom prst="rect">
            <a:avLst/>
          </a:prstGeom>
          <a:solidFill>
            <a:srgbClr val="CFC2AE"/>
          </a:solidFill>
          <a:ln/>
        </p:spPr>
      </p:sp>
      <p:sp>
        <p:nvSpPr>
          <p:cNvPr id="16" name="Text 14"/>
          <p:cNvSpPr/>
          <p:nvPr/>
        </p:nvSpPr>
        <p:spPr>
          <a:xfrm>
            <a:off x="1417320" y="2560320"/>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17" name="Fill-in rule">
            <a:extLst>
              <a:ext uri="{C183D7F6-B498-43B3-948B-1728B52AA6E4}">
                <adec:decorative xmlns="" xmlns:adec="http://schemas.microsoft.com/office/drawing/2017/decorative" val="1"/>
              </a:ext>
            </a:extLst>
          </p:cNvPr>
          <p:cNvSpPr/>
          <p:nvPr/>
        </p:nvSpPr>
        <p:spPr>
          <a:xfrm>
            <a:off x="2194560" y="2734056"/>
            <a:ext cx="2103120" cy="10973"/>
          </a:xfrm>
          <a:prstGeom prst="rect">
            <a:avLst/>
          </a:prstGeom>
          <a:solidFill>
            <a:srgbClr val="CFC2AE"/>
          </a:solidFill>
          <a:ln/>
        </p:spPr>
      </p:sp>
      <p:sp>
        <p:nvSpPr>
          <p:cNvPr id="18" name="Project card">
            <a:extLst>
              <a:ext uri="{C183D7F6-B498-43B3-948B-1728B52AA6E4}">
                <adec:decorative xmlns="" xmlns:adec="http://schemas.microsoft.com/office/drawing/2017/decorative" val="1"/>
              </a:ext>
            </a:extLst>
          </p:cNvPr>
          <p:cNvSpPr/>
          <p:nvPr/>
        </p:nvSpPr>
        <p:spPr>
          <a:xfrm>
            <a:off x="4754880" y="1298448"/>
            <a:ext cx="3931920" cy="1664208"/>
          </a:xfrm>
          <a:prstGeom prst="rect">
            <a:avLst/>
          </a:prstGeom>
          <a:solidFill>
            <a:srgbClr val="E9E0D2"/>
          </a:solidFill>
          <a:ln w="12700">
            <a:solidFill>
              <a:srgbClr val="E2D6C3"/>
            </a:solidFill>
            <a:prstDash val="solid"/>
          </a:ln>
        </p:spPr>
      </p:sp>
      <p:sp>
        <p:nvSpPr>
          <p:cNvPr id="19" name="Card edge accent">
            <a:extLst>
              <a:ext uri="{C183D7F6-B498-43B3-948B-1728B52AA6E4}">
                <adec:decorative xmlns="" xmlns:adec="http://schemas.microsoft.com/office/drawing/2017/decorative" val="1"/>
              </a:ext>
            </a:extLst>
          </p:cNvPr>
          <p:cNvSpPr/>
          <p:nvPr/>
        </p:nvSpPr>
        <p:spPr>
          <a:xfrm>
            <a:off x="4754880" y="1298448"/>
            <a:ext cx="64008" cy="1664208"/>
          </a:xfrm>
          <a:prstGeom prst="rect">
            <a:avLst/>
          </a:prstGeom>
          <a:solidFill>
            <a:srgbClr val="CFC2AE"/>
          </a:solidFill>
          <a:ln/>
        </p:spPr>
      </p:sp>
      <p:sp>
        <p:nvSpPr>
          <p:cNvPr id="20" name="Text 18"/>
          <p:cNvSpPr/>
          <p:nvPr/>
        </p:nvSpPr>
        <p:spPr>
          <a:xfrm>
            <a:off x="5010912" y="1444752"/>
            <a:ext cx="566928" cy="365760"/>
          </a:xfrm>
          <a:prstGeom prst="rect">
            <a:avLst/>
          </a:prstGeom>
          <a:noFill/>
          <a:ln/>
        </p:spPr>
        <p:txBody>
          <a:bodyPr wrap="square" lIns="0" tIns="0" rIns="0" bIns="0" rtlCol="0" anchor="ctr"/>
          <a:lstStyle/>
          <a:p>
            <a:pPr marL="0" indent="0">
              <a:buNone/>
            </a:pPr>
            <a:r>
              <a:rPr lang="en-US" sz="1900" b="1" dirty="0">
                <a:solidFill>
                  <a:srgbClr val="BBAF9B"/>
                </a:solidFill>
                <a:latin typeface="Georgia" pitchFamily="34" charset="0"/>
                <a:ea typeface="Georgia" pitchFamily="34" charset="-122"/>
                <a:cs typeface="Georgia" pitchFamily="34" charset="-120"/>
              </a:rPr>
              <a:t>06</a:t>
            </a:r>
            <a:endParaRPr lang="en-US" sz="1900" dirty="0"/>
          </a:p>
        </p:txBody>
      </p:sp>
      <p:sp>
        <p:nvSpPr>
          <p:cNvPr id="21" name="Text 19"/>
          <p:cNvSpPr/>
          <p:nvPr/>
        </p:nvSpPr>
        <p:spPr>
          <a:xfrm>
            <a:off x="5623560" y="1463040"/>
            <a:ext cx="2880360" cy="365760"/>
          </a:xfrm>
          <a:prstGeom prst="rect">
            <a:avLst/>
          </a:prstGeom>
          <a:noFill/>
          <a:ln/>
        </p:spPr>
        <p:txBody>
          <a:bodyPr wrap="square" lIns="0" tIns="0" rIns="0" bIns="0" rtlCol="0" anchor="ctr"/>
          <a:lstStyle/>
          <a:p>
            <a:pPr marL="0" indent="0">
              <a:buNone/>
            </a:pPr>
            <a:r>
              <a:rPr lang="en-US" sz="1350" b="1" dirty="0">
                <a:solidFill>
                  <a:srgbClr val="B3A791"/>
                </a:solidFill>
                <a:latin typeface="Georgia" pitchFamily="34" charset="0"/>
                <a:ea typeface="Georgia" pitchFamily="34" charset="-122"/>
                <a:cs typeface="Georgia" pitchFamily="34" charset="-120"/>
              </a:rPr>
              <a:t>Project name</a:t>
            </a:r>
            <a:endParaRPr lang="en-US" sz="1350" dirty="0"/>
          </a:p>
        </p:txBody>
      </p:sp>
      <p:sp>
        <p:nvSpPr>
          <p:cNvPr id="22" name="Card divider">
            <a:extLst>
              <a:ext uri="{C183D7F6-B498-43B3-948B-1728B52AA6E4}">
                <adec:decorative xmlns="" xmlns:adec="http://schemas.microsoft.com/office/drawing/2017/decorative" val="1"/>
              </a:ext>
            </a:extLst>
          </p:cNvPr>
          <p:cNvSpPr/>
          <p:nvPr/>
        </p:nvSpPr>
        <p:spPr>
          <a:xfrm>
            <a:off x="5623560" y="1920240"/>
            <a:ext cx="2880360" cy="13716"/>
          </a:xfrm>
          <a:prstGeom prst="rect">
            <a:avLst/>
          </a:prstGeom>
          <a:solidFill>
            <a:srgbClr val="D5C9B5"/>
          </a:solidFill>
          <a:ln/>
        </p:spPr>
      </p:sp>
      <p:sp>
        <p:nvSpPr>
          <p:cNvPr id="23" name="Text 21"/>
          <p:cNvSpPr/>
          <p:nvPr/>
        </p:nvSpPr>
        <p:spPr>
          <a:xfrm>
            <a:off x="5623560" y="2029968"/>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24" name="Fill-in rule">
            <a:extLst>
              <a:ext uri="{C183D7F6-B498-43B3-948B-1728B52AA6E4}">
                <adec:decorative xmlns="" xmlns:adec="http://schemas.microsoft.com/office/drawing/2017/decorative" val="1"/>
              </a:ext>
            </a:extLst>
          </p:cNvPr>
          <p:cNvSpPr/>
          <p:nvPr/>
        </p:nvSpPr>
        <p:spPr>
          <a:xfrm>
            <a:off x="6400800" y="2203704"/>
            <a:ext cx="2103120" cy="10973"/>
          </a:xfrm>
          <a:prstGeom prst="rect">
            <a:avLst/>
          </a:prstGeom>
          <a:solidFill>
            <a:srgbClr val="CFC2AE"/>
          </a:solidFill>
          <a:ln/>
        </p:spPr>
      </p:sp>
      <p:sp>
        <p:nvSpPr>
          <p:cNvPr id="25" name="Text 23"/>
          <p:cNvSpPr/>
          <p:nvPr/>
        </p:nvSpPr>
        <p:spPr>
          <a:xfrm>
            <a:off x="5623560" y="2295144"/>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26" name="Fill-in rule">
            <a:extLst>
              <a:ext uri="{C183D7F6-B498-43B3-948B-1728B52AA6E4}">
                <adec:decorative xmlns="" xmlns:adec="http://schemas.microsoft.com/office/drawing/2017/decorative" val="1"/>
              </a:ext>
            </a:extLst>
          </p:cNvPr>
          <p:cNvSpPr/>
          <p:nvPr/>
        </p:nvSpPr>
        <p:spPr>
          <a:xfrm>
            <a:off x="6400800" y="2468880"/>
            <a:ext cx="2103120" cy="10973"/>
          </a:xfrm>
          <a:prstGeom prst="rect">
            <a:avLst/>
          </a:prstGeom>
          <a:solidFill>
            <a:srgbClr val="CFC2AE"/>
          </a:solidFill>
          <a:ln/>
        </p:spPr>
      </p:sp>
      <p:sp>
        <p:nvSpPr>
          <p:cNvPr id="27" name="Text 25"/>
          <p:cNvSpPr/>
          <p:nvPr/>
        </p:nvSpPr>
        <p:spPr>
          <a:xfrm>
            <a:off x="5623560" y="2560320"/>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28" name="Fill-in rule">
            <a:extLst>
              <a:ext uri="{C183D7F6-B498-43B3-948B-1728B52AA6E4}">
                <adec:decorative xmlns="" xmlns:adec="http://schemas.microsoft.com/office/drawing/2017/decorative" val="1"/>
              </a:ext>
            </a:extLst>
          </p:cNvPr>
          <p:cNvSpPr/>
          <p:nvPr/>
        </p:nvSpPr>
        <p:spPr>
          <a:xfrm>
            <a:off x="6400800" y="2734056"/>
            <a:ext cx="2103120" cy="10973"/>
          </a:xfrm>
          <a:prstGeom prst="rect">
            <a:avLst/>
          </a:prstGeom>
          <a:solidFill>
            <a:srgbClr val="CFC2AE"/>
          </a:solidFill>
          <a:ln/>
        </p:spPr>
      </p:sp>
      <p:sp>
        <p:nvSpPr>
          <p:cNvPr id="29" name="Project card">
            <a:extLst>
              <a:ext uri="{C183D7F6-B498-43B3-948B-1728B52AA6E4}">
                <adec:decorative xmlns="" xmlns:adec="http://schemas.microsoft.com/office/drawing/2017/decorative" val="1"/>
              </a:ext>
            </a:extLst>
          </p:cNvPr>
          <p:cNvSpPr/>
          <p:nvPr/>
        </p:nvSpPr>
        <p:spPr>
          <a:xfrm>
            <a:off x="548640" y="3145536"/>
            <a:ext cx="3931920" cy="1664208"/>
          </a:xfrm>
          <a:prstGeom prst="rect">
            <a:avLst/>
          </a:prstGeom>
          <a:solidFill>
            <a:srgbClr val="E9E0D2"/>
          </a:solidFill>
          <a:ln w="12700">
            <a:solidFill>
              <a:srgbClr val="E2D6C3"/>
            </a:solidFill>
            <a:prstDash val="solid"/>
          </a:ln>
        </p:spPr>
      </p:sp>
      <p:sp>
        <p:nvSpPr>
          <p:cNvPr id="30" name="Card edge accent">
            <a:extLst>
              <a:ext uri="{C183D7F6-B498-43B3-948B-1728B52AA6E4}">
                <adec:decorative xmlns="" xmlns:adec="http://schemas.microsoft.com/office/drawing/2017/decorative" val="1"/>
              </a:ext>
            </a:extLst>
          </p:cNvPr>
          <p:cNvSpPr/>
          <p:nvPr/>
        </p:nvSpPr>
        <p:spPr>
          <a:xfrm>
            <a:off x="548640" y="3145536"/>
            <a:ext cx="64008" cy="1664208"/>
          </a:xfrm>
          <a:prstGeom prst="rect">
            <a:avLst/>
          </a:prstGeom>
          <a:solidFill>
            <a:srgbClr val="CFC2AE"/>
          </a:solidFill>
          <a:ln/>
        </p:spPr>
      </p:sp>
      <p:sp>
        <p:nvSpPr>
          <p:cNvPr id="31" name="Text 29"/>
          <p:cNvSpPr/>
          <p:nvPr/>
        </p:nvSpPr>
        <p:spPr>
          <a:xfrm>
            <a:off x="804672" y="3291840"/>
            <a:ext cx="566928" cy="365760"/>
          </a:xfrm>
          <a:prstGeom prst="rect">
            <a:avLst/>
          </a:prstGeom>
          <a:noFill/>
          <a:ln/>
        </p:spPr>
        <p:txBody>
          <a:bodyPr wrap="square" lIns="0" tIns="0" rIns="0" bIns="0" rtlCol="0" anchor="ctr"/>
          <a:lstStyle/>
          <a:p>
            <a:pPr marL="0" indent="0">
              <a:buNone/>
            </a:pPr>
            <a:r>
              <a:rPr lang="en-US" sz="1900" b="1" dirty="0">
                <a:solidFill>
                  <a:srgbClr val="BBAF9B"/>
                </a:solidFill>
                <a:latin typeface="Georgia" pitchFamily="34" charset="0"/>
                <a:ea typeface="Georgia" pitchFamily="34" charset="-122"/>
                <a:cs typeface="Georgia" pitchFamily="34" charset="-120"/>
              </a:rPr>
              <a:t>07</a:t>
            </a:r>
            <a:endParaRPr lang="en-US" sz="1900" dirty="0"/>
          </a:p>
        </p:txBody>
      </p:sp>
      <p:sp>
        <p:nvSpPr>
          <p:cNvPr id="32" name="Text 30"/>
          <p:cNvSpPr/>
          <p:nvPr/>
        </p:nvSpPr>
        <p:spPr>
          <a:xfrm>
            <a:off x="1417320" y="3310128"/>
            <a:ext cx="2880360" cy="365760"/>
          </a:xfrm>
          <a:prstGeom prst="rect">
            <a:avLst/>
          </a:prstGeom>
          <a:noFill/>
          <a:ln/>
        </p:spPr>
        <p:txBody>
          <a:bodyPr wrap="square" lIns="0" tIns="0" rIns="0" bIns="0" rtlCol="0" anchor="ctr"/>
          <a:lstStyle/>
          <a:p>
            <a:pPr marL="0" indent="0">
              <a:buNone/>
            </a:pPr>
            <a:r>
              <a:rPr lang="en-US" sz="1350" b="1" dirty="0">
                <a:solidFill>
                  <a:srgbClr val="B3A791"/>
                </a:solidFill>
                <a:latin typeface="Georgia" pitchFamily="34" charset="0"/>
                <a:ea typeface="Georgia" pitchFamily="34" charset="-122"/>
                <a:cs typeface="Georgia" pitchFamily="34" charset="-120"/>
              </a:rPr>
              <a:t>Project name</a:t>
            </a:r>
            <a:endParaRPr lang="en-US" sz="1350" dirty="0"/>
          </a:p>
        </p:txBody>
      </p:sp>
      <p:sp>
        <p:nvSpPr>
          <p:cNvPr id="33" name="Card divider">
            <a:extLst>
              <a:ext uri="{C183D7F6-B498-43B3-948B-1728B52AA6E4}">
                <adec:decorative xmlns="" xmlns:adec="http://schemas.microsoft.com/office/drawing/2017/decorative" val="1"/>
              </a:ext>
            </a:extLst>
          </p:cNvPr>
          <p:cNvSpPr/>
          <p:nvPr/>
        </p:nvSpPr>
        <p:spPr>
          <a:xfrm>
            <a:off x="1417320" y="3767328"/>
            <a:ext cx="2880360" cy="13716"/>
          </a:xfrm>
          <a:prstGeom prst="rect">
            <a:avLst/>
          </a:prstGeom>
          <a:solidFill>
            <a:srgbClr val="D5C9B5"/>
          </a:solidFill>
          <a:ln/>
        </p:spPr>
      </p:sp>
      <p:sp>
        <p:nvSpPr>
          <p:cNvPr id="34" name="Text 32"/>
          <p:cNvSpPr/>
          <p:nvPr/>
        </p:nvSpPr>
        <p:spPr>
          <a:xfrm>
            <a:off x="1417320" y="3877056"/>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35" name="Fill-in rule">
            <a:extLst>
              <a:ext uri="{C183D7F6-B498-43B3-948B-1728B52AA6E4}">
                <adec:decorative xmlns="" xmlns:adec="http://schemas.microsoft.com/office/drawing/2017/decorative" val="1"/>
              </a:ext>
            </a:extLst>
          </p:cNvPr>
          <p:cNvSpPr/>
          <p:nvPr/>
        </p:nvSpPr>
        <p:spPr>
          <a:xfrm>
            <a:off x="2194560" y="4050792"/>
            <a:ext cx="2103120" cy="10973"/>
          </a:xfrm>
          <a:prstGeom prst="rect">
            <a:avLst/>
          </a:prstGeom>
          <a:solidFill>
            <a:srgbClr val="CFC2AE"/>
          </a:solidFill>
          <a:ln/>
        </p:spPr>
      </p:sp>
      <p:sp>
        <p:nvSpPr>
          <p:cNvPr id="36" name="Text 34"/>
          <p:cNvSpPr/>
          <p:nvPr/>
        </p:nvSpPr>
        <p:spPr>
          <a:xfrm>
            <a:off x="1417320" y="4142232"/>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37" name="Fill-in rule">
            <a:extLst>
              <a:ext uri="{C183D7F6-B498-43B3-948B-1728B52AA6E4}">
                <adec:decorative xmlns="" xmlns:adec="http://schemas.microsoft.com/office/drawing/2017/decorative" val="1"/>
              </a:ext>
            </a:extLst>
          </p:cNvPr>
          <p:cNvSpPr/>
          <p:nvPr/>
        </p:nvSpPr>
        <p:spPr>
          <a:xfrm>
            <a:off x="2194560" y="4315968"/>
            <a:ext cx="2103120" cy="10973"/>
          </a:xfrm>
          <a:prstGeom prst="rect">
            <a:avLst/>
          </a:prstGeom>
          <a:solidFill>
            <a:srgbClr val="CFC2AE"/>
          </a:solidFill>
          <a:ln/>
        </p:spPr>
      </p:sp>
      <p:sp>
        <p:nvSpPr>
          <p:cNvPr id="38" name="Text 36"/>
          <p:cNvSpPr/>
          <p:nvPr/>
        </p:nvSpPr>
        <p:spPr>
          <a:xfrm>
            <a:off x="1417320" y="4407408"/>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39" name="Fill-in rule">
            <a:extLst>
              <a:ext uri="{C183D7F6-B498-43B3-948B-1728B52AA6E4}">
                <adec:decorative xmlns="" xmlns:adec="http://schemas.microsoft.com/office/drawing/2017/decorative" val="1"/>
              </a:ext>
            </a:extLst>
          </p:cNvPr>
          <p:cNvSpPr/>
          <p:nvPr/>
        </p:nvSpPr>
        <p:spPr>
          <a:xfrm>
            <a:off x="2194560" y="4581144"/>
            <a:ext cx="2103120" cy="10973"/>
          </a:xfrm>
          <a:prstGeom prst="rect">
            <a:avLst/>
          </a:prstGeom>
          <a:solidFill>
            <a:srgbClr val="CFC2AE"/>
          </a:solidFill>
          <a:ln/>
        </p:spPr>
      </p:sp>
      <p:sp>
        <p:nvSpPr>
          <p:cNvPr id="40" name="Project card">
            <a:extLst>
              <a:ext uri="{C183D7F6-B498-43B3-948B-1728B52AA6E4}">
                <adec:decorative xmlns="" xmlns:adec="http://schemas.microsoft.com/office/drawing/2017/decorative" val="1"/>
              </a:ext>
            </a:extLst>
          </p:cNvPr>
          <p:cNvSpPr/>
          <p:nvPr/>
        </p:nvSpPr>
        <p:spPr>
          <a:xfrm>
            <a:off x="4754880" y="3145536"/>
            <a:ext cx="3931920" cy="1664208"/>
          </a:xfrm>
          <a:prstGeom prst="rect">
            <a:avLst/>
          </a:prstGeom>
          <a:solidFill>
            <a:srgbClr val="E9E0D2"/>
          </a:solidFill>
          <a:ln w="12700">
            <a:solidFill>
              <a:srgbClr val="E2D6C3"/>
            </a:solidFill>
            <a:prstDash val="solid"/>
          </a:ln>
        </p:spPr>
      </p:sp>
      <p:sp>
        <p:nvSpPr>
          <p:cNvPr id="41" name="Card edge accent">
            <a:extLst>
              <a:ext uri="{C183D7F6-B498-43B3-948B-1728B52AA6E4}">
                <adec:decorative xmlns="" xmlns:adec="http://schemas.microsoft.com/office/drawing/2017/decorative" val="1"/>
              </a:ext>
            </a:extLst>
          </p:cNvPr>
          <p:cNvSpPr/>
          <p:nvPr/>
        </p:nvSpPr>
        <p:spPr>
          <a:xfrm>
            <a:off x="4754880" y="3145536"/>
            <a:ext cx="64008" cy="1664208"/>
          </a:xfrm>
          <a:prstGeom prst="rect">
            <a:avLst/>
          </a:prstGeom>
          <a:solidFill>
            <a:srgbClr val="CFC2AE"/>
          </a:solidFill>
          <a:ln/>
        </p:spPr>
      </p:sp>
      <p:sp>
        <p:nvSpPr>
          <p:cNvPr id="42" name="Text 40"/>
          <p:cNvSpPr/>
          <p:nvPr/>
        </p:nvSpPr>
        <p:spPr>
          <a:xfrm>
            <a:off x="5010912" y="3291840"/>
            <a:ext cx="566928" cy="365760"/>
          </a:xfrm>
          <a:prstGeom prst="rect">
            <a:avLst/>
          </a:prstGeom>
          <a:noFill/>
          <a:ln/>
        </p:spPr>
        <p:txBody>
          <a:bodyPr wrap="square" lIns="0" tIns="0" rIns="0" bIns="0" rtlCol="0" anchor="ctr"/>
          <a:lstStyle/>
          <a:p>
            <a:pPr marL="0" indent="0">
              <a:buNone/>
            </a:pPr>
            <a:r>
              <a:rPr lang="en-US" sz="1900" b="1" dirty="0">
                <a:solidFill>
                  <a:srgbClr val="BBAF9B"/>
                </a:solidFill>
                <a:latin typeface="Georgia" pitchFamily="34" charset="0"/>
                <a:ea typeface="Georgia" pitchFamily="34" charset="-122"/>
                <a:cs typeface="Georgia" pitchFamily="34" charset="-120"/>
              </a:rPr>
              <a:t>08</a:t>
            </a:r>
            <a:endParaRPr lang="en-US" sz="1900" dirty="0"/>
          </a:p>
        </p:txBody>
      </p:sp>
      <p:sp>
        <p:nvSpPr>
          <p:cNvPr id="43" name="Text 41"/>
          <p:cNvSpPr/>
          <p:nvPr/>
        </p:nvSpPr>
        <p:spPr>
          <a:xfrm>
            <a:off x="5623560" y="3310128"/>
            <a:ext cx="2880360" cy="365760"/>
          </a:xfrm>
          <a:prstGeom prst="rect">
            <a:avLst/>
          </a:prstGeom>
          <a:noFill/>
          <a:ln/>
        </p:spPr>
        <p:txBody>
          <a:bodyPr wrap="square" lIns="0" tIns="0" rIns="0" bIns="0" rtlCol="0" anchor="ctr"/>
          <a:lstStyle/>
          <a:p>
            <a:pPr marL="0" indent="0">
              <a:buNone/>
            </a:pPr>
            <a:r>
              <a:rPr lang="en-US" sz="1350" b="1" dirty="0">
                <a:solidFill>
                  <a:srgbClr val="B3A791"/>
                </a:solidFill>
                <a:latin typeface="Georgia" pitchFamily="34" charset="0"/>
                <a:ea typeface="Georgia" pitchFamily="34" charset="-122"/>
                <a:cs typeface="Georgia" pitchFamily="34" charset="-120"/>
              </a:rPr>
              <a:t>Project name</a:t>
            </a:r>
            <a:endParaRPr lang="en-US" sz="1350" dirty="0"/>
          </a:p>
        </p:txBody>
      </p:sp>
      <p:sp>
        <p:nvSpPr>
          <p:cNvPr id="44" name="Card divider">
            <a:extLst>
              <a:ext uri="{C183D7F6-B498-43B3-948B-1728B52AA6E4}">
                <adec:decorative xmlns="" xmlns:adec="http://schemas.microsoft.com/office/drawing/2017/decorative" val="1"/>
              </a:ext>
            </a:extLst>
          </p:cNvPr>
          <p:cNvSpPr/>
          <p:nvPr/>
        </p:nvSpPr>
        <p:spPr>
          <a:xfrm>
            <a:off x="5623560" y="3767328"/>
            <a:ext cx="2880360" cy="13716"/>
          </a:xfrm>
          <a:prstGeom prst="rect">
            <a:avLst/>
          </a:prstGeom>
          <a:solidFill>
            <a:srgbClr val="D5C9B5"/>
          </a:solidFill>
          <a:ln/>
        </p:spPr>
      </p:sp>
      <p:sp>
        <p:nvSpPr>
          <p:cNvPr id="45" name="Text 43"/>
          <p:cNvSpPr/>
          <p:nvPr/>
        </p:nvSpPr>
        <p:spPr>
          <a:xfrm>
            <a:off x="5623560" y="3877056"/>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46" name="Fill-in rule">
            <a:extLst>
              <a:ext uri="{C183D7F6-B498-43B3-948B-1728B52AA6E4}">
                <adec:decorative xmlns="" xmlns:adec="http://schemas.microsoft.com/office/drawing/2017/decorative" val="1"/>
              </a:ext>
            </a:extLst>
          </p:cNvPr>
          <p:cNvSpPr/>
          <p:nvPr/>
        </p:nvSpPr>
        <p:spPr>
          <a:xfrm>
            <a:off x="6400800" y="4050792"/>
            <a:ext cx="2103120" cy="10973"/>
          </a:xfrm>
          <a:prstGeom prst="rect">
            <a:avLst/>
          </a:prstGeom>
          <a:solidFill>
            <a:srgbClr val="CFC2AE"/>
          </a:solidFill>
          <a:ln/>
        </p:spPr>
      </p:sp>
      <p:sp>
        <p:nvSpPr>
          <p:cNvPr id="47" name="Text 45"/>
          <p:cNvSpPr/>
          <p:nvPr/>
        </p:nvSpPr>
        <p:spPr>
          <a:xfrm>
            <a:off x="5623560" y="4142232"/>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48" name="Fill-in rule">
            <a:extLst>
              <a:ext uri="{C183D7F6-B498-43B3-948B-1728B52AA6E4}">
                <adec:decorative xmlns="" xmlns:adec="http://schemas.microsoft.com/office/drawing/2017/decorative" val="1"/>
              </a:ext>
            </a:extLst>
          </p:cNvPr>
          <p:cNvSpPr/>
          <p:nvPr/>
        </p:nvSpPr>
        <p:spPr>
          <a:xfrm>
            <a:off x="6400800" y="4315968"/>
            <a:ext cx="2103120" cy="10973"/>
          </a:xfrm>
          <a:prstGeom prst="rect">
            <a:avLst/>
          </a:prstGeom>
          <a:solidFill>
            <a:srgbClr val="CFC2AE"/>
          </a:solidFill>
          <a:ln/>
        </p:spPr>
      </p:sp>
      <p:sp>
        <p:nvSpPr>
          <p:cNvPr id="49" name="Text 47"/>
          <p:cNvSpPr/>
          <p:nvPr/>
        </p:nvSpPr>
        <p:spPr>
          <a:xfrm>
            <a:off x="5623560" y="4407408"/>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50" name="Fill-in rule">
            <a:extLst>
              <a:ext uri="{C183D7F6-B498-43B3-948B-1728B52AA6E4}">
                <adec:decorative xmlns="" xmlns:adec="http://schemas.microsoft.com/office/drawing/2017/decorative" val="1"/>
              </a:ext>
            </a:extLst>
          </p:cNvPr>
          <p:cNvSpPr/>
          <p:nvPr/>
        </p:nvSpPr>
        <p:spPr>
          <a:xfrm>
            <a:off x="6400800" y="4581144"/>
            <a:ext cx="2103120" cy="10973"/>
          </a:xfrm>
          <a:prstGeom prst="rect">
            <a:avLst/>
          </a:prstGeom>
          <a:solidFill>
            <a:srgbClr val="CFC2AE"/>
          </a:solidFill>
          <a:ln/>
        </p:spPr>
      </p:sp>
      <p:sp>
        <p:nvSpPr>
          <p:cNvPr id="51" name="Project card">
            <a:extLst>
              <a:ext uri="{C183D7F6-B498-43B3-948B-1728B52AA6E4}">
                <adec:decorative xmlns="" xmlns:adec="http://schemas.microsoft.com/office/drawing/2017/decorative" val="1"/>
              </a:ext>
            </a:extLst>
          </p:cNvPr>
          <p:cNvSpPr/>
          <p:nvPr/>
        </p:nvSpPr>
        <p:spPr>
          <a:xfrm>
            <a:off x="548640" y="3145536"/>
            <a:ext cx="3931920" cy="1664208"/>
          </a:xfrm>
          <a:prstGeom prst="rect">
            <a:avLst/>
          </a:prstGeom>
          <a:solidFill>
            <a:schemeClr val="bg1"/>
          </a:solidFill>
          <a:ln w="12700">
            <a:solidFill>
              <a:srgbClr val="E2D6C3"/>
            </a:solidFill>
            <a:prstDash val="solid"/>
          </a:ln>
        </p:spPr>
      </p:sp>
      <p:sp>
        <p:nvSpPr>
          <p:cNvPr id="52" name="Card edge accent">
            <a:extLst>
              <a:ext uri="{C183D7F6-B498-43B3-948B-1728B52AA6E4}">
                <adec:decorative xmlns="" xmlns:adec="http://schemas.microsoft.com/office/drawing/2017/decorative" val="1"/>
              </a:ext>
            </a:extLst>
          </p:cNvPr>
          <p:cNvSpPr/>
          <p:nvPr/>
        </p:nvSpPr>
        <p:spPr>
          <a:xfrm>
            <a:off x="548640" y="3145536"/>
            <a:ext cx="64008" cy="1664208"/>
          </a:xfrm>
          <a:prstGeom prst="rect">
            <a:avLst/>
          </a:prstGeom>
          <a:solidFill>
            <a:schemeClr val="accent2">
              <a:lumMod val="75000"/>
            </a:schemeClr>
          </a:solidFill>
          <a:ln/>
        </p:spPr>
      </p:sp>
      <p:sp>
        <p:nvSpPr>
          <p:cNvPr id="53" name="Text 29"/>
          <p:cNvSpPr/>
          <p:nvPr/>
        </p:nvSpPr>
        <p:spPr>
          <a:xfrm>
            <a:off x="804672" y="3291840"/>
            <a:ext cx="566928" cy="365760"/>
          </a:xfrm>
          <a:prstGeom prst="rect">
            <a:avLst/>
          </a:prstGeom>
          <a:noFill/>
          <a:ln/>
        </p:spPr>
        <p:txBody>
          <a:bodyPr wrap="square" lIns="0" tIns="0" rIns="0" bIns="0" rtlCol="0" anchor="ctr"/>
          <a:lstStyle/>
          <a:p>
            <a:pPr marL="0" indent="0">
              <a:buNone/>
            </a:pPr>
            <a:r>
              <a:rPr lang="en-US" sz="1900" b="1" dirty="0" smtClean="0">
                <a:solidFill>
                  <a:schemeClr val="accent2">
                    <a:lumMod val="75000"/>
                  </a:schemeClr>
                </a:solidFill>
                <a:latin typeface="Georgia" pitchFamily="34" charset="0"/>
                <a:ea typeface="Georgia" pitchFamily="34" charset="-122"/>
                <a:cs typeface="Georgia" pitchFamily="34" charset="-120"/>
              </a:rPr>
              <a:t>07</a:t>
            </a:r>
            <a:endParaRPr lang="en-US" sz="1900" dirty="0">
              <a:solidFill>
                <a:schemeClr val="accent2">
                  <a:lumMod val="75000"/>
                </a:schemeClr>
              </a:solidFill>
            </a:endParaRPr>
          </a:p>
        </p:txBody>
      </p:sp>
      <p:sp>
        <p:nvSpPr>
          <p:cNvPr id="54" name="Text 30"/>
          <p:cNvSpPr/>
          <p:nvPr/>
        </p:nvSpPr>
        <p:spPr>
          <a:xfrm>
            <a:off x="1417320" y="3310128"/>
            <a:ext cx="2880360" cy="365760"/>
          </a:xfrm>
          <a:prstGeom prst="rect">
            <a:avLst/>
          </a:prstGeom>
          <a:noFill/>
          <a:ln/>
        </p:spPr>
        <p:txBody>
          <a:bodyPr wrap="square" lIns="0" tIns="0" rIns="0" bIns="0" rtlCol="0" anchor="ctr"/>
          <a:lstStyle/>
          <a:p>
            <a:pPr marL="0" indent="0">
              <a:buNone/>
            </a:pPr>
            <a:r>
              <a:rPr lang="en-US" sz="1350" b="1" dirty="0" smtClean="0">
                <a:latin typeface="Georgia" pitchFamily="34" charset="0"/>
              </a:rPr>
              <a:t>Solar off Grid Container for Weather </a:t>
            </a:r>
            <a:r>
              <a:rPr lang="en-US" sz="1350" b="1" dirty="0" smtClean="0">
                <a:latin typeface="Georgia" pitchFamily="34" charset="0"/>
              </a:rPr>
              <a:t>stations (BESS)</a:t>
            </a:r>
            <a:endParaRPr lang="en-US" sz="1350" dirty="0"/>
          </a:p>
        </p:txBody>
      </p:sp>
      <p:sp>
        <p:nvSpPr>
          <p:cNvPr id="55" name="Card divider">
            <a:extLst>
              <a:ext uri="{C183D7F6-B498-43B3-948B-1728B52AA6E4}">
                <adec:decorative xmlns="" xmlns:adec="http://schemas.microsoft.com/office/drawing/2017/decorative" val="1"/>
              </a:ext>
            </a:extLst>
          </p:cNvPr>
          <p:cNvSpPr/>
          <p:nvPr/>
        </p:nvSpPr>
        <p:spPr>
          <a:xfrm>
            <a:off x="1417320" y="3767328"/>
            <a:ext cx="2880360" cy="13716"/>
          </a:xfrm>
          <a:prstGeom prst="rect">
            <a:avLst/>
          </a:prstGeom>
          <a:solidFill>
            <a:srgbClr val="D5C9B5"/>
          </a:solidFill>
          <a:ln/>
        </p:spPr>
      </p:sp>
      <p:sp>
        <p:nvSpPr>
          <p:cNvPr id="56" name="Text 32"/>
          <p:cNvSpPr/>
          <p:nvPr/>
        </p:nvSpPr>
        <p:spPr>
          <a:xfrm>
            <a:off x="1417320" y="3877056"/>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57" name="Text 34"/>
          <p:cNvSpPr/>
          <p:nvPr/>
        </p:nvSpPr>
        <p:spPr>
          <a:xfrm>
            <a:off x="1417320" y="4142232"/>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58" name="Text 36"/>
          <p:cNvSpPr/>
          <p:nvPr/>
        </p:nvSpPr>
        <p:spPr>
          <a:xfrm>
            <a:off x="1417320" y="4407408"/>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59" name="TextBox 58"/>
          <p:cNvSpPr txBox="1"/>
          <p:nvPr/>
        </p:nvSpPr>
        <p:spPr>
          <a:xfrm>
            <a:off x="2194560" y="3858768"/>
            <a:ext cx="1630019" cy="238527"/>
          </a:xfrm>
          <a:prstGeom prst="rect">
            <a:avLst/>
          </a:prstGeom>
          <a:noFill/>
        </p:spPr>
        <p:txBody>
          <a:bodyPr wrap="square" rtlCol="0">
            <a:spAutoFit/>
          </a:bodyPr>
          <a:lstStyle/>
          <a:p>
            <a:pPr lvl="0"/>
            <a:r>
              <a:rPr lang="en-US" sz="950" b="1" dirty="0" smtClean="0">
                <a:solidFill>
                  <a:srgbClr val="2B2926"/>
                </a:solidFill>
                <a:latin typeface="Trebuchet MS" pitchFamily="34" charset="0"/>
                <a:ea typeface="Trebuchet MS" pitchFamily="34" charset="-122"/>
                <a:cs typeface="Trebuchet MS" pitchFamily="34" charset="-120"/>
              </a:rPr>
              <a:t>-</a:t>
            </a:r>
            <a:endParaRPr lang="en-US" sz="950" dirty="0">
              <a:solidFill>
                <a:prstClr val="black"/>
              </a:solidFill>
            </a:endParaRPr>
          </a:p>
        </p:txBody>
      </p:sp>
      <p:sp>
        <p:nvSpPr>
          <p:cNvPr id="60" name="TextBox 59"/>
          <p:cNvSpPr txBox="1"/>
          <p:nvPr/>
        </p:nvSpPr>
        <p:spPr>
          <a:xfrm>
            <a:off x="2191781" y="4117595"/>
            <a:ext cx="2019629" cy="238527"/>
          </a:xfrm>
          <a:prstGeom prst="rect">
            <a:avLst/>
          </a:prstGeom>
          <a:noFill/>
        </p:spPr>
        <p:txBody>
          <a:bodyPr wrap="square" rtlCol="0">
            <a:spAutoFit/>
          </a:bodyPr>
          <a:lstStyle/>
          <a:p>
            <a:pPr lvl="0"/>
            <a:r>
              <a:rPr lang="en-US" sz="950" dirty="0" smtClean="0">
                <a:solidFill>
                  <a:srgbClr val="45413B"/>
                </a:solidFill>
                <a:latin typeface="Trebuchet MS" pitchFamily="34" charset="0"/>
                <a:ea typeface="Trebuchet MS" pitchFamily="34" charset="-122"/>
                <a:cs typeface="Trebuchet MS" pitchFamily="34" charset="-120"/>
              </a:rPr>
              <a:t>Saudi </a:t>
            </a:r>
            <a:r>
              <a:rPr lang="en-US" sz="950" dirty="0">
                <a:solidFill>
                  <a:srgbClr val="45413B"/>
                </a:solidFill>
                <a:latin typeface="Trebuchet MS" pitchFamily="34" charset="0"/>
                <a:ea typeface="Trebuchet MS" pitchFamily="34" charset="-122"/>
                <a:cs typeface="Trebuchet MS" pitchFamily="34" charset="-120"/>
              </a:rPr>
              <a:t>Arabia</a:t>
            </a:r>
            <a:endParaRPr lang="en-US" sz="950" dirty="0">
              <a:solidFill>
                <a:prstClr val="black"/>
              </a:solidFill>
            </a:endParaRPr>
          </a:p>
        </p:txBody>
      </p:sp>
      <p:sp>
        <p:nvSpPr>
          <p:cNvPr id="61" name="TextBox 60"/>
          <p:cNvSpPr txBox="1"/>
          <p:nvPr/>
        </p:nvSpPr>
        <p:spPr>
          <a:xfrm>
            <a:off x="2166932" y="4353590"/>
            <a:ext cx="2069326" cy="238527"/>
          </a:xfrm>
          <a:prstGeom prst="rect">
            <a:avLst/>
          </a:prstGeom>
          <a:noFill/>
        </p:spPr>
        <p:txBody>
          <a:bodyPr wrap="square" rtlCol="0">
            <a:spAutoFit/>
          </a:bodyPr>
          <a:lstStyle/>
          <a:p>
            <a:pPr lvl="0"/>
            <a:r>
              <a:rPr lang="en-US" sz="950" dirty="0" smtClean="0">
                <a:solidFill>
                  <a:srgbClr val="45413B"/>
                </a:solidFill>
                <a:latin typeface="Trebuchet MS" pitchFamily="34" charset="0"/>
                <a:ea typeface="Trebuchet MS" pitchFamily="34" charset="-122"/>
                <a:cs typeface="Trebuchet MS" pitchFamily="34" charset="-120"/>
              </a:rPr>
              <a:t>Turnkey </a:t>
            </a:r>
            <a:r>
              <a:rPr lang="en-US" sz="950" dirty="0">
                <a:solidFill>
                  <a:srgbClr val="45413B"/>
                </a:solidFill>
                <a:latin typeface="Trebuchet MS" pitchFamily="34" charset="0"/>
                <a:ea typeface="Trebuchet MS" pitchFamily="34" charset="-122"/>
                <a:cs typeface="Trebuchet MS" pitchFamily="34" charset="-120"/>
              </a:rPr>
              <a:t>EPC</a:t>
            </a:r>
            <a:endParaRPr lang="en-US" sz="950" dirty="0">
              <a:solidFill>
                <a:prstClr val="black"/>
              </a:solidFill>
            </a:endParaRPr>
          </a:p>
        </p:txBody>
      </p:sp>
      <p:sp>
        <p:nvSpPr>
          <p:cNvPr id="62" name="Project card">
            <a:extLst>
              <a:ext uri="{C183D7F6-B498-43B3-948B-1728B52AA6E4}">
                <adec:decorative xmlns="" xmlns:adec="http://schemas.microsoft.com/office/drawing/2017/decorative" val="1"/>
              </a:ext>
            </a:extLst>
          </p:cNvPr>
          <p:cNvSpPr/>
          <p:nvPr/>
        </p:nvSpPr>
        <p:spPr>
          <a:xfrm>
            <a:off x="548640" y="1256306"/>
            <a:ext cx="3931920" cy="1664208"/>
          </a:xfrm>
          <a:prstGeom prst="rect">
            <a:avLst/>
          </a:prstGeom>
          <a:solidFill>
            <a:schemeClr val="bg1"/>
          </a:solidFill>
          <a:ln w="12700">
            <a:solidFill>
              <a:srgbClr val="E2D6C3"/>
            </a:solidFill>
            <a:prstDash val="solid"/>
          </a:ln>
        </p:spPr>
      </p:sp>
      <p:sp>
        <p:nvSpPr>
          <p:cNvPr id="63" name="Card edge accent">
            <a:extLst>
              <a:ext uri="{C183D7F6-B498-43B3-948B-1728B52AA6E4}">
                <adec:decorative xmlns="" xmlns:adec="http://schemas.microsoft.com/office/drawing/2017/decorative" val="1"/>
              </a:ext>
            </a:extLst>
          </p:cNvPr>
          <p:cNvSpPr/>
          <p:nvPr/>
        </p:nvSpPr>
        <p:spPr>
          <a:xfrm>
            <a:off x="548640" y="1256306"/>
            <a:ext cx="64008" cy="1664208"/>
          </a:xfrm>
          <a:prstGeom prst="rect">
            <a:avLst/>
          </a:prstGeom>
          <a:solidFill>
            <a:schemeClr val="accent2">
              <a:lumMod val="75000"/>
            </a:schemeClr>
          </a:solidFill>
          <a:ln/>
        </p:spPr>
      </p:sp>
      <p:sp>
        <p:nvSpPr>
          <p:cNvPr id="64" name="Text 29"/>
          <p:cNvSpPr/>
          <p:nvPr/>
        </p:nvSpPr>
        <p:spPr>
          <a:xfrm>
            <a:off x="804672" y="1402610"/>
            <a:ext cx="566928" cy="365760"/>
          </a:xfrm>
          <a:prstGeom prst="rect">
            <a:avLst/>
          </a:prstGeom>
          <a:noFill/>
          <a:ln/>
        </p:spPr>
        <p:txBody>
          <a:bodyPr wrap="square" lIns="0" tIns="0" rIns="0" bIns="0" rtlCol="0" anchor="ctr"/>
          <a:lstStyle/>
          <a:p>
            <a:pPr marL="0" indent="0">
              <a:buNone/>
            </a:pPr>
            <a:r>
              <a:rPr lang="en-US" sz="1900" b="1" dirty="0" smtClean="0">
                <a:solidFill>
                  <a:schemeClr val="accent2">
                    <a:lumMod val="75000"/>
                  </a:schemeClr>
                </a:solidFill>
                <a:latin typeface="Georgia" pitchFamily="34" charset="0"/>
                <a:ea typeface="Georgia" pitchFamily="34" charset="-122"/>
                <a:cs typeface="Georgia" pitchFamily="34" charset="-120"/>
              </a:rPr>
              <a:t>05</a:t>
            </a:r>
            <a:endParaRPr lang="en-US" sz="1900" dirty="0">
              <a:solidFill>
                <a:schemeClr val="accent2">
                  <a:lumMod val="75000"/>
                </a:schemeClr>
              </a:solidFill>
            </a:endParaRPr>
          </a:p>
        </p:txBody>
      </p:sp>
      <p:sp>
        <p:nvSpPr>
          <p:cNvPr id="65" name="Text 30"/>
          <p:cNvSpPr/>
          <p:nvPr/>
        </p:nvSpPr>
        <p:spPr>
          <a:xfrm>
            <a:off x="1417320" y="1420898"/>
            <a:ext cx="2880360" cy="365760"/>
          </a:xfrm>
          <a:prstGeom prst="rect">
            <a:avLst/>
          </a:prstGeom>
          <a:noFill/>
          <a:ln/>
        </p:spPr>
        <p:txBody>
          <a:bodyPr wrap="square" lIns="0" tIns="0" rIns="0" bIns="0" rtlCol="0" anchor="ctr"/>
          <a:lstStyle/>
          <a:p>
            <a:pPr marL="0" indent="0">
              <a:buNone/>
            </a:pPr>
            <a:r>
              <a:rPr lang="en-US" sz="1350" b="1" dirty="0" err="1" smtClean="0">
                <a:latin typeface="Georgia" pitchFamily="34" charset="0"/>
              </a:rPr>
              <a:t>Qiddiya</a:t>
            </a:r>
            <a:r>
              <a:rPr lang="en-US" sz="1350" b="1" dirty="0" smtClean="0">
                <a:latin typeface="Georgia" pitchFamily="34" charset="0"/>
              </a:rPr>
              <a:t> Six flag solar on grid ground mount </a:t>
            </a:r>
            <a:endParaRPr lang="en-US" sz="1350" dirty="0"/>
          </a:p>
        </p:txBody>
      </p:sp>
      <p:sp>
        <p:nvSpPr>
          <p:cNvPr id="66" name="Card divider">
            <a:extLst>
              <a:ext uri="{C183D7F6-B498-43B3-948B-1728B52AA6E4}">
                <adec:decorative xmlns="" xmlns:adec="http://schemas.microsoft.com/office/drawing/2017/decorative" val="1"/>
              </a:ext>
            </a:extLst>
          </p:cNvPr>
          <p:cNvSpPr/>
          <p:nvPr/>
        </p:nvSpPr>
        <p:spPr>
          <a:xfrm>
            <a:off x="1417320" y="1878098"/>
            <a:ext cx="2880360" cy="13716"/>
          </a:xfrm>
          <a:prstGeom prst="rect">
            <a:avLst/>
          </a:prstGeom>
          <a:solidFill>
            <a:srgbClr val="D5C9B5"/>
          </a:solidFill>
          <a:ln/>
        </p:spPr>
      </p:sp>
      <p:sp>
        <p:nvSpPr>
          <p:cNvPr id="67" name="Text 32"/>
          <p:cNvSpPr/>
          <p:nvPr/>
        </p:nvSpPr>
        <p:spPr>
          <a:xfrm>
            <a:off x="1417320" y="1987826"/>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68" name="Text 34"/>
          <p:cNvSpPr/>
          <p:nvPr/>
        </p:nvSpPr>
        <p:spPr>
          <a:xfrm>
            <a:off x="1417320" y="2253002"/>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69" name="Text 36"/>
          <p:cNvSpPr/>
          <p:nvPr/>
        </p:nvSpPr>
        <p:spPr>
          <a:xfrm>
            <a:off x="1417320" y="2518178"/>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70" name="TextBox 69"/>
          <p:cNvSpPr txBox="1"/>
          <p:nvPr/>
        </p:nvSpPr>
        <p:spPr>
          <a:xfrm>
            <a:off x="2194560" y="1969538"/>
            <a:ext cx="1630019" cy="238527"/>
          </a:xfrm>
          <a:prstGeom prst="rect">
            <a:avLst/>
          </a:prstGeom>
          <a:noFill/>
        </p:spPr>
        <p:txBody>
          <a:bodyPr wrap="square" rtlCol="0">
            <a:spAutoFit/>
          </a:bodyPr>
          <a:lstStyle/>
          <a:p>
            <a:pPr lvl="0"/>
            <a:r>
              <a:rPr lang="en-US" sz="950" b="1" dirty="0">
                <a:solidFill>
                  <a:srgbClr val="2B2926"/>
                </a:solidFill>
                <a:latin typeface="Trebuchet MS" pitchFamily="34" charset="0"/>
                <a:ea typeface="Trebuchet MS" pitchFamily="34" charset="-122"/>
                <a:cs typeface="Trebuchet MS" pitchFamily="34" charset="-120"/>
              </a:rPr>
              <a:t>2</a:t>
            </a:r>
            <a:r>
              <a:rPr lang="en-US" sz="950" b="1" dirty="0" smtClean="0">
                <a:solidFill>
                  <a:srgbClr val="2B2926"/>
                </a:solidFill>
                <a:latin typeface="Trebuchet MS" pitchFamily="34" charset="0"/>
                <a:ea typeface="Trebuchet MS" pitchFamily="34" charset="-122"/>
                <a:cs typeface="Trebuchet MS" pitchFamily="34" charset="-120"/>
              </a:rPr>
              <a:t>.0 </a:t>
            </a:r>
            <a:r>
              <a:rPr lang="en-US" sz="950" b="1" dirty="0" smtClean="0">
                <a:solidFill>
                  <a:srgbClr val="2B2926"/>
                </a:solidFill>
                <a:latin typeface="Trebuchet MS" pitchFamily="34" charset="0"/>
                <a:ea typeface="Trebuchet MS" pitchFamily="34" charset="-122"/>
                <a:cs typeface="Trebuchet MS" pitchFamily="34" charset="-120"/>
              </a:rPr>
              <a:t>MWp</a:t>
            </a:r>
            <a:endParaRPr lang="en-US" sz="950" dirty="0">
              <a:solidFill>
                <a:prstClr val="black"/>
              </a:solidFill>
            </a:endParaRPr>
          </a:p>
        </p:txBody>
      </p:sp>
      <p:sp>
        <p:nvSpPr>
          <p:cNvPr id="71" name="TextBox 70"/>
          <p:cNvSpPr txBox="1"/>
          <p:nvPr/>
        </p:nvSpPr>
        <p:spPr>
          <a:xfrm>
            <a:off x="2191781" y="2228365"/>
            <a:ext cx="2019629" cy="238527"/>
          </a:xfrm>
          <a:prstGeom prst="rect">
            <a:avLst/>
          </a:prstGeom>
          <a:noFill/>
        </p:spPr>
        <p:txBody>
          <a:bodyPr wrap="square" rtlCol="0">
            <a:spAutoFit/>
          </a:bodyPr>
          <a:lstStyle/>
          <a:p>
            <a:pPr lvl="0"/>
            <a:r>
              <a:rPr lang="en-US" sz="950" dirty="0" smtClean="0">
                <a:solidFill>
                  <a:srgbClr val="45413B"/>
                </a:solidFill>
                <a:latin typeface="Trebuchet MS" pitchFamily="34" charset="0"/>
                <a:ea typeface="Trebuchet MS" pitchFamily="34" charset="-122"/>
                <a:cs typeface="Trebuchet MS" pitchFamily="34" charset="-120"/>
              </a:rPr>
              <a:t> </a:t>
            </a:r>
            <a:r>
              <a:rPr lang="en-US" sz="950" dirty="0">
                <a:solidFill>
                  <a:srgbClr val="45413B"/>
                </a:solidFill>
                <a:latin typeface="Trebuchet MS" pitchFamily="34" charset="0"/>
                <a:ea typeface="Trebuchet MS" pitchFamily="34" charset="-122"/>
                <a:cs typeface="Trebuchet MS" pitchFamily="34" charset="-120"/>
              </a:rPr>
              <a:t>Saudi Arabia</a:t>
            </a:r>
            <a:endParaRPr lang="en-US" sz="950" dirty="0">
              <a:solidFill>
                <a:prstClr val="black"/>
              </a:solidFill>
            </a:endParaRPr>
          </a:p>
        </p:txBody>
      </p:sp>
      <p:sp>
        <p:nvSpPr>
          <p:cNvPr id="72" name="TextBox 71"/>
          <p:cNvSpPr txBox="1"/>
          <p:nvPr/>
        </p:nvSpPr>
        <p:spPr>
          <a:xfrm>
            <a:off x="2166932" y="2464360"/>
            <a:ext cx="2069326" cy="238527"/>
          </a:xfrm>
          <a:prstGeom prst="rect">
            <a:avLst/>
          </a:prstGeom>
          <a:noFill/>
        </p:spPr>
        <p:txBody>
          <a:bodyPr wrap="square" rtlCol="0">
            <a:spAutoFit/>
          </a:bodyPr>
          <a:lstStyle/>
          <a:p>
            <a:pPr lvl="0"/>
            <a:r>
              <a:rPr lang="en-US" sz="950" dirty="0" smtClean="0">
                <a:solidFill>
                  <a:srgbClr val="45413B"/>
                </a:solidFill>
                <a:latin typeface="Trebuchet MS" pitchFamily="34" charset="0"/>
                <a:ea typeface="Trebuchet MS" pitchFamily="34" charset="-122"/>
                <a:cs typeface="Trebuchet MS" pitchFamily="34" charset="-120"/>
              </a:rPr>
              <a:t>Rooftop solar</a:t>
            </a:r>
            <a:r>
              <a:rPr lang="en-US" sz="950" dirty="0" smtClean="0">
                <a:solidFill>
                  <a:srgbClr val="45413B"/>
                </a:solidFill>
                <a:latin typeface="Trebuchet MS" pitchFamily="34" charset="0"/>
                <a:ea typeface="Trebuchet MS" pitchFamily="34" charset="-122"/>
                <a:cs typeface="Trebuchet MS" pitchFamily="34" charset="-120"/>
              </a:rPr>
              <a:t> </a:t>
            </a:r>
            <a:r>
              <a:rPr lang="en-US" sz="950" dirty="0">
                <a:solidFill>
                  <a:srgbClr val="45413B"/>
                </a:solidFill>
                <a:latin typeface="Trebuchet MS" pitchFamily="34" charset="0"/>
                <a:ea typeface="Trebuchet MS" pitchFamily="34" charset="-122"/>
                <a:cs typeface="Trebuchet MS" pitchFamily="34" charset="-120"/>
              </a:rPr>
              <a:t>PV · Turnkey EPC</a:t>
            </a:r>
            <a:endParaRPr lang="en-US" sz="950" dirty="0">
              <a:solidFill>
                <a:prstClr val="black"/>
              </a:solidFill>
            </a:endParaRPr>
          </a:p>
        </p:txBody>
      </p:sp>
      <p:sp>
        <p:nvSpPr>
          <p:cNvPr id="73" name="Project card">
            <a:extLst>
              <a:ext uri="{C183D7F6-B498-43B3-948B-1728B52AA6E4}">
                <adec:decorative xmlns="" xmlns:adec="http://schemas.microsoft.com/office/drawing/2017/decorative" val="1"/>
              </a:ext>
            </a:extLst>
          </p:cNvPr>
          <p:cNvSpPr/>
          <p:nvPr/>
        </p:nvSpPr>
        <p:spPr>
          <a:xfrm>
            <a:off x="4754880" y="1289304"/>
            <a:ext cx="3931920" cy="1664208"/>
          </a:xfrm>
          <a:prstGeom prst="rect">
            <a:avLst/>
          </a:prstGeom>
          <a:solidFill>
            <a:schemeClr val="bg1"/>
          </a:solidFill>
          <a:ln w="12700">
            <a:solidFill>
              <a:srgbClr val="E2D6C3"/>
            </a:solidFill>
            <a:prstDash val="solid"/>
          </a:ln>
        </p:spPr>
      </p:sp>
      <p:sp>
        <p:nvSpPr>
          <p:cNvPr id="74" name="Card edge accent">
            <a:extLst>
              <a:ext uri="{C183D7F6-B498-43B3-948B-1728B52AA6E4}">
                <adec:decorative xmlns="" xmlns:adec="http://schemas.microsoft.com/office/drawing/2017/decorative" val="1"/>
              </a:ext>
            </a:extLst>
          </p:cNvPr>
          <p:cNvSpPr/>
          <p:nvPr/>
        </p:nvSpPr>
        <p:spPr>
          <a:xfrm>
            <a:off x="4754880" y="1289304"/>
            <a:ext cx="64008" cy="1664208"/>
          </a:xfrm>
          <a:prstGeom prst="rect">
            <a:avLst/>
          </a:prstGeom>
          <a:solidFill>
            <a:schemeClr val="accent2">
              <a:lumMod val="75000"/>
            </a:schemeClr>
          </a:solidFill>
          <a:ln/>
        </p:spPr>
      </p:sp>
      <p:sp>
        <p:nvSpPr>
          <p:cNvPr id="75" name="Text 29"/>
          <p:cNvSpPr/>
          <p:nvPr/>
        </p:nvSpPr>
        <p:spPr>
          <a:xfrm>
            <a:off x="5010912" y="1435608"/>
            <a:ext cx="566928" cy="365760"/>
          </a:xfrm>
          <a:prstGeom prst="rect">
            <a:avLst/>
          </a:prstGeom>
          <a:noFill/>
          <a:ln/>
        </p:spPr>
        <p:txBody>
          <a:bodyPr wrap="square" lIns="0" tIns="0" rIns="0" bIns="0" rtlCol="0" anchor="ctr"/>
          <a:lstStyle/>
          <a:p>
            <a:pPr marL="0" indent="0">
              <a:buNone/>
            </a:pPr>
            <a:r>
              <a:rPr lang="en-US" sz="1900" b="1" dirty="0" smtClean="0">
                <a:solidFill>
                  <a:schemeClr val="accent2">
                    <a:lumMod val="75000"/>
                  </a:schemeClr>
                </a:solidFill>
                <a:latin typeface="Georgia" pitchFamily="34" charset="0"/>
                <a:ea typeface="Georgia" pitchFamily="34" charset="-122"/>
                <a:cs typeface="Georgia" pitchFamily="34" charset="-120"/>
              </a:rPr>
              <a:t>06</a:t>
            </a:r>
            <a:endParaRPr lang="en-US" sz="1900" dirty="0">
              <a:solidFill>
                <a:schemeClr val="accent2">
                  <a:lumMod val="75000"/>
                </a:schemeClr>
              </a:solidFill>
            </a:endParaRPr>
          </a:p>
        </p:txBody>
      </p:sp>
      <p:sp>
        <p:nvSpPr>
          <p:cNvPr id="76" name="Text 30"/>
          <p:cNvSpPr/>
          <p:nvPr/>
        </p:nvSpPr>
        <p:spPr>
          <a:xfrm>
            <a:off x="5623560" y="1453896"/>
            <a:ext cx="2880360" cy="365760"/>
          </a:xfrm>
          <a:prstGeom prst="rect">
            <a:avLst/>
          </a:prstGeom>
          <a:noFill/>
          <a:ln/>
        </p:spPr>
        <p:txBody>
          <a:bodyPr wrap="square" lIns="0" tIns="0" rIns="0" bIns="0" rtlCol="0" anchor="ctr"/>
          <a:lstStyle/>
          <a:p>
            <a:pPr marL="0" indent="0">
              <a:buNone/>
            </a:pPr>
            <a:r>
              <a:rPr lang="en-US" sz="1350" b="1" dirty="0" smtClean="0">
                <a:latin typeface="Georgia" pitchFamily="34" charset="0"/>
              </a:rPr>
              <a:t>SABIC ON Grid  Solar Project</a:t>
            </a:r>
            <a:endParaRPr lang="en-US" sz="1350" dirty="0"/>
          </a:p>
        </p:txBody>
      </p:sp>
      <p:sp>
        <p:nvSpPr>
          <p:cNvPr id="77" name="Card divider">
            <a:extLst>
              <a:ext uri="{C183D7F6-B498-43B3-948B-1728B52AA6E4}">
                <adec:decorative xmlns="" xmlns:adec="http://schemas.microsoft.com/office/drawing/2017/decorative" val="1"/>
              </a:ext>
            </a:extLst>
          </p:cNvPr>
          <p:cNvSpPr/>
          <p:nvPr/>
        </p:nvSpPr>
        <p:spPr>
          <a:xfrm>
            <a:off x="5623560" y="1911096"/>
            <a:ext cx="2880360" cy="13716"/>
          </a:xfrm>
          <a:prstGeom prst="rect">
            <a:avLst/>
          </a:prstGeom>
          <a:solidFill>
            <a:srgbClr val="D5C9B5"/>
          </a:solidFill>
          <a:ln/>
        </p:spPr>
      </p:sp>
      <p:sp>
        <p:nvSpPr>
          <p:cNvPr id="78" name="Text 32"/>
          <p:cNvSpPr/>
          <p:nvPr/>
        </p:nvSpPr>
        <p:spPr>
          <a:xfrm>
            <a:off x="5623560" y="2020824"/>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79" name="Text 34"/>
          <p:cNvSpPr/>
          <p:nvPr/>
        </p:nvSpPr>
        <p:spPr>
          <a:xfrm>
            <a:off x="5623560" y="2286000"/>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80" name="Text 36"/>
          <p:cNvSpPr/>
          <p:nvPr/>
        </p:nvSpPr>
        <p:spPr>
          <a:xfrm>
            <a:off x="5623560" y="2551176"/>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81" name="TextBox 80"/>
          <p:cNvSpPr txBox="1"/>
          <p:nvPr/>
        </p:nvSpPr>
        <p:spPr>
          <a:xfrm>
            <a:off x="6400800" y="2002536"/>
            <a:ext cx="1630019" cy="238527"/>
          </a:xfrm>
          <a:prstGeom prst="rect">
            <a:avLst/>
          </a:prstGeom>
          <a:noFill/>
        </p:spPr>
        <p:txBody>
          <a:bodyPr wrap="square" rtlCol="0">
            <a:spAutoFit/>
          </a:bodyPr>
          <a:lstStyle/>
          <a:p>
            <a:pPr lvl="0"/>
            <a:r>
              <a:rPr lang="en-US" sz="950" b="1" dirty="0" smtClean="0">
                <a:solidFill>
                  <a:srgbClr val="2B2926"/>
                </a:solidFill>
                <a:latin typeface="Trebuchet MS" pitchFamily="34" charset="0"/>
                <a:ea typeface="Trebuchet MS" pitchFamily="34" charset="-122"/>
                <a:cs typeface="Trebuchet MS" pitchFamily="34" charset="-120"/>
              </a:rPr>
              <a:t>850 </a:t>
            </a:r>
            <a:r>
              <a:rPr lang="en-US" sz="950" b="1" dirty="0" err="1" smtClean="0">
                <a:solidFill>
                  <a:srgbClr val="2B2926"/>
                </a:solidFill>
                <a:latin typeface="Trebuchet MS" pitchFamily="34" charset="0"/>
                <a:ea typeface="Trebuchet MS" pitchFamily="34" charset="-122"/>
                <a:cs typeface="Trebuchet MS" pitchFamily="34" charset="-120"/>
              </a:rPr>
              <a:t>KWp</a:t>
            </a:r>
            <a:endParaRPr lang="en-US" sz="950" dirty="0">
              <a:solidFill>
                <a:prstClr val="black"/>
              </a:solidFill>
            </a:endParaRPr>
          </a:p>
        </p:txBody>
      </p:sp>
      <p:sp>
        <p:nvSpPr>
          <p:cNvPr id="82" name="TextBox 81"/>
          <p:cNvSpPr txBox="1"/>
          <p:nvPr/>
        </p:nvSpPr>
        <p:spPr>
          <a:xfrm>
            <a:off x="6398021" y="2261363"/>
            <a:ext cx="2019629" cy="238527"/>
          </a:xfrm>
          <a:prstGeom prst="rect">
            <a:avLst/>
          </a:prstGeom>
          <a:noFill/>
        </p:spPr>
        <p:txBody>
          <a:bodyPr wrap="square" rtlCol="0">
            <a:spAutoFit/>
          </a:bodyPr>
          <a:lstStyle/>
          <a:p>
            <a:pPr lvl="0"/>
            <a:r>
              <a:rPr lang="en-US" sz="950" dirty="0" smtClean="0">
                <a:solidFill>
                  <a:srgbClr val="45413B"/>
                </a:solidFill>
                <a:latin typeface="Trebuchet MS" pitchFamily="34" charset="0"/>
                <a:ea typeface="Trebuchet MS" pitchFamily="34" charset="-122"/>
                <a:cs typeface="Trebuchet MS" pitchFamily="34" charset="-120"/>
              </a:rPr>
              <a:t>Saudi </a:t>
            </a:r>
            <a:r>
              <a:rPr lang="en-US" sz="950" dirty="0">
                <a:solidFill>
                  <a:srgbClr val="45413B"/>
                </a:solidFill>
                <a:latin typeface="Trebuchet MS" pitchFamily="34" charset="0"/>
                <a:ea typeface="Trebuchet MS" pitchFamily="34" charset="-122"/>
                <a:cs typeface="Trebuchet MS" pitchFamily="34" charset="-120"/>
              </a:rPr>
              <a:t>Arabia</a:t>
            </a:r>
            <a:endParaRPr lang="en-US" sz="950" dirty="0">
              <a:solidFill>
                <a:prstClr val="black"/>
              </a:solidFill>
            </a:endParaRPr>
          </a:p>
        </p:txBody>
      </p:sp>
      <p:sp>
        <p:nvSpPr>
          <p:cNvPr id="83" name="TextBox 82"/>
          <p:cNvSpPr txBox="1"/>
          <p:nvPr/>
        </p:nvSpPr>
        <p:spPr>
          <a:xfrm>
            <a:off x="6373172" y="2497358"/>
            <a:ext cx="2069326" cy="238527"/>
          </a:xfrm>
          <a:prstGeom prst="rect">
            <a:avLst/>
          </a:prstGeom>
          <a:noFill/>
        </p:spPr>
        <p:txBody>
          <a:bodyPr wrap="square" rtlCol="0">
            <a:spAutoFit/>
          </a:bodyPr>
          <a:lstStyle/>
          <a:p>
            <a:pPr lvl="0"/>
            <a:r>
              <a:rPr lang="en-US" sz="950">
                <a:solidFill>
                  <a:srgbClr val="45413B"/>
                </a:solidFill>
                <a:latin typeface="Trebuchet MS" pitchFamily="34" charset="0"/>
                <a:ea typeface="Trebuchet MS" pitchFamily="34" charset="-122"/>
                <a:cs typeface="Trebuchet MS" pitchFamily="34" charset="-120"/>
              </a:rPr>
              <a:t>Rooftop solar PV · Turnkey EPC</a:t>
            </a:r>
            <a:endParaRPr lang="en-US" sz="950" dirty="0">
              <a:solidFill>
                <a:prstClr val="black"/>
              </a:solidFill>
            </a:endParaRPr>
          </a:p>
        </p:txBody>
      </p:sp>
      <p:sp>
        <p:nvSpPr>
          <p:cNvPr id="84" name="Project card">
            <a:extLst>
              <a:ext uri="{C183D7F6-B498-43B3-948B-1728B52AA6E4}">
                <adec:decorative xmlns="" xmlns:adec="http://schemas.microsoft.com/office/drawing/2017/decorative" val="1"/>
              </a:ext>
            </a:extLst>
          </p:cNvPr>
          <p:cNvSpPr/>
          <p:nvPr/>
        </p:nvSpPr>
        <p:spPr>
          <a:xfrm>
            <a:off x="4762169" y="3136392"/>
            <a:ext cx="3931920" cy="1664208"/>
          </a:xfrm>
          <a:prstGeom prst="rect">
            <a:avLst/>
          </a:prstGeom>
          <a:solidFill>
            <a:schemeClr val="bg1"/>
          </a:solidFill>
          <a:ln w="12700">
            <a:solidFill>
              <a:srgbClr val="E2D6C3"/>
            </a:solidFill>
            <a:prstDash val="solid"/>
          </a:ln>
        </p:spPr>
      </p:sp>
      <p:sp>
        <p:nvSpPr>
          <p:cNvPr id="85" name="Card edge accent">
            <a:extLst>
              <a:ext uri="{C183D7F6-B498-43B3-948B-1728B52AA6E4}">
                <adec:decorative xmlns="" xmlns:adec="http://schemas.microsoft.com/office/drawing/2017/decorative" val="1"/>
              </a:ext>
            </a:extLst>
          </p:cNvPr>
          <p:cNvSpPr/>
          <p:nvPr/>
        </p:nvSpPr>
        <p:spPr>
          <a:xfrm>
            <a:off x="4762169" y="3136392"/>
            <a:ext cx="64008" cy="1664208"/>
          </a:xfrm>
          <a:prstGeom prst="rect">
            <a:avLst/>
          </a:prstGeom>
          <a:solidFill>
            <a:schemeClr val="accent2">
              <a:lumMod val="75000"/>
            </a:schemeClr>
          </a:solidFill>
          <a:ln/>
        </p:spPr>
      </p:sp>
      <p:sp>
        <p:nvSpPr>
          <p:cNvPr id="86" name="Text 29"/>
          <p:cNvSpPr/>
          <p:nvPr/>
        </p:nvSpPr>
        <p:spPr>
          <a:xfrm>
            <a:off x="5018201" y="3282696"/>
            <a:ext cx="566928" cy="365760"/>
          </a:xfrm>
          <a:prstGeom prst="rect">
            <a:avLst/>
          </a:prstGeom>
          <a:noFill/>
          <a:ln/>
        </p:spPr>
        <p:txBody>
          <a:bodyPr wrap="square" lIns="0" tIns="0" rIns="0" bIns="0" rtlCol="0" anchor="ctr"/>
          <a:lstStyle/>
          <a:p>
            <a:pPr marL="0" indent="0">
              <a:buNone/>
            </a:pPr>
            <a:r>
              <a:rPr lang="en-US" sz="1900" b="1" dirty="0" smtClean="0">
                <a:solidFill>
                  <a:schemeClr val="accent2">
                    <a:lumMod val="75000"/>
                  </a:schemeClr>
                </a:solidFill>
                <a:latin typeface="Georgia" pitchFamily="34" charset="0"/>
                <a:ea typeface="Georgia" pitchFamily="34" charset="-122"/>
                <a:cs typeface="Georgia" pitchFamily="34" charset="-120"/>
              </a:rPr>
              <a:t>08</a:t>
            </a:r>
            <a:endParaRPr lang="en-US" sz="1900" dirty="0">
              <a:solidFill>
                <a:schemeClr val="accent2">
                  <a:lumMod val="75000"/>
                </a:schemeClr>
              </a:solidFill>
            </a:endParaRPr>
          </a:p>
        </p:txBody>
      </p:sp>
      <p:sp>
        <p:nvSpPr>
          <p:cNvPr id="87" name="Text 30"/>
          <p:cNvSpPr/>
          <p:nvPr/>
        </p:nvSpPr>
        <p:spPr>
          <a:xfrm>
            <a:off x="5630849" y="3300984"/>
            <a:ext cx="2880360" cy="365760"/>
          </a:xfrm>
          <a:prstGeom prst="rect">
            <a:avLst/>
          </a:prstGeom>
          <a:noFill/>
          <a:ln/>
        </p:spPr>
        <p:txBody>
          <a:bodyPr wrap="square" lIns="0" tIns="0" rIns="0" bIns="0" rtlCol="0" anchor="ctr"/>
          <a:lstStyle/>
          <a:p>
            <a:pPr marL="0" indent="0">
              <a:buNone/>
            </a:pPr>
            <a:r>
              <a:rPr lang="en-US" sz="1350" b="1" dirty="0" smtClean="0">
                <a:latin typeface="Georgia" pitchFamily="34" charset="0"/>
              </a:rPr>
              <a:t>Solar traffic monitoring </a:t>
            </a:r>
            <a:r>
              <a:rPr lang="en-US" sz="1350" b="1" dirty="0" smtClean="0">
                <a:latin typeface="Georgia" pitchFamily="34" charset="0"/>
              </a:rPr>
              <a:t>syste</a:t>
            </a:r>
            <a:r>
              <a:rPr lang="en-US" sz="1350" b="1" dirty="0" smtClean="0">
                <a:latin typeface="Georgia" pitchFamily="34" charset="0"/>
              </a:rPr>
              <a:t>m (BESS)</a:t>
            </a:r>
            <a:endParaRPr lang="en-US" sz="1350" dirty="0"/>
          </a:p>
        </p:txBody>
      </p:sp>
      <p:sp>
        <p:nvSpPr>
          <p:cNvPr id="88" name="Card divider">
            <a:extLst>
              <a:ext uri="{C183D7F6-B498-43B3-948B-1728B52AA6E4}">
                <adec:decorative xmlns="" xmlns:adec="http://schemas.microsoft.com/office/drawing/2017/decorative" val="1"/>
              </a:ext>
            </a:extLst>
          </p:cNvPr>
          <p:cNvSpPr/>
          <p:nvPr/>
        </p:nvSpPr>
        <p:spPr>
          <a:xfrm>
            <a:off x="5630849" y="3758184"/>
            <a:ext cx="2880360" cy="13716"/>
          </a:xfrm>
          <a:prstGeom prst="rect">
            <a:avLst/>
          </a:prstGeom>
          <a:solidFill>
            <a:srgbClr val="D5C9B5"/>
          </a:solidFill>
          <a:ln/>
        </p:spPr>
      </p:sp>
      <p:sp>
        <p:nvSpPr>
          <p:cNvPr id="89" name="Text 32"/>
          <p:cNvSpPr/>
          <p:nvPr/>
        </p:nvSpPr>
        <p:spPr>
          <a:xfrm>
            <a:off x="5630849" y="3867912"/>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90" name="Text 34"/>
          <p:cNvSpPr/>
          <p:nvPr/>
        </p:nvSpPr>
        <p:spPr>
          <a:xfrm>
            <a:off x="5630849" y="4133088"/>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91" name="Text 36"/>
          <p:cNvSpPr/>
          <p:nvPr/>
        </p:nvSpPr>
        <p:spPr>
          <a:xfrm>
            <a:off x="5630849" y="4398264"/>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92" name="TextBox 91"/>
          <p:cNvSpPr txBox="1"/>
          <p:nvPr/>
        </p:nvSpPr>
        <p:spPr>
          <a:xfrm>
            <a:off x="6408089" y="3849624"/>
            <a:ext cx="1630019" cy="238527"/>
          </a:xfrm>
          <a:prstGeom prst="rect">
            <a:avLst/>
          </a:prstGeom>
          <a:noFill/>
        </p:spPr>
        <p:txBody>
          <a:bodyPr wrap="square" rtlCol="0">
            <a:spAutoFit/>
          </a:bodyPr>
          <a:lstStyle/>
          <a:p>
            <a:pPr lvl="0"/>
            <a:r>
              <a:rPr lang="en-US" sz="950" b="1" dirty="0" smtClean="0">
                <a:solidFill>
                  <a:srgbClr val="2B2926"/>
                </a:solidFill>
                <a:latin typeface="Trebuchet MS" pitchFamily="34" charset="0"/>
                <a:ea typeface="Trebuchet MS" pitchFamily="34" charset="-122"/>
                <a:cs typeface="Trebuchet MS" pitchFamily="34" charset="-120"/>
              </a:rPr>
              <a:t>-</a:t>
            </a:r>
            <a:endParaRPr lang="en-US" sz="950" dirty="0">
              <a:solidFill>
                <a:prstClr val="black"/>
              </a:solidFill>
            </a:endParaRPr>
          </a:p>
        </p:txBody>
      </p:sp>
      <p:sp>
        <p:nvSpPr>
          <p:cNvPr id="93" name="TextBox 92"/>
          <p:cNvSpPr txBox="1"/>
          <p:nvPr/>
        </p:nvSpPr>
        <p:spPr>
          <a:xfrm>
            <a:off x="6405310" y="4108451"/>
            <a:ext cx="2019629" cy="238527"/>
          </a:xfrm>
          <a:prstGeom prst="rect">
            <a:avLst/>
          </a:prstGeom>
          <a:noFill/>
        </p:spPr>
        <p:txBody>
          <a:bodyPr wrap="square" rtlCol="0">
            <a:spAutoFit/>
          </a:bodyPr>
          <a:lstStyle/>
          <a:p>
            <a:pPr lvl="0"/>
            <a:r>
              <a:rPr lang="en-US" sz="950" dirty="0" smtClean="0">
                <a:solidFill>
                  <a:srgbClr val="45413B"/>
                </a:solidFill>
                <a:latin typeface="Trebuchet MS" pitchFamily="34" charset="0"/>
                <a:ea typeface="Trebuchet MS" pitchFamily="34" charset="-122"/>
                <a:cs typeface="Trebuchet MS" pitchFamily="34" charset="-120"/>
              </a:rPr>
              <a:t> </a:t>
            </a:r>
            <a:r>
              <a:rPr lang="en-US" sz="950" dirty="0">
                <a:solidFill>
                  <a:srgbClr val="45413B"/>
                </a:solidFill>
                <a:latin typeface="Trebuchet MS" pitchFamily="34" charset="0"/>
                <a:ea typeface="Trebuchet MS" pitchFamily="34" charset="-122"/>
                <a:cs typeface="Trebuchet MS" pitchFamily="34" charset="-120"/>
              </a:rPr>
              <a:t>Saudi Arabia</a:t>
            </a:r>
            <a:endParaRPr lang="en-US" sz="950" dirty="0">
              <a:solidFill>
                <a:prstClr val="black"/>
              </a:solidFill>
            </a:endParaRPr>
          </a:p>
        </p:txBody>
      </p:sp>
      <p:sp>
        <p:nvSpPr>
          <p:cNvPr id="94" name="TextBox 93"/>
          <p:cNvSpPr txBox="1"/>
          <p:nvPr/>
        </p:nvSpPr>
        <p:spPr>
          <a:xfrm>
            <a:off x="6380461" y="4344446"/>
            <a:ext cx="2069326" cy="238527"/>
          </a:xfrm>
          <a:prstGeom prst="rect">
            <a:avLst/>
          </a:prstGeom>
          <a:noFill/>
        </p:spPr>
        <p:txBody>
          <a:bodyPr wrap="square" rtlCol="0">
            <a:spAutoFit/>
          </a:bodyPr>
          <a:lstStyle/>
          <a:p>
            <a:pPr lvl="0"/>
            <a:r>
              <a:rPr lang="en-US" sz="950" dirty="0" smtClean="0">
                <a:solidFill>
                  <a:srgbClr val="45413B"/>
                </a:solidFill>
                <a:latin typeface="Trebuchet MS" pitchFamily="34" charset="0"/>
                <a:ea typeface="Trebuchet MS" pitchFamily="34" charset="-122"/>
                <a:cs typeface="Trebuchet MS" pitchFamily="34" charset="-120"/>
              </a:rPr>
              <a:t> </a:t>
            </a:r>
            <a:r>
              <a:rPr lang="en-US" sz="950" dirty="0">
                <a:solidFill>
                  <a:srgbClr val="45413B"/>
                </a:solidFill>
                <a:latin typeface="Trebuchet MS" pitchFamily="34" charset="0"/>
                <a:ea typeface="Trebuchet MS" pitchFamily="34" charset="-122"/>
                <a:cs typeface="Trebuchet MS" pitchFamily="34" charset="-120"/>
              </a:rPr>
              <a:t>Turnkey EPC</a:t>
            </a:r>
            <a:endParaRPr lang="en-US" sz="950"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COMPLETED PROJECT PORTFOLIO</a:t>
            </a:r>
            <a:endParaRPr lang="en-US" sz="1000" dirty="0"/>
          </a:p>
        </p:txBody>
      </p:sp>
      <p:sp>
        <p:nvSpPr>
          <p:cNvPr id="4" name="Text 2"/>
          <p:cNvSpPr/>
          <p:nvPr/>
        </p:nvSpPr>
        <p:spPr>
          <a:xfrm>
            <a:off x="548640" y="658368"/>
            <a:ext cx="4572000" cy="457200"/>
          </a:xfrm>
          <a:prstGeom prst="rect">
            <a:avLst/>
          </a:prstGeom>
          <a:noFill/>
          <a:ln/>
        </p:spPr>
        <p:txBody>
          <a:bodyPr wrap="square" lIns="0" tIns="0" rIns="0" bIns="0" rtlCol="0" anchor="ctr"/>
          <a:lstStyle/>
          <a:p>
            <a:pPr marL="0" indent="0">
              <a:buNone/>
            </a:pPr>
            <a:r>
              <a:rPr lang="en-US" sz="2300" b="1" dirty="0">
                <a:solidFill>
                  <a:srgbClr val="2B2926"/>
                </a:solidFill>
                <a:latin typeface="Georgia" pitchFamily="34" charset="0"/>
                <a:ea typeface="Georgia" pitchFamily="34" charset="-122"/>
                <a:cs typeface="Georgia" pitchFamily="34" charset="-120"/>
              </a:rPr>
              <a:t>Projects </a:t>
            </a:r>
            <a:r>
              <a:rPr lang="en-US" sz="2300" b="1" dirty="0" smtClean="0">
                <a:solidFill>
                  <a:srgbClr val="2B2926"/>
                </a:solidFill>
                <a:latin typeface="Georgia" pitchFamily="34" charset="0"/>
                <a:ea typeface="Georgia" pitchFamily="34" charset="-122"/>
                <a:cs typeface="Georgia" pitchFamily="34" charset="-120"/>
              </a:rPr>
              <a:t>08 </a:t>
            </a:r>
            <a:r>
              <a:rPr lang="en-US" sz="2300" b="1" dirty="0">
                <a:solidFill>
                  <a:srgbClr val="2B2926"/>
                </a:solidFill>
                <a:latin typeface="Georgia" pitchFamily="34" charset="0"/>
                <a:ea typeface="Georgia" pitchFamily="34" charset="-122"/>
                <a:cs typeface="Georgia" pitchFamily="34" charset="-120"/>
              </a:rPr>
              <a:t>– </a:t>
            </a:r>
            <a:r>
              <a:rPr lang="en-US" sz="2300" b="1" dirty="0" smtClean="0">
                <a:solidFill>
                  <a:srgbClr val="2B2926"/>
                </a:solidFill>
                <a:latin typeface="Georgia" pitchFamily="34" charset="0"/>
                <a:ea typeface="Georgia" pitchFamily="34" charset="-122"/>
                <a:cs typeface="Georgia" pitchFamily="34" charset="-120"/>
              </a:rPr>
              <a:t>12</a:t>
            </a:r>
            <a:endParaRPr lang="en-US" sz="2300" dirty="0"/>
          </a:p>
        </p:txBody>
      </p:sp>
      <p:sp>
        <p:nvSpPr>
          <p:cNvPr id="5" name="Text 3"/>
          <p:cNvSpPr/>
          <p:nvPr/>
        </p:nvSpPr>
        <p:spPr>
          <a:xfrm>
            <a:off x="5120640" y="786384"/>
            <a:ext cx="347472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Completed installations</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Project card">
            <a:extLst>
              <a:ext uri="{C183D7F6-B498-43B3-948B-1728B52AA6E4}">
                <adec:decorative xmlns="" xmlns:adec="http://schemas.microsoft.com/office/drawing/2017/decorative" val="1"/>
              </a:ext>
            </a:extLst>
          </p:cNvPr>
          <p:cNvSpPr/>
          <p:nvPr/>
        </p:nvSpPr>
        <p:spPr>
          <a:xfrm>
            <a:off x="548640" y="1298448"/>
            <a:ext cx="3931920" cy="1664208"/>
          </a:xfrm>
          <a:prstGeom prst="rect">
            <a:avLst/>
          </a:prstGeom>
          <a:solidFill>
            <a:srgbClr val="E9E0D2"/>
          </a:solidFill>
          <a:ln w="12700">
            <a:solidFill>
              <a:srgbClr val="E2D6C3"/>
            </a:solidFill>
            <a:prstDash val="solid"/>
          </a:ln>
        </p:spPr>
      </p:sp>
      <p:sp>
        <p:nvSpPr>
          <p:cNvPr id="8" name="Card edge accent">
            <a:extLst>
              <a:ext uri="{C183D7F6-B498-43B3-948B-1728B52AA6E4}">
                <adec:decorative xmlns="" xmlns:adec="http://schemas.microsoft.com/office/drawing/2017/decorative" val="1"/>
              </a:ext>
            </a:extLst>
          </p:cNvPr>
          <p:cNvSpPr/>
          <p:nvPr/>
        </p:nvSpPr>
        <p:spPr>
          <a:xfrm>
            <a:off x="548640" y="1298448"/>
            <a:ext cx="64008" cy="1664208"/>
          </a:xfrm>
          <a:prstGeom prst="rect">
            <a:avLst/>
          </a:prstGeom>
          <a:solidFill>
            <a:srgbClr val="CFC2AE"/>
          </a:solidFill>
          <a:ln/>
        </p:spPr>
      </p:sp>
      <p:sp>
        <p:nvSpPr>
          <p:cNvPr id="9" name="Text 7"/>
          <p:cNvSpPr/>
          <p:nvPr/>
        </p:nvSpPr>
        <p:spPr>
          <a:xfrm>
            <a:off x="804672" y="1444752"/>
            <a:ext cx="566928" cy="365760"/>
          </a:xfrm>
          <a:prstGeom prst="rect">
            <a:avLst/>
          </a:prstGeom>
          <a:noFill/>
          <a:ln/>
        </p:spPr>
        <p:txBody>
          <a:bodyPr wrap="square" lIns="0" tIns="0" rIns="0" bIns="0" rtlCol="0" anchor="ctr"/>
          <a:lstStyle/>
          <a:p>
            <a:pPr marL="0" indent="0">
              <a:buNone/>
            </a:pPr>
            <a:r>
              <a:rPr lang="en-US" sz="1900" b="1" dirty="0">
                <a:solidFill>
                  <a:srgbClr val="BBAF9B"/>
                </a:solidFill>
                <a:latin typeface="Georgia" pitchFamily="34" charset="0"/>
                <a:ea typeface="Georgia" pitchFamily="34" charset="-122"/>
                <a:cs typeface="Georgia" pitchFamily="34" charset="-120"/>
              </a:rPr>
              <a:t>05</a:t>
            </a:r>
            <a:endParaRPr lang="en-US" sz="1900" dirty="0"/>
          </a:p>
        </p:txBody>
      </p:sp>
      <p:sp>
        <p:nvSpPr>
          <p:cNvPr id="10" name="Text 8"/>
          <p:cNvSpPr/>
          <p:nvPr/>
        </p:nvSpPr>
        <p:spPr>
          <a:xfrm>
            <a:off x="1417320" y="1463040"/>
            <a:ext cx="2880360" cy="365760"/>
          </a:xfrm>
          <a:prstGeom prst="rect">
            <a:avLst/>
          </a:prstGeom>
          <a:noFill/>
          <a:ln/>
        </p:spPr>
        <p:txBody>
          <a:bodyPr wrap="square" lIns="0" tIns="0" rIns="0" bIns="0" rtlCol="0" anchor="ctr"/>
          <a:lstStyle/>
          <a:p>
            <a:pPr marL="0" indent="0">
              <a:buNone/>
            </a:pPr>
            <a:r>
              <a:rPr lang="en-US" sz="1350" b="1" dirty="0">
                <a:solidFill>
                  <a:srgbClr val="B3A791"/>
                </a:solidFill>
                <a:latin typeface="Georgia" pitchFamily="34" charset="0"/>
                <a:ea typeface="Georgia" pitchFamily="34" charset="-122"/>
                <a:cs typeface="Georgia" pitchFamily="34" charset="-120"/>
              </a:rPr>
              <a:t>Project name</a:t>
            </a:r>
            <a:endParaRPr lang="en-US" sz="1350" dirty="0"/>
          </a:p>
        </p:txBody>
      </p:sp>
      <p:sp>
        <p:nvSpPr>
          <p:cNvPr id="11" name="Card divider">
            <a:extLst>
              <a:ext uri="{C183D7F6-B498-43B3-948B-1728B52AA6E4}">
                <adec:decorative xmlns="" xmlns:adec="http://schemas.microsoft.com/office/drawing/2017/decorative" val="1"/>
              </a:ext>
            </a:extLst>
          </p:cNvPr>
          <p:cNvSpPr/>
          <p:nvPr/>
        </p:nvSpPr>
        <p:spPr>
          <a:xfrm>
            <a:off x="1417320" y="1920240"/>
            <a:ext cx="2880360" cy="13716"/>
          </a:xfrm>
          <a:prstGeom prst="rect">
            <a:avLst/>
          </a:prstGeom>
          <a:solidFill>
            <a:srgbClr val="D5C9B5"/>
          </a:solidFill>
          <a:ln/>
        </p:spPr>
      </p:sp>
      <p:sp>
        <p:nvSpPr>
          <p:cNvPr id="12" name="Text 10"/>
          <p:cNvSpPr/>
          <p:nvPr/>
        </p:nvSpPr>
        <p:spPr>
          <a:xfrm>
            <a:off x="1417320" y="2029968"/>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13" name="Fill-in rule">
            <a:extLst>
              <a:ext uri="{C183D7F6-B498-43B3-948B-1728B52AA6E4}">
                <adec:decorative xmlns="" xmlns:adec="http://schemas.microsoft.com/office/drawing/2017/decorative" val="1"/>
              </a:ext>
            </a:extLst>
          </p:cNvPr>
          <p:cNvSpPr/>
          <p:nvPr/>
        </p:nvSpPr>
        <p:spPr>
          <a:xfrm>
            <a:off x="2194560" y="2203704"/>
            <a:ext cx="2103120" cy="10973"/>
          </a:xfrm>
          <a:prstGeom prst="rect">
            <a:avLst/>
          </a:prstGeom>
          <a:solidFill>
            <a:srgbClr val="CFC2AE"/>
          </a:solidFill>
          <a:ln/>
        </p:spPr>
      </p:sp>
      <p:sp>
        <p:nvSpPr>
          <p:cNvPr id="14" name="Text 12"/>
          <p:cNvSpPr/>
          <p:nvPr/>
        </p:nvSpPr>
        <p:spPr>
          <a:xfrm>
            <a:off x="1417320" y="2295144"/>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15" name="Fill-in rule">
            <a:extLst>
              <a:ext uri="{C183D7F6-B498-43B3-948B-1728B52AA6E4}">
                <adec:decorative xmlns="" xmlns:adec="http://schemas.microsoft.com/office/drawing/2017/decorative" val="1"/>
              </a:ext>
            </a:extLst>
          </p:cNvPr>
          <p:cNvSpPr/>
          <p:nvPr/>
        </p:nvSpPr>
        <p:spPr>
          <a:xfrm>
            <a:off x="2194560" y="2468880"/>
            <a:ext cx="2103120" cy="10973"/>
          </a:xfrm>
          <a:prstGeom prst="rect">
            <a:avLst/>
          </a:prstGeom>
          <a:solidFill>
            <a:srgbClr val="CFC2AE"/>
          </a:solidFill>
          <a:ln/>
        </p:spPr>
      </p:sp>
      <p:sp>
        <p:nvSpPr>
          <p:cNvPr id="16" name="Text 14"/>
          <p:cNvSpPr/>
          <p:nvPr/>
        </p:nvSpPr>
        <p:spPr>
          <a:xfrm>
            <a:off x="1417320" y="2560320"/>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17" name="Fill-in rule">
            <a:extLst>
              <a:ext uri="{C183D7F6-B498-43B3-948B-1728B52AA6E4}">
                <adec:decorative xmlns="" xmlns:adec="http://schemas.microsoft.com/office/drawing/2017/decorative" val="1"/>
              </a:ext>
            </a:extLst>
          </p:cNvPr>
          <p:cNvSpPr/>
          <p:nvPr/>
        </p:nvSpPr>
        <p:spPr>
          <a:xfrm>
            <a:off x="2194560" y="2734056"/>
            <a:ext cx="2103120" cy="10973"/>
          </a:xfrm>
          <a:prstGeom prst="rect">
            <a:avLst/>
          </a:prstGeom>
          <a:solidFill>
            <a:srgbClr val="CFC2AE"/>
          </a:solidFill>
          <a:ln/>
        </p:spPr>
      </p:sp>
      <p:sp>
        <p:nvSpPr>
          <p:cNvPr id="18" name="Project card">
            <a:extLst>
              <a:ext uri="{C183D7F6-B498-43B3-948B-1728B52AA6E4}">
                <adec:decorative xmlns="" xmlns:adec="http://schemas.microsoft.com/office/drawing/2017/decorative" val="1"/>
              </a:ext>
            </a:extLst>
          </p:cNvPr>
          <p:cNvSpPr/>
          <p:nvPr/>
        </p:nvSpPr>
        <p:spPr>
          <a:xfrm>
            <a:off x="4754880" y="1298448"/>
            <a:ext cx="3931920" cy="1664208"/>
          </a:xfrm>
          <a:prstGeom prst="rect">
            <a:avLst/>
          </a:prstGeom>
          <a:solidFill>
            <a:srgbClr val="E9E0D2"/>
          </a:solidFill>
          <a:ln w="12700">
            <a:solidFill>
              <a:srgbClr val="E2D6C3"/>
            </a:solidFill>
            <a:prstDash val="solid"/>
          </a:ln>
        </p:spPr>
      </p:sp>
      <p:sp>
        <p:nvSpPr>
          <p:cNvPr id="19" name="Card edge accent">
            <a:extLst>
              <a:ext uri="{C183D7F6-B498-43B3-948B-1728B52AA6E4}">
                <adec:decorative xmlns="" xmlns:adec="http://schemas.microsoft.com/office/drawing/2017/decorative" val="1"/>
              </a:ext>
            </a:extLst>
          </p:cNvPr>
          <p:cNvSpPr/>
          <p:nvPr/>
        </p:nvSpPr>
        <p:spPr>
          <a:xfrm>
            <a:off x="4754880" y="1298448"/>
            <a:ext cx="64008" cy="1664208"/>
          </a:xfrm>
          <a:prstGeom prst="rect">
            <a:avLst/>
          </a:prstGeom>
          <a:solidFill>
            <a:srgbClr val="CFC2AE"/>
          </a:solidFill>
          <a:ln/>
        </p:spPr>
      </p:sp>
      <p:sp>
        <p:nvSpPr>
          <p:cNvPr id="20" name="Text 18"/>
          <p:cNvSpPr/>
          <p:nvPr/>
        </p:nvSpPr>
        <p:spPr>
          <a:xfrm>
            <a:off x="5010912" y="1444752"/>
            <a:ext cx="566928" cy="365760"/>
          </a:xfrm>
          <a:prstGeom prst="rect">
            <a:avLst/>
          </a:prstGeom>
          <a:noFill/>
          <a:ln/>
        </p:spPr>
        <p:txBody>
          <a:bodyPr wrap="square" lIns="0" tIns="0" rIns="0" bIns="0" rtlCol="0" anchor="ctr"/>
          <a:lstStyle/>
          <a:p>
            <a:pPr marL="0" indent="0">
              <a:buNone/>
            </a:pPr>
            <a:r>
              <a:rPr lang="en-US" sz="1900" b="1" dirty="0">
                <a:solidFill>
                  <a:srgbClr val="BBAF9B"/>
                </a:solidFill>
                <a:latin typeface="Georgia" pitchFamily="34" charset="0"/>
                <a:ea typeface="Georgia" pitchFamily="34" charset="-122"/>
                <a:cs typeface="Georgia" pitchFamily="34" charset="-120"/>
              </a:rPr>
              <a:t>06</a:t>
            </a:r>
            <a:endParaRPr lang="en-US" sz="1900" dirty="0"/>
          </a:p>
        </p:txBody>
      </p:sp>
      <p:sp>
        <p:nvSpPr>
          <p:cNvPr id="21" name="Text 19"/>
          <p:cNvSpPr/>
          <p:nvPr/>
        </p:nvSpPr>
        <p:spPr>
          <a:xfrm>
            <a:off x="5623560" y="1463040"/>
            <a:ext cx="2880360" cy="365760"/>
          </a:xfrm>
          <a:prstGeom prst="rect">
            <a:avLst/>
          </a:prstGeom>
          <a:noFill/>
          <a:ln/>
        </p:spPr>
        <p:txBody>
          <a:bodyPr wrap="square" lIns="0" tIns="0" rIns="0" bIns="0" rtlCol="0" anchor="ctr"/>
          <a:lstStyle/>
          <a:p>
            <a:pPr marL="0" indent="0">
              <a:buNone/>
            </a:pPr>
            <a:r>
              <a:rPr lang="en-US" sz="1350" b="1" dirty="0">
                <a:solidFill>
                  <a:srgbClr val="B3A791"/>
                </a:solidFill>
                <a:latin typeface="Georgia" pitchFamily="34" charset="0"/>
                <a:ea typeface="Georgia" pitchFamily="34" charset="-122"/>
                <a:cs typeface="Georgia" pitchFamily="34" charset="-120"/>
              </a:rPr>
              <a:t>Project name</a:t>
            </a:r>
            <a:endParaRPr lang="en-US" sz="1350" dirty="0"/>
          </a:p>
        </p:txBody>
      </p:sp>
      <p:sp>
        <p:nvSpPr>
          <p:cNvPr id="22" name="Card divider">
            <a:extLst>
              <a:ext uri="{C183D7F6-B498-43B3-948B-1728B52AA6E4}">
                <adec:decorative xmlns="" xmlns:adec="http://schemas.microsoft.com/office/drawing/2017/decorative" val="1"/>
              </a:ext>
            </a:extLst>
          </p:cNvPr>
          <p:cNvSpPr/>
          <p:nvPr/>
        </p:nvSpPr>
        <p:spPr>
          <a:xfrm>
            <a:off x="5623560" y="1920240"/>
            <a:ext cx="2880360" cy="13716"/>
          </a:xfrm>
          <a:prstGeom prst="rect">
            <a:avLst/>
          </a:prstGeom>
          <a:solidFill>
            <a:srgbClr val="D5C9B5"/>
          </a:solidFill>
          <a:ln/>
        </p:spPr>
      </p:sp>
      <p:sp>
        <p:nvSpPr>
          <p:cNvPr id="23" name="Text 21"/>
          <p:cNvSpPr/>
          <p:nvPr/>
        </p:nvSpPr>
        <p:spPr>
          <a:xfrm>
            <a:off x="5623560" y="2029968"/>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24" name="Fill-in rule">
            <a:extLst>
              <a:ext uri="{C183D7F6-B498-43B3-948B-1728B52AA6E4}">
                <adec:decorative xmlns="" xmlns:adec="http://schemas.microsoft.com/office/drawing/2017/decorative" val="1"/>
              </a:ext>
            </a:extLst>
          </p:cNvPr>
          <p:cNvSpPr/>
          <p:nvPr/>
        </p:nvSpPr>
        <p:spPr>
          <a:xfrm>
            <a:off x="6400800" y="2203704"/>
            <a:ext cx="2103120" cy="10973"/>
          </a:xfrm>
          <a:prstGeom prst="rect">
            <a:avLst/>
          </a:prstGeom>
          <a:solidFill>
            <a:srgbClr val="CFC2AE"/>
          </a:solidFill>
          <a:ln/>
        </p:spPr>
      </p:sp>
      <p:sp>
        <p:nvSpPr>
          <p:cNvPr id="25" name="Text 23"/>
          <p:cNvSpPr/>
          <p:nvPr/>
        </p:nvSpPr>
        <p:spPr>
          <a:xfrm>
            <a:off x="5623560" y="2295144"/>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26" name="Fill-in rule">
            <a:extLst>
              <a:ext uri="{C183D7F6-B498-43B3-948B-1728B52AA6E4}">
                <adec:decorative xmlns="" xmlns:adec="http://schemas.microsoft.com/office/drawing/2017/decorative" val="1"/>
              </a:ext>
            </a:extLst>
          </p:cNvPr>
          <p:cNvSpPr/>
          <p:nvPr/>
        </p:nvSpPr>
        <p:spPr>
          <a:xfrm>
            <a:off x="6400800" y="2468880"/>
            <a:ext cx="2103120" cy="10973"/>
          </a:xfrm>
          <a:prstGeom prst="rect">
            <a:avLst/>
          </a:prstGeom>
          <a:solidFill>
            <a:srgbClr val="CFC2AE"/>
          </a:solidFill>
          <a:ln/>
        </p:spPr>
      </p:sp>
      <p:sp>
        <p:nvSpPr>
          <p:cNvPr id="27" name="Text 25"/>
          <p:cNvSpPr/>
          <p:nvPr/>
        </p:nvSpPr>
        <p:spPr>
          <a:xfrm>
            <a:off x="5623560" y="2560320"/>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28" name="Fill-in rule">
            <a:extLst>
              <a:ext uri="{C183D7F6-B498-43B3-948B-1728B52AA6E4}">
                <adec:decorative xmlns="" xmlns:adec="http://schemas.microsoft.com/office/drawing/2017/decorative" val="1"/>
              </a:ext>
            </a:extLst>
          </p:cNvPr>
          <p:cNvSpPr/>
          <p:nvPr/>
        </p:nvSpPr>
        <p:spPr>
          <a:xfrm>
            <a:off x="6400800" y="2734056"/>
            <a:ext cx="2103120" cy="10973"/>
          </a:xfrm>
          <a:prstGeom prst="rect">
            <a:avLst/>
          </a:prstGeom>
          <a:solidFill>
            <a:srgbClr val="CFC2AE"/>
          </a:solidFill>
          <a:ln/>
        </p:spPr>
      </p:sp>
      <p:sp>
        <p:nvSpPr>
          <p:cNvPr id="29" name="Project card">
            <a:extLst>
              <a:ext uri="{C183D7F6-B498-43B3-948B-1728B52AA6E4}">
                <adec:decorative xmlns="" xmlns:adec="http://schemas.microsoft.com/office/drawing/2017/decorative" val="1"/>
              </a:ext>
            </a:extLst>
          </p:cNvPr>
          <p:cNvSpPr/>
          <p:nvPr/>
        </p:nvSpPr>
        <p:spPr>
          <a:xfrm>
            <a:off x="548640" y="3145536"/>
            <a:ext cx="3931920" cy="1664208"/>
          </a:xfrm>
          <a:prstGeom prst="rect">
            <a:avLst/>
          </a:prstGeom>
          <a:solidFill>
            <a:srgbClr val="E9E0D2"/>
          </a:solidFill>
          <a:ln w="12700">
            <a:solidFill>
              <a:srgbClr val="E2D6C3"/>
            </a:solidFill>
            <a:prstDash val="solid"/>
          </a:ln>
        </p:spPr>
      </p:sp>
      <p:sp>
        <p:nvSpPr>
          <p:cNvPr id="30" name="Card edge accent">
            <a:extLst>
              <a:ext uri="{C183D7F6-B498-43B3-948B-1728B52AA6E4}">
                <adec:decorative xmlns="" xmlns:adec="http://schemas.microsoft.com/office/drawing/2017/decorative" val="1"/>
              </a:ext>
            </a:extLst>
          </p:cNvPr>
          <p:cNvSpPr/>
          <p:nvPr/>
        </p:nvSpPr>
        <p:spPr>
          <a:xfrm>
            <a:off x="548640" y="3145536"/>
            <a:ext cx="64008" cy="1664208"/>
          </a:xfrm>
          <a:prstGeom prst="rect">
            <a:avLst/>
          </a:prstGeom>
          <a:solidFill>
            <a:srgbClr val="CFC2AE"/>
          </a:solidFill>
          <a:ln/>
        </p:spPr>
      </p:sp>
      <p:sp>
        <p:nvSpPr>
          <p:cNvPr id="31" name="Text 29"/>
          <p:cNvSpPr/>
          <p:nvPr/>
        </p:nvSpPr>
        <p:spPr>
          <a:xfrm>
            <a:off x="804672" y="3291840"/>
            <a:ext cx="566928" cy="365760"/>
          </a:xfrm>
          <a:prstGeom prst="rect">
            <a:avLst/>
          </a:prstGeom>
          <a:noFill/>
          <a:ln/>
        </p:spPr>
        <p:txBody>
          <a:bodyPr wrap="square" lIns="0" tIns="0" rIns="0" bIns="0" rtlCol="0" anchor="ctr"/>
          <a:lstStyle/>
          <a:p>
            <a:pPr marL="0" indent="0">
              <a:buNone/>
            </a:pPr>
            <a:r>
              <a:rPr lang="en-US" sz="1900" b="1" dirty="0">
                <a:solidFill>
                  <a:srgbClr val="BBAF9B"/>
                </a:solidFill>
                <a:latin typeface="Georgia" pitchFamily="34" charset="0"/>
                <a:ea typeface="Georgia" pitchFamily="34" charset="-122"/>
                <a:cs typeface="Georgia" pitchFamily="34" charset="-120"/>
              </a:rPr>
              <a:t>07</a:t>
            </a:r>
            <a:endParaRPr lang="en-US" sz="1900" dirty="0"/>
          </a:p>
        </p:txBody>
      </p:sp>
      <p:sp>
        <p:nvSpPr>
          <p:cNvPr id="32" name="Text 30"/>
          <p:cNvSpPr/>
          <p:nvPr/>
        </p:nvSpPr>
        <p:spPr>
          <a:xfrm>
            <a:off x="1417320" y="3310128"/>
            <a:ext cx="2880360" cy="365760"/>
          </a:xfrm>
          <a:prstGeom prst="rect">
            <a:avLst/>
          </a:prstGeom>
          <a:noFill/>
          <a:ln/>
        </p:spPr>
        <p:txBody>
          <a:bodyPr wrap="square" lIns="0" tIns="0" rIns="0" bIns="0" rtlCol="0" anchor="ctr"/>
          <a:lstStyle/>
          <a:p>
            <a:pPr marL="0" indent="0">
              <a:buNone/>
            </a:pPr>
            <a:r>
              <a:rPr lang="en-US" sz="1350" b="1" dirty="0">
                <a:solidFill>
                  <a:srgbClr val="B3A791"/>
                </a:solidFill>
                <a:latin typeface="Georgia" pitchFamily="34" charset="0"/>
                <a:ea typeface="Georgia" pitchFamily="34" charset="-122"/>
                <a:cs typeface="Georgia" pitchFamily="34" charset="-120"/>
              </a:rPr>
              <a:t>Project name</a:t>
            </a:r>
            <a:endParaRPr lang="en-US" sz="1350" dirty="0"/>
          </a:p>
        </p:txBody>
      </p:sp>
      <p:sp>
        <p:nvSpPr>
          <p:cNvPr id="33" name="Card divider">
            <a:extLst>
              <a:ext uri="{C183D7F6-B498-43B3-948B-1728B52AA6E4}">
                <adec:decorative xmlns="" xmlns:adec="http://schemas.microsoft.com/office/drawing/2017/decorative" val="1"/>
              </a:ext>
            </a:extLst>
          </p:cNvPr>
          <p:cNvSpPr/>
          <p:nvPr/>
        </p:nvSpPr>
        <p:spPr>
          <a:xfrm>
            <a:off x="1417320" y="3767328"/>
            <a:ext cx="2880360" cy="13716"/>
          </a:xfrm>
          <a:prstGeom prst="rect">
            <a:avLst/>
          </a:prstGeom>
          <a:solidFill>
            <a:srgbClr val="D5C9B5"/>
          </a:solidFill>
          <a:ln/>
        </p:spPr>
      </p:sp>
      <p:sp>
        <p:nvSpPr>
          <p:cNvPr id="34" name="Text 32"/>
          <p:cNvSpPr/>
          <p:nvPr/>
        </p:nvSpPr>
        <p:spPr>
          <a:xfrm>
            <a:off x="1417320" y="3877056"/>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35" name="Fill-in rule">
            <a:extLst>
              <a:ext uri="{C183D7F6-B498-43B3-948B-1728B52AA6E4}">
                <adec:decorative xmlns="" xmlns:adec="http://schemas.microsoft.com/office/drawing/2017/decorative" val="1"/>
              </a:ext>
            </a:extLst>
          </p:cNvPr>
          <p:cNvSpPr/>
          <p:nvPr/>
        </p:nvSpPr>
        <p:spPr>
          <a:xfrm>
            <a:off x="2194560" y="4050792"/>
            <a:ext cx="2103120" cy="10973"/>
          </a:xfrm>
          <a:prstGeom prst="rect">
            <a:avLst/>
          </a:prstGeom>
          <a:solidFill>
            <a:srgbClr val="CFC2AE"/>
          </a:solidFill>
          <a:ln/>
        </p:spPr>
      </p:sp>
      <p:sp>
        <p:nvSpPr>
          <p:cNvPr id="36" name="Text 34"/>
          <p:cNvSpPr/>
          <p:nvPr/>
        </p:nvSpPr>
        <p:spPr>
          <a:xfrm>
            <a:off x="1417320" y="4142232"/>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37" name="Fill-in rule">
            <a:extLst>
              <a:ext uri="{C183D7F6-B498-43B3-948B-1728B52AA6E4}">
                <adec:decorative xmlns="" xmlns:adec="http://schemas.microsoft.com/office/drawing/2017/decorative" val="1"/>
              </a:ext>
            </a:extLst>
          </p:cNvPr>
          <p:cNvSpPr/>
          <p:nvPr/>
        </p:nvSpPr>
        <p:spPr>
          <a:xfrm>
            <a:off x="2194560" y="4315968"/>
            <a:ext cx="2103120" cy="10973"/>
          </a:xfrm>
          <a:prstGeom prst="rect">
            <a:avLst/>
          </a:prstGeom>
          <a:solidFill>
            <a:srgbClr val="CFC2AE"/>
          </a:solidFill>
          <a:ln/>
        </p:spPr>
      </p:sp>
      <p:sp>
        <p:nvSpPr>
          <p:cNvPr id="38" name="Text 36"/>
          <p:cNvSpPr/>
          <p:nvPr/>
        </p:nvSpPr>
        <p:spPr>
          <a:xfrm>
            <a:off x="1417320" y="4407408"/>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39" name="Fill-in rule">
            <a:extLst>
              <a:ext uri="{C183D7F6-B498-43B3-948B-1728B52AA6E4}">
                <adec:decorative xmlns="" xmlns:adec="http://schemas.microsoft.com/office/drawing/2017/decorative" val="1"/>
              </a:ext>
            </a:extLst>
          </p:cNvPr>
          <p:cNvSpPr/>
          <p:nvPr/>
        </p:nvSpPr>
        <p:spPr>
          <a:xfrm>
            <a:off x="2194560" y="4581144"/>
            <a:ext cx="2103120" cy="10973"/>
          </a:xfrm>
          <a:prstGeom prst="rect">
            <a:avLst/>
          </a:prstGeom>
          <a:solidFill>
            <a:srgbClr val="CFC2AE"/>
          </a:solidFill>
          <a:ln/>
        </p:spPr>
      </p:sp>
      <p:sp>
        <p:nvSpPr>
          <p:cNvPr id="40" name="Project card">
            <a:extLst>
              <a:ext uri="{C183D7F6-B498-43B3-948B-1728B52AA6E4}">
                <adec:decorative xmlns="" xmlns:adec="http://schemas.microsoft.com/office/drawing/2017/decorative" val="1"/>
              </a:ext>
            </a:extLst>
          </p:cNvPr>
          <p:cNvSpPr/>
          <p:nvPr/>
        </p:nvSpPr>
        <p:spPr>
          <a:xfrm>
            <a:off x="4754880" y="3145536"/>
            <a:ext cx="3931920" cy="1664208"/>
          </a:xfrm>
          <a:prstGeom prst="rect">
            <a:avLst/>
          </a:prstGeom>
          <a:solidFill>
            <a:srgbClr val="E9E0D2"/>
          </a:solidFill>
          <a:ln w="12700">
            <a:solidFill>
              <a:srgbClr val="E2D6C3"/>
            </a:solidFill>
            <a:prstDash val="solid"/>
          </a:ln>
        </p:spPr>
      </p:sp>
      <p:sp>
        <p:nvSpPr>
          <p:cNvPr id="41" name="Card edge accent">
            <a:extLst>
              <a:ext uri="{C183D7F6-B498-43B3-948B-1728B52AA6E4}">
                <adec:decorative xmlns="" xmlns:adec="http://schemas.microsoft.com/office/drawing/2017/decorative" val="1"/>
              </a:ext>
            </a:extLst>
          </p:cNvPr>
          <p:cNvSpPr/>
          <p:nvPr/>
        </p:nvSpPr>
        <p:spPr>
          <a:xfrm>
            <a:off x="4754880" y="3145536"/>
            <a:ext cx="64008" cy="1664208"/>
          </a:xfrm>
          <a:prstGeom prst="rect">
            <a:avLst/>
          </a:prstGeom>
          <a:solidFill>
            <a:srgbClr val="CFC2AE"/>
          </a:solidFill>
          <a:ln/>
        </p:spPr>
      </p:sp>
      <p:sp>
        <p:nvSpPr>
          <p:cNvPr id="42" name="Text 40"/>
          <p:cNvSpPr/>
          <p:nvPr/>
        </p:nvSpPr>
        <p:spPr>
          <a:xfrm>
            <a:off x="5010912" y="3291840"/>
            <a:ext cx="566928" cy="365760"/>
          </a:xfrm>
          <a:prstGeom prst="rect">
            <a:avLst/>
          </a:prstGeom>
          <a:noFill/>
          <a:ln/>
        </p:spPr>
        <p:txBody>
          <a:bodyPr wrap="square" lIns="0" tIns="0" rIns="0" bIns="0" rtlCol="0" anchor="ctr"/>
          <a:lstStyle/>
          <a:p>
            <a:pPr marL="0" indent="0">
              <a:buNone/>
            </a:pPr>
            <a:r>
              <a:rPr lang="en-US" sz="1900" b="1" dirty="0">
                <a:solidFill>
                  <a:srgbClr val="BBAF9B"/>
                </a:solidFill>
                <a:latin typeface="Georgia" pitchFamily="34" charset="0"/>
                <a:ea typeface="Georgia" pitchFamily="34" charset="-122"/>
                <a:cs typeface="Georgia" pitchFamily="34" charset="-120"/>
              </a:rPr>
              <a:t>08</a:t>
            </a:r>
            <a:endParaRPr lang="en-US" sz="1900" dirty="0"/>
          </a:p>
        </p:txBody>
      </p:sp>
      <p:sp>
        <p:nvSpPr>
          <p:cNvPr id="43" name="Text 41"/>
          <p:cNvSpPr/>
          <p:nvPr/>
        </p:nvSpPr>
        <p:spPr>
          <a:xfrm>
            <a:off x="5623560" y="3310128"/>
            <a:ext cx="2880360" cy="365760"/>
          </a:xfrm>
          <a:prstGeom prst="rect">
            <a:avLst/>
          </a:prstGeom>
          <a:noFill/>
          <a:ln/>
        </p:spPr>
        <p:txBody>
          <a:bodyPr wrap="square" lIns="0" tIns="0" rIns="0" bIns="0" rtlCol="0" anchor="ctr"/>
          <a:lstStyle/>
          <a:p>
            <a:pPr marL="0" indent="0">
              <a:buNone/>
            </a:pPr>
            <a:r>
              <a:rPr lang="en-US" sz="1350" b="1" dirty="0">
                <a:solidFill>
                  <a:srgbClr val="B3A791"/>
                </a:solidFill>
                <a:latin typeface="Georgia" pitchFamily="34" charset="0"/>
                <a:ea typeface="Georgia" pitchFamily="34" charset="-122"/>
                <a:cs typeface="Georgia" pitchFamily="34" charset="-120"/>
              </a:rPr>
              <a:t>Project name</a:t>
            </a:r>
            <a:endParaRPr lang="en-US" sz="1350" dirty="0"/>
          </a:p>
        </p:txBody>
      </p:sp>
      <p:sp>
        <p:nvSpPr>
          <p:cNvPr id="44" name="Card divider">
            <a:extLst>
              <a:ext uri="{C183D7F6-B498-43B3-948B-1728B52AA6E4}">
                <adec:decorative xmlns="" xmlns:adec="http://schemas.microsoft.com/office/drawing/2017/decorative" val="1"/>
              </a:ext>
            </a:extLst>
          </p:cNvPr>
          <p:cNvSpPr/>
          <p:nvPr/>
        </p:nvSpPr>
        <p:spPr>
          <a:xfrm>
            <a:off x="5623560" y="3767328"/>
            <a:ext cx="2880360" cy="13716"/>
          </a:xfrm>
          <a:prstGeom prst="rect">
            <a:avLst/>
          </a:prstGeom>
          <a:solidFill>
            <a:srgbClr val="D5C9B5"/>
          </a:solidFill>
          <a:ln/>
        </p:spPr>
      </p:sp>
      <p:sp>
        <p:nvSpPr>
          <p:cNvPr id="45" name="Text 43"/>
          <p:cNvSpPr/>
          <p:nvPr/>
        </p:nvSpPr>
        <p:spPr>
          <a:xfrm>
            <a:off x="5623560" y="3877056"/>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46" name="Fill-in rule">
            <a:extLst>
              <a:ext uri="{C183D7F6-B498-43B3-948B-1728B52AA6E4}">
                <adec:decorative xmlns="" xmlns:adec="http://schemas.microsoft.com/office/drawing/2017/decorative" val="1"/>
              </a:ext>
            </a:extLst>
          </p:cNvPr>
          <p:cNvSpPr/>
          <p:nvPr/>
        </p:nvSpPr>
        <p:spPr>
          <a:xfrm>
            <a:off x="6400800" y="4050792"/>
            <a:ext cx="2103120" cy="10973"/>
          </a:xfrm>
          <a:prstGeom prst="rect">
            <a:avLst/>
          </a:prstGeom>
          <a:solidFill>
            <a:srgbClr val="CFC2AE"/>
          </a:solidFill>
          <a:ln/>
        </p:spPr>
      </p:sp>
      <p:sp>
        <p:nvSpPr>
          <p:cNvPr id="47" name="Text 45"/>
          <p:cNvSpPr/>
          <p:nvPr/>
        </p:nvSpPr>
        <p:spPr>
          <a:xfrm>
            <a:off x="5623560" y="4142232"/>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48" name="Fill-in rule">
            <a:extLst>
              <a:ext uri="{C183D7F6-B498-43B3-948B-1728B52AA6E4}">
                <adec:decorative xmlns="" xmlns:adec="http://schemas.microsoft.com/office/drawing/2017/decorative" val="1"/>
              </a:ext>
            </a:extLst>
          </p:cNvPr>
          <p:cNvSpPr/>
          <p:nvPr/>
        </p:nvSpPr>
        <p:spPr>
          <a:xfrm>
            <a:off x="6400800" y="4315968"/>
            <a:ext cx="2103120" cy="10973"/>
          </a:xfrm>
          <a:prstGeom prst="rect">
            <a:avLst/>
          </a:prstGeom>
          <a:solidFill>
            <a:srgbClr val="CFC2AE"/>
          </a:solidFill>
          <a:ln/>
        </p:spPr>
      </p:sp>
      <p:sp>
        <p:nvSpPr>
          <p:cNvPr id="49" name="Text 47"/>
          <p:cNvSpPr/>
          <p:nvPr/>
        </p:nvSpPr>
        <p:spPr>
          <a:xfrm>
            <a:off x="5623560" y="4407408"/>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50" name="Fill-in rule">
            <a:extLst>
              <a:ext uri="{C183D7F6-B498-43B3-948B-1728B52AA6E4}">
                <adec:decorative xmlns="" xmlns:adec="http://schemas.microsoft.com/office/drawing/2017/decorative" val="1"/>
              </a:ext>
            </a:extLst>
          </p:cNvPr>
          <p:cNvSpPr/>
          <p:nvPr/>
        </p:nvSpPr>
        <p:spPr>
          <a:xfrm>
            <a:off x="6400800" y="4581144"/>
            <a:ext cx="2103120" cy="10973"/>
          </a:xfrm>
          <a:prstGeom prst="rect">
            <a:avLst/>
          </a:prstGeom>
          <a:solidFill>
            <a:srgbClr val="CFC2AE"/>
          </a:solidFill>
          <a:ln/>
        </p:spPr>
      </p:sp>
      <p:sp>
        <p:nvSpPr>
          <p:cNvPr id="51" name="Project card">
            <a:extLst>
              <a:ext uri="{C183D7F6-B498-43B3-948B-1728B52AA6E4}">
                <adec:decorative xmlns="" xmlns:adec="http://schemas.microsoft.com/office/drawing/2017/decorative" val="1"/>
              </a:ext>
            </a:extLst>
          </p:cNvPr>
          <p:cNvSpPr/>
          <p:nvPr/>
        </p:nvSpPr>
        <p:spPr>
          <a:xfrm>
            <a:off x="548640" y="3145536"/>
            <a:ext cx="3931920" cy="1664208"/>
          </a:xfrm>
          <a:prstGeom prst="rect">
            <a:avLst/>
          </a:prstGeom>
          <a:solidFill>
            <a:schemeClr val="bg1"/>
          </a:solidFill>
          <a:ln w="12700">
            <a:solidFill>
              <a:srgbClr val="E2D6C3"/>
            </a:solidFill>
            <a:prstDash val="solid"/>
          </a:ln>
        </p:spPr>
      </p:sp>
      <p:sp>
        <p:nvSpPr>
          <p:cNvPr id="52" name="Card edge accent">
            <a:extLst>
              <a:ext uri="{C183D7F6-B498-43B3-948B-1728B52AA6E4}">
                <adec:decorative xmlns="" xmlns:adec="http://schemas.microsoft.com/office/drawing/2017/decorative" val="1"/>
              </a:ext>
            </a:extLst>
          </p:cNvPr>
          <p:cNvSpPr/>
          <p:nvPr/>
        </p:nvSpPr>
        <p:spPr>
          <a:xfrm>
            <a:off x="548640" y="3145536"/>
            <a:ext cx="64008" cy="1664208"/>
          </a:xfrm>
          <a:prstGeom prst="rect">
            <a:avLst/>
          </a:prstGeom>
          <a:solidFill>
            <a:schemeClr val="accent2">
              <a:lumMod val="75000"/>
            </a:schemeClr>
          </a:solidFill>
          <a:ln/>
        </p:spPr>
      </p:sp>
      <p:sp>
        <p:nvSpPr>
          <p:cNvPr id="53" name="Text 29"/>
          <p:cNvSpPr/>
          <p:nvPr/>
        </p:nvSpPr>
        <p:spPr>
          <a:xfrm>
            <a:off x="804672" y="3291840"/>
            <a:ext cx="566928" cy="365760"/>
          </a:xfrm>
          <a:prstGeom prst="rect">
            <a:avLst/>
          </a:prstGeom>
          <a:noFill/>
          <a:ln/>
        </p:spPr>
        <p:txBody>
          <a:bodyPr wrap="square" lIns="0" tIns="0" rIns="0" bIns="0" rtlCol="0" anchor="ctr"/>
          <a:lstStyle/>
          <a:p>
            <a:pPr marL="0" indent="0">
              <a:buNone/>
            </a:pPr>
            <a:r>
              <a:rPr lang="en-US" sz="1900" b="1" dirty="0" smtClean="0">
                <a:solidFill>
                  <a:schemeClr val="accent2">
                    <a:lumMod val="75000"/>
                  </a:schemeClr>
                </a:solidFill>
                <a:latin typeface="Georgia" pitchFamily="34" charset="0"/>
              </a:rPr>
              <a:t>11</a:t>
            </a:r>
            <a:endParaRPr lang="en-US" sz="1900" dirty="0">
              <a:solidFill>
                <a:schemeClr val="accent2">
                  <a:lumMod val="75000"/>
                </a:schemeClr>
              </a:solidFill>
            </a:endParaRPr>
          </a:p>
        </p:txBody>
      </p:sp>
      <p:sp>
        <p:nvSpPr>
          <p:cNvPr id="54" name="Text 30"/>
          <p:cNvSpPr/>
          <p:nvPr/>
        </p:nvSpPr>
        <p:spPr>
          <a:xfrm>
            <a:off x="1417320" y="3310128"/>
            <a:ext cx="2880360" cy="365760"/>
          </a:xfrm>
          <a:prstGeom prst="rect">
            <a:avLst/>
          </a:prstGeom>
          <a:noFill/>
          <a:ln/>
        </p:spPr>
        <p:txBody>
          <a:bodyPr wrap="square" lIns="0" tIns="0" rIns="0" bIns="0" rtlCol="0" anchor="ctr"/>
          <a:lstStyle/>
          <a:p>
            <a:pPr marL="0" indent="0">
              <a:buNone/>
            </a:pPr>
            <a:r>
              <a:rPr lang="en-US" sz="1350" b="1" dirty="0" smtClean="0">
                <a:latin typeface="Georgia" pitchFamily="34" charset="0"/>
              </a:rPr>
              <a:t>Solar Water Heater – KAFD </a:t>
            </a:r>
            <a:endParaRPr lang="en-US" sz="1350" dirty="0"/>
          </a:p>
        </p:txBody>
      </p:sp>
      <p:sp>
        <p:nvSpPr>
          <p:cNvPr id="55" name="Card divider">
            <a:extLst>
              <a:ext uri="{C183D7F6-B498-43B3-948B-1728B52AA6E4}">
                <adec:decorative xmlns="" xmlns:adec="http://schemas.microsoft.com/office/drawing/2017/decorative" val="1"/>
              </a:ext>
            </a:extLst>
          </p:cNvPr>
          <p:cNvSpPr/>
          <p:nvPr/>
        </p:nvSpPr>
        <p:spPr>
          <a:xfrm>
            <a:off x="1417320" y="3767328"/>
            <a:ext cx="2880360" cy="13716"/>
          </a:xfrm>
          <a:prstGeom prst="rect">
            <a:avLst/>
          </a:prstGeom>
          <a:solidFill>
            <a:srgbClr val="D5C9B5"/>
          </a:solidFill>
          <a:ln/>
        </p:spPr>
      </p:sp>
      <p:sp>
        <p:nvSpPr>
          <p:cNvPr id="56" name="Text 32"/>
          <p:cNvSpPr/>
          <p:nvPr/>
        </p:nvSpPr>
        <p:spPr>
          <a:xfrm>
            <a:off x="1417320" y="3877056"/>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57" name="Text 34"/>
          <p:cNvSpPr/>
          <p:nvPr/>
        </p:nvSpPr>
        <p:spPr>
          <a:xfrm>
            <a:off x="1417320" y="4142232"/>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58" name="Text 36"/>
          <p:cNvSpPr/>
          <p:nvPr/>
        </p:nvSpPr>
        <p:spPr>
          <a:xfrm>
            <a:off x="1417320" y="4407408"/>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59" name="TextBox 58"/>
          <p:cNvSpPr txBox="1"/>
          <p:nvPr/>
        </p:nvSpPr>
        <p:spPr>
          <a:xfrm>
            <a:off x="2194560" y="3858768"/>
            <a:ext cx="1630019" cy="238527"/>
          </a:xfrm>
          <a:prstGeom prst="rect">
            <a:avLst/>
          </a:prstGeom>
          <a:noFill/>
        </p:spPr>
        <p:txBody>
          <a:bodyPr wrap="square" rtlCol="0">
            <a:spAutoFit/>
          </a:bodyPr>
          <a:lstStyle/>
          <a:p>
            <a:pPr lvl="0"/>
            <a:r>
              <a:rPr lang="en-US" sz="950" b="1" dirty="0" smtClean="0">
                <a:solidFill>
                  <a:srgbClr val="2B2926"/>
                </a:solidFill>
                <a:latin typeface="Trebuchet MS" pitchFamily="34" charset="0"/>
                <a:ea typeface="Trebuchet MS" pitchFamily="34" charset="-122"/>
                <a:cs typeface="Trebuchet MS" pitchFamily="34" charset="-120"/>
              </a:rPr>
              <a:t>-</a:t>
            </a:r>
            <a:endParaRPr lang="en-US" sz="950" dirty="0">
              <a:solidFill>
                <a:prstClr val="black"/>
              </a:solidFill>
            </a:endParaRPr>
          </a:p>
        </p:txBody>
      </p:sp>
      <p:sp>
        <p:nvSpPr>
          <p:cNvPr id="60" name="TextBox 59"/>
          <p:cNvSpPr txBox="1"/>
          <p:nvPr/>
        </p:nvSpPr>
        <p:spPr>
          <a:xfrm>
            <a:off x="2191781" y="4117595"/>
            <a:ext cx="2019629" cy="238527"/>
          </a:xfrm>
          <a:prstGeom prst="rect">
            <a:avLst/>
          </a:prstGeom>
          <a:noFill/>
        </p:spPr>
        <p:txBody>
          <a:bodyPr wrap="square" rtlCol="0">
            <a:spAutoFit/>
          </a:bodyPr>
          <a:lstStyle/>
          <a:p>
            <a:pPr lvl="0"/>
            <a:r>
              <a:rPr lang="en-US" sz="950" dirty="0">
                <a:solidFill>
                  <a:srgbClr val="45413B"/>
                </a:solidFill>
                <a:latin typeface="Trebuchet MS" pitchFamily="34" charset="0"/>
                <a:ea typeface="Trebuchet MS" pitchFamily="34" charset="-122"/>
                <a:cs typeface="Trebuchet MS" pitchFamily="34" charset="-120"/>
              </a:rPr>
              <a:t>Jeddah, Saudi Arabia</a:t>
            </a:r>
            <a:endParaRPr lang="en-US" sz="950" dirty="0">
              <a:solidFill>
                <a:prstClr val="black"/>
              </a:solidFill>
            </a:endParaRPr>
          </a:p>
        </p:txBody>
      </p:sp>
      <p:sp>
        <p:nvSpPr>
          <p:cNvPr id="61" name="TextBox 60"/>
          <p:cNvSpPr txBox="1"/>
          <p:nvPr/>
        </p:nvSpPr>
        <p:spPr>
          <a:xfrm>
            <a:off x="2166932" y="4353590"/>
            <a:ext cx="2069326" cy="238527"/>
          </a:xfrm>
          <a:prstGeom prst="rect">
            <a:avLst/>
          </a:prstGeom>
          <a:noFill/>
        </p:spPr>
        <p:txBody>
          <a:bodyPr wrap="square" rtlCol="0">
            <a:spAutoFit/>
          </a:bodyPr>
          <a:lstStyle/>
          <a:p>
            <a:pPr lvl="0"/>
            <a:r>
              <a:rPr lang="en-US" sz="950" dirty="0" smtClean="0">
                <a:solidFill>
                  <a:srgbClr val="45413B"/>
                </a:solidFill>
                <a:latin typeface="Trebuchet MS" pitchFamily="34" charset="0"/>
                <a:ea typeface="Trebuchet MS" pitchFamily="34" charset="-122"/>
                <a:cs typeface="Trebuchet MS" pitchFamily="34" charset="-120"/>
              </a:rPr>
              <a:t>Turnkey </a:t>
            </a:r>
            <a:r>
              <a:rPr lang="en-US" sz="950" dirty="0">
                <a:solidFill>
                  <a:srgbClr val="45413B"/>
                </a:solidFill>
                <a:latin typeface="Trebuchet MS" pitchFamily="34" charset="0"/>
                <a:ea typeface="Trebuchet MS" pitchFamily="34" charset="-122"/>
                <a:cs typeface="Trebuchet MS" pitchFamily="34" charset="-120"/>
              </a:rPr>
              <a:t>EPC</a:t>
            </a:r>
            <a:endParaRPr lang="en-US" sz="950" dirty="0">
              <a:solidFill>
                <a:prstClr val="black"/>
              </a:solidFill>
            </a:endParaRPr>
          </a:p>
        </p:txBody>
      </p:sp>
      <p:sp>
        <p:nvSpPr>
          <p:cNvPr id="62" name="Project card">
            <a:extLst>
              <a:ext uri="{C183D7F6-B498-43B3-948B-1728B52AA6E4}">
                <adec:decorative xmlns="" xmlns:adec="http://schemas.microsoft.com/office/drawing/2017/decorative" val="1"/>
              </a:ext>
            </a:extLst>
          </p:cNvPr>
          <p:cNvSpPr/>
          <p:nvPr/>
        </p:nvSpPr>
        <p:spPr>
          <a:xfrm>
            <a:off x="548640" y="1262747"/>
            <a:ext cx="3931920" cy="1664208"/>
          </a:xfrm>
          <a:prstGeom prst="rect">
            <a:avLst/>
          </a:prstGeom>
          <a:solidFill>
            <a:schemeClr val="bg1"/>
          </a:solidFill>
          <a:ln w="12700">
            <a:solidFill>
              <a:srgbClr val="E2D6C3"/>
            </a:solidFill>
            <a:prstDash val="solid"/>
          </a:ln>
        </p:spPr>
      </p:sp>
      <p:sp>
        <p:nvSpPr>
          <p:cNvPr id="63" name="Card edge accent">
            <a:extLst>
              <a:ext uri="{C183D7F6-B498-43B3-948B-1728B52AA6E4}">
                <adec:decorative xmlns="" xmlns:adec="http://schemas.microsoft.com/office/drawing/2017/decorative" val="1"/>
              </a:ext>
            </a:extLst>
          </p:cNvPr>
          <p:cNvSpPr/>
          <p:nvPr/>
        </p:nvSpPr>
        <p:spPr>
          <a:xfrm>
            <a:off x="548640" y="1256306"/>
            <a:ext cx="64008" cy="1664208"/>
          </a:xfrm>
          <a:prstGeom prst="rect">
            <a:avLst/>
          </a:prstGeom>
          <a:solidFill>
            <a:schemeClr val="accent2">
              <a:lumMod val="75000"/>
            </a:schemeClr>
          </a:solidFill>
          <a:ln/>
        </p:spPr>
      </p:sp>
      <p:sp>
        <p:nvSpPr>
          <p:cNvPr id="64" name="Text 29"/>
          <p:cNvSpPr/>
          <p:nvPr/>
        </p:nvSpPr>
        <p:spPr>
          <a:xfrm>
            <a:off x="804672" y="1402610"/>
            <a:ext cx="566928" cy="365760"/>
          </a:xfrm>
          <a:prstGeom prst="rect">
            <a:avLst/>
          </a:prstGeom>
          <a:noFill/>
          <a:ln/>
        </p:spPr>
        <p:txBody>
          <a:bodyPr wrap="square" lIns="0" tIns="0" rIns="0" bIns="0" rtlCol="0" anchor="ctr"/>
          <a:lstStyle/>
          <a:p>
            <a:pPr marL="0" indent="0">
              <a:buNone/>
            </a:pPr>
            <a:r>
              <a:rPr lang="en-US" sz="1900" b="1" dirty="0" smtClean="0">
                <a:solidFill>
                  <a:schemeClr val="accent2">
                    <a:lumMod val="75000"/>
                  </a:schemeClr>
                </a:solidFill>
                <a:latin typeface="Georgia" pitchFamily="34" charset="0"/>
                <a:ea typeface="Georgia" pitchFamily="34" charset="-122"/>
                <a:cs typeface="Georgia" pitchFamily="34" charset="-120"/>
              </a:rPr>
              <a:t>09</a:t>
            </a:r>
            <a:endParaRPr lang="en-US" sz="1900" dirty="0">
              <a:solidFill>
                <a:schemeClr val="accent2">
                  <a:lumMod val="75000"/>
                </a:schemeClr>
              </a:solidFill>
            </a:endParaRPr>
          </a:p>
        </p:txBody>
      </p:sp>
      <p:sp>
        <p:nvSpPr>
          <p:cNvPr id="65" name="Text 30"/>
          <p:cNvSpPr/>
          <p:nvPr/>
        </p:nvSpPr>
        <p:spPr>
          <a:xfrm>
            <a:off x="1417320" y="1420898"/>
            <a:ext cx="2880360" cy="365760"/>
          </a:xfrm>
          <a:prstGeom prst="rect">
            <a:avLst/>
          </a:prstGeom>
          <a:noFill/>
          <a:ln/>
        </p:spPr>
        <p:txBody>
          <a:bodyPr wrap="square" lIns="0" tIns="0" rIns="0" bIns="0" rtlCol="0" anchor="ctr"/>
          <a:lstStyle/>
          <a:p>
            <a:pPr marL="0" indent="0">
              <a:buNone/>
            </a:pPr>
            <a:r>
              <a:rPr lang="en-US" sz="1350" b="1" dirty="0" smtClean="0">
                <a:latin typeface="Georgia" pitchFamily="34" charset="0"/>
              </a:rPr>
              <a:t>Solar off grid container for EV </a:t>
            </a:r>
            <a:r>
              <a:rPr lang="en-US" sz="1350" b="1" dirty="0" smtClean="0">
                <a:latin typeface="Georgia" pitchFamily="34" charset="0"/>
              </a:rPr>
              <a:t>Vehicles (BESS)</a:t>
            </a:r>
            <a:endParaRPr lang="en-US" sz="1350" dirty="0"/>
          </a:p>
        </p:txBody>
      </p:sp>
      <p:sp>
        <p:nvSpPr>
          <p:cNvPr id="66" name="Card divider">
            <a:extLst>
              <a:ext uri="{C183D7F6-B498-43B3-948B-1728B52AA6E4}">
                <adec:decorative xmlns="" xmlns:adec="http://schemas.microsoft.com/office/drawing/2017/decorative" val="1"/>
              </a:ext>
            </a:extLst>
          </p:cNvPr>
          <p:cNvSpPr/>
          <p:nvPr/>
        </p:nvSpPr>
        <p:spPr>
          <a:xfrm>
            <a:off x="1417320" y="1878098"/>
            <a:ext cx="2880360" cy="13716"/>
          </a:xfrm>
          <a:prstGeom prst="rect">
            <a:avLst/>
          </a:prstGeom>
          <a:solidFill>
            <a:srgbClr val="D5C9B5"/>
          </a:solidFill>
          <a:ln/>
        </p:spPr>
      </p:sp>
      <p:sp>
        <p:nvSpPr>
          <p:cNvPr id="67" name="Text 32"/>
          <p:cNvSpPr/>
          <p:nvPr/>
        </p:nvSpPr>
        <p:spPr>
          <a:xfrm>
            <a:off x="1417320" y="1987826"/>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68" name="Text 34"/>
          <p:cNvSpPr/>
          <p:nvPr/>
        </p:nvSpPr>
        <p:spPr>
          <a:xfrm>
            <a:off x="1417320" y="2253002"/>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69" name="Text 36"/>
          <p:cNvSpPr/>
          <p:nvPr/>
        </p:nvSpPr>
        <p:spPr>
          <a:xfrm>
            <a:off x="1417320" y="2518178"/>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70" name="TextBox 69"/>
          <p:cNvSpPr txBox="1"/>
          <p:nvPr/>
        </p:nvSpPr>
        <p:spPr>
          <a:xfrm>
            <a:off x="2194560" y="1969538"/>
            <a:ext cx="1630019" cy="238527"/>
          </a:xfrm>
          <a:prstGeom prst="rect">
            <a:avLst/>
          </a:prstGeom>
          <a:noFill/>
        </p:spPr>
        <p:txBody>
          <a:bodyPr wrap="square" rtlCol="0">
            <a:spAutoFit/>
          </a:bodyPr>
          <a:lstStyle/>
          <a:p>
            <a:pPr lvl="0"/>
            <a:r>
              <a:rPr lang="en-US" sz="950" b="1" dirty="0" smtClean="0">
                <a:solidFill>
                  <a:srgbClr val="2B2926"/>
                </a:solidFill>
                <a:latin typeface="Trebuchet MS" pitchFamily="34" charset="0"/>
                <a:ea typeface="Trebuchet MS" pitchFamily="34" charset="-122"/>
                <a:cs typeface="Trebuchet MS" pitchFamily="34" charset="-120"/>
              </a:rPr>
              <a:t>-</a:t>
            </a:r>
            <a:endParaRPr lang="en-US" sz="950" dirty="0">
              <a:solidFill>
                <a:prstClr val="black"/>
              </a:solidFill>
            </a:endParaRPr>
          </a:p>
        </p:txBody>
      </p:sp>
      <p:sp>
        <p:nvSpPr>
          <p:cNvPr id="71" name="TextBox 70"/>
          <p:cNvSpPr txBox="1"/>
          <p:nvPr/>
        </p:nvSpPr>
        <p:spPr>
          <a:xfrm>
            <a:off x="2191781" y="2228365"/>
            <a:ext cx="2019629" cy="238527"/>
          </a:xfrm>
          <a:prstGeom prst="rect">
            <a:avLst/>
          </a:prstGeom>
          <a:noFill/>
        </p:spPr>
        <p:txBody>
          <a:bodyPr wrap="square" rtlCol="0">
            <a:spAutoFit/>
          </a:bodyPr>
          <a:lstStyle/>
          <a:p>
            <a:pPr lvl="0"/>
            <a:r>
              <a:rPr lang="en-US" sz="950" dirty="0">
                <a:solidFill>
                  <a:srgbClr val="45413B"/>
                </a:solidFill>
                <a:latin typeface="Trebuchet MS" pitchFamily="34" charset="0"/>
                <a:ea typeface="Trebuchet MS" pitchFamily="34" charset="-122"/>
                <a:cs typeface="Trebuchet MS" pitchFamily="34" charset="-120"/>
              </a:rPr>
              <a:t>Jeddah, Saudi Arabia</a:t>
            </a:r>
            <a:endParaRPr lang="en-US" sz="950" dirty="0">
              <a:solidFill>
                <a:prstClr val="black"/>
              </a:solidFill>
            </a:endParaRPr>
          </a:p>
        </p:txBody>
      </p:sp>
      <p:sp>
        <p:nvSpPr>
          <p:cNvPr id="72" name="TextBox 71"/>
          <p:cNvSpPr txBox="1"/>
          <p:nvPr/>
        </p:nvSpPr>
        <p:spPr>
          <a:xfrm>
            <a:off x="2166932" y="2464360"/>
            <a:ext cx="2069326" cy="238527"/>
          </a:xfrm>
          <a:prstGeom prst="rect">
            <a:avLst/>
          </a:prstGeom>
          <a:noFill/>
        </p:spPr>
        <p:txBody>
          <a:bodyPr wrap="square" rtlCol="0">
            <a:spAutoFit/>
          </a:bodyPr>
          <a:lstStyle/>
          <a:p>
            <a:pPr lvl="0"/>
            <a:r>
              <a:rPr lang="en-US" sz="950" dirty="0" smtClean="0">
                <a:solidFill>
                  <a:srgbClr val="45413B"/>
                </a:solidFill>
                <a:latin typeface="Trebuchet MS" pitchFamily="34" charset="0"/>
                <a:ea typeface="Trebuchet MS" pitchFamily="34" charset="-122"/>
                <a:cs typeface="Trebuchet MS" pitchFamily="34" charset="-120"/>
              </a:rPr>
              <a:t>Turnkey </a:t>
            </a:r>
            <a:r>
              <a:rPr lang="en-US" sz="950" dirty="0">
                <a:solidFill>
                  <a:srgbClr val="45413B"/>
                </a:solidFill>
                <a:latin typeface="Trebuchet MS" pitchFamily="34" charset="0"/>
                <a:ea typeface="Trebuchet MS" pitchFamily="34" charset="-122"/>
                <a:cs typeface="Trebuchet MS" pitchFamily="34" charset="-120"/>
              </a:rPr>
              <a:t>EPC</a:t>
            </a:r>
            <a:endParaRPr lang="en-US" sz="950" dirty="0">
              <a:solidFill>
                <a:prstClr val="black"/>
              </a:solidFill>
            </a:endParaRPr>
          </a:p>
        </p:txBody>
      </p:sp>
      <p:sp>
        <p:nvSpPr>
          <p:cNvPr id="73" name="Project card">
            <a:extLst>
              <a:ext uri="{C183D7F6-B498-43B3-948B-1728B52AA6E4}">
                <adec:decorative xmlns="" xmlns:adec="http://schemas.microsoft.com/office/drawing/2017/decorative" val="1"/>
              </a:ext>
            </a:extLst>
          </p:cNvPr>
          <p:cNvSpPr/>
          <p:nvPr/>
        </p:nvSpPr>
        <p:spPr>
          <a:xfrm>
            <a:off x="4754880" y="1289304"/>
            <a:ext cx="3931920" cy="1664208"/>
          </a:xfrm>
          <a:prstGeom prst="rect">
            <a:avLst/>
          </a:prstGeom>
          <a:solidFill>
            <a:schemeClr val="bg1"/>
          </a:solidFill>
          <a:ln w="12700">
            <a:solidFill>
              <a:srgbClr val="E2D6C3"/>
            </a:solidFill>
            <a:prstDash val="solid"/>
          </a:ln>
        </p:spPr>
      </p:sp>
      <p:sp>
        <p:nvSpPr>
          <p:cNvPr id="74" name="Card edge accent">
            <a:extLst>
              <a:ext uri="{C183D7F6-B498-43B3-948B-1728B52AA6E4}">
                <adec:decorative xmlns="" xmlns:adec="http://schemas.microsoft.com/office/drawing/2017/decorative" val="1"/>
              </a:ext>
            </a:extLst>
          </p:cNvPr>
          <p:cNvSpPr/>
          <p:nvPr/>
        </p:nvSpPr>
        <p:spPr>
          <a:xfrm>
            <a:off x="4754880" y="1289304"/>
            <a:ext cx="64008" cy="1664208"/>
          </a:xfrm>
          <a:prstGeom prst="rect">
            <a:avLst/>
          </a:prstGeom>
          <a:solidFill>
            <a:schemeClr val="accent2">
              <a:lumMod val="75000"/>
            </a:schemeClr>
          </a:solidFill>
          <a:ln/>
        </p:spPr>
      </p:sp>
      <p:sp>
        <p:nvSpPr>
          <p:cNvPr id="75" name="Text 29"/>
          <p:cNvSpPr/>
          <p:nvPr/>
        </p:nvSpPr>
        <p:spPr>
          <a:xfrm>
            <a:off x="5010912" y="1435608"/>
            <a:ext cx="566928" cy="365760"/>
          </a:xfrm>
          <a:prstGeom prst="rect">
            <a:avLst/>
          </a:prstGeom>
          <a:noFill/>
          <a:ln/>
        </p:spPr>
        <p:txBody>
          <a:bodyPr wrap="square" lIns="0" tIns="0" rIns="0" bIns="0" rtlCol="0" anchor="ctr"/>
          <a:lstStyle/>
          <a:p>
            <a:pPr marL="0" indent="0">
              <a:buNone/>
            </a:pPr>
            <a:r>
              <a:rPr lang="en-US" sz="1900" b="1" dirty="0" smtClean="0">
                <a:solidFill>
                  <a:schemeClr val="accent2">
                    <a:lumMod val="75000"/>
                  </a:schemeClr>
                </a:solidFill>
                <a:latin typeface="Georgia" pitchFamily="34" charset="0"/>
              </a:rPr>
              <a:t>10</a:t>
            </a:r>
            <a:endParaRPr lang="en-US" sz="1900" dirty="0">
              <a:solidFill>
                <a:schemeClr val="accent2">
                  <a:lumMod val="75000"/>
                </a:schemeClr>
              </a:solidFill>
            </a:endParaRPr>
          </a:p>
        </p:txBody>
      </p:sp>
      <p:sp>
        <p:nvSpPr>
          <p:cNvPr id="76" name="Text 30"/>
          <p:cNvSpPr/>
          <p:nvPr/>
        </p:nvSpPr>
        <p:spPr>
          <a:xfrm>
            <a:off x="5623560" y="1453896"/>
            <a:ext cx="2880360" cy="365760"/>
          </a:xfrm>
          <a:prstGeom prst="rect">
            <a:avLst/>
          </a:prstGeom>
          <a:noFill/>
          <a:ln/>
        </p:spPr>
        <p:txBody>
          <a:bodyPr wrap="square" lIns="0" tIns="0" rIns="0" bIns="0" rtlCol="0" anchor="ctr"/>
          <a:lstStyle/>
          <a:p>
            <a:pPr marL="0" indent="0">
              <a:buNone/>
            </a:pPr>
            <a:r>
              <a:rPr lang="en-US" sz="1350" b="1" dirty="0" smtClean="0">
                <a:latin typeface="Georgia" pitchFamily="34" charset="0"/>
              </a:rPr>
              <a:t>Solar off </a:t>
            </a:r>
            <a:r>
              <a:rPr lang="en-US" sz="1350" b="1" dirty="0" smtClean="0">
                <a:latin typeface="Georgia" pitchFamily="34" charset="0"/>
              </a:rPr>
              <a:t>Grid </a:t>
            </a:r>
            <a:r>
              <a:rPr lang="en-US" sz="1350" b="1" dirty="0" smtClean="0">
                <a:latin typeface="Georgia" pitchFamily="34" charset="0"/>
              </a:rPr>
              <a:t>containers for weather monitoring </a:t>
            </a:r>
            <a:r>
              <a:rPr lang="en-US" sz="1350" b="1" dirty="0" smtClean="0">
                <a:latin typeface="Georgia" pitchFamily="34" charset="0"/>
              </a:rPr>
              <a:t>systems (BESS)</a:t>
            </a:r>
            <a:endParaRPr lang="en-US" sz="1350" dirty="0"/>
          </a:p>
        </p:txBody>
      </p:sp>
      <p:sp>
        <p:nvSpPr>
          <p:cNvPr id="77" name="Card divider">
            <a:extLst>
              <a:ext uri="{C183D7F6-B498-43B3-948B-1728B52AA6E4}">
                <adec:decorative xmlns="" xmlns:adec="http://schemas.microsoft.com/office/drawing/2017/decorative" val="1"/>
              </a:ext>
            </a:extLst>
          </p:cNvPr>
          <p:cNvSpPr/>
          <p:nvPr/>
        </p:nvSpPr>
        <p:spPr>
          <a:xfrm>
            <a:off x="5623560" y="1911096"/>
            <a:ext cx="2880360" cy="13716"/>
          </a:xfrm>
          <a:prstGeom prst="rect">
            <a:avLst/>
          </a:prstGeom>
          <a:solidFill>
            <a:srgbClr val="D5C9B5"/>
          </a:solidFill>
          <a:ln/>
        </p:spPr>
      </p:sp>
      <p:sp>
        <p:nvSpPr>
          <p:cNvPr id="78" name="Text 32"/>
          <p:cNvSpPr/>
          <p:nvPr/>
        </p:nvSpPr>
        <p:spPr>
          <a:xfrm>
            <a:off x="5623560" y="2020824"/>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79" name="Text 34"/>
          <p:cNvSpPr/>
          <p:nvPr/>
        </p:nvSpPr>
        <p:spPr>
          <a:xfrm>
            <a:off x="5623560" y="2286000"/>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80" name="Text 36"/>
          <p:cNvSpPr/>
          <p:nvPr/>
        </p:nvSpPr>
        <p:spPr>
          <a:xfrm>
            <a:off x="5623560" y="2551176"/>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81" name="TextBox 80"/>
          <p:cNvSpPr txBox="1"/>
          <p:nvPr/>
        </p:nvSpPr>
        <p:spPr>
          <a:xfrm>
            <a:off x="6400800" y="2002536"/>
            <a:ext cx="1630019" cy="238527"/>
          </a:xfrm>
          <a:prstGeom prst="rect">
            <a:avLst/>
          </a:prstGeom>
          <a:noFill/>
        </p:spPr>
        <p:txBody>
          <a:bodyPr wrap="square" rtlCol="0">
            <a:spAutoFit/>
          </a:bodyPr>
          <a:lstStyle/>
          <a:p>
            <a:pPr lvl="0"/>
            <a:r>
              <a:rPr lang="en-US" sz="950" b="1" dirty="0" smtClean="0">
                <a:solidFill>
                  <a:srgbClr val="2B2926"/>
                </a:solidFill>
                <a:latin typeface="Trebuchet MS" pitchFamily="34" charset="0"/>
                <a:ea typeface="Trebuchet MS" pitchFamily="34" charset="-122"/>
                <a:cs typeface="Trebuchet MS" pitchFamily="34" charset="-120"/>
              </a:rPr>
              <a:t>-</a:t>
            </a:r>
            <a:endParaRPr lang="en-US" sz="950" dirty="0">
              <a:solidFill>
                <a:prstClr val="black"/>
              </a:solidFill>
            </a:endParaRPr>
          </a:p>
        </p:txBody>
      </p:sp>
      <p:sp>
        <p:nvSpPr>
          <p:cNvPr id="82" name="TextBox 81"/>
          <p:cNvSpPr txBox="1"/>
          <p:nvPr/>
        </p:nvSpPr>
        <p:spPr>
          <a:xfrm>
            <a:off x="6398021" y="2261363"/>
            <a:ext cx="2019629" cy="238527"/>
          </a:xfrm>
          <a:prstGeom prst="rect">
            <a:avLst/>
          </a:prstGeom>
          <a:noFill/>
        </p:spPr>
        <p:txBody>
          <a:bodyPr wrap="square" rtlCol="0">
            <a:spAutoFit/>
          </a:bodyPr>
          <a:lstStyle/>
          <a:p>
            <a:pPr lvl="0"/>
            <a:r>
              <a:rPr lang="en-US" sz="950" dirty="0">
                <a:solidFill>
                  <a:srgbClr val="45413B"/>
                </a:solidFill>
                <a:latin typeface="Trebuchet MS" pitchFamily="34" charset="0"/>
                <a:ea typeface="Trebuchet MS" pitchFamily="34" charset="-122"/>
                <a:cs typeface="Trebuchet MS" pitchFamily="34" charset="-120"/>
              </a:rPr>
              <a:t>Jeddah, Saudi Arabia</a:t>
            </a:r>
            <a:endParaRPr lang="en-US" sz="950" dirty="0">
              <a:solidFill>
                <a:prstClr val="black"/>
              </a:solidFill>
            </a:endParaRPr>
          </a:p>
        </p:txBody>
      </p:sp>
      <p:sp>
        <p:nvSpPr>
          <p:cNvPr id="83" name="TextBox 82"/>
          <p:cNvSpPr txBox="1"/>
          <p:nvPr/>
        </p:nvSpPr>
        <p:spPr>
          <a:xfrm>
            <a:off x="6373172" y="2497358"/>
            <a:ext cx="2069326" cy="238527"/>
          </a:xfrm>
          <a:prstGeom prst="rect">
            <a:avLst/>
          </a:prstGeom>
          <a:noFill/>
        </p:spPr>
        <p:txBody>
          <a:bodyPr wrap="square" rtlCol="0">
            <a:spAutoFit/>
          </a:bodyPr>
          <a:lstStyle/>
          <a:p>
            <a:pPr lvl="0"/>
            <a:r>
              <a:rPr lang="en-US" sz="950" dirty="0" smtClean="0">
                <a:solidFill>
                  <a:srgbClr val="45413B"/>
                </a:solidFill>
                <a:latin typeface="Trebuchet MS" pitchFamily="34" charset="0"/>
                <a:ea typeface="Trebuchet MS" pitchFamily="34" charset="-122"/>
                <a:cs typeface="Trebuchet MS" pitchFamily="34" charset="-120"/>
              </a:rPr>
              <a:t>Turnkey </a:t>
            </a:r>
            <a:r>
              <a:rPr lang="en-US" sz="950" dirty="0">
                <a:solidFill>
                  <a:srgbClr val="45413B"/>
                </a:solidFill>
                <a:latin typeface="Trebuchet MS" pitchFamily="34" charset="0"/>
                <a:ea typeface="Trebuchet MS" pitchFamily="34" charset="-122"/>
                <a:cs typeface="Trebuchet MS" pitchFamily="34" charset="-120"/>
              </a:rPr>
              <a:t>EPC</a:t>
            </a:r>
            <a:endParaRPr lang="en-US" sz="950" dirty="0">
              <a:solidFill>
                <a:prstClr val="black"/>
              </a:solidFill>
            </a:endParaRPr>
          </a:p>
        </p:txBody>
      </p:sp>
      <p:sp>
        <p:nvSpPr>
          <p:cNvPr id="84" name="Project card">
            <a:extLst>
              <a:ext uri="{C183D7F6-B498-43B3-948B-1728B52AA6E4}">
                <adec:decorative xmlns="" xmlns:adec="http://schemas.microsoft.com/office/drawing/2017/decorative" val="1"/>
              </a:ext>
            </a:extLst>
          </p:cNvPr>
          <p:cNvSpPr/>
          <p:nvPr/>
        </p:nvSpPr>
        <p:spPr>
          <a:xfrm>
            <a:off x="4762169" y="3136392"/>
            <a:ext cx="3931920" cy="1664208"/>
          </a:xfrm>
          <a:prstGeom prst="rect">
            <a:avLst/>
          </a:prstGeom>
          <a:solidFill>
            <a:schemeClr val="bg1"/>
          </a:solidFill>
          <a:ln w="12700">
            <a:solidFill>
              <a:srgbClr val="E2D6C3"/>
            </a:solidFill>
            <a:prstDash val="solid"/>
          </a:ln>
        </p:spPr>
      </p:sp>
      <p:sp>
        <p:nvSpPr>
          <p:cNvPr id="85" name="Card edge accent">
            <a:extLst>
              <a:ext uri="{C183D7F6-B498-43B3-948B-1728B52AA6E4}">
                <adec:decorative xmlns="" xmlns:adec="http://schemas.microsoft.com/office/drawing/2017/decorative" val="1"/>
              </a:ext>
            </a:extLst>
          </p:cNvPr>
          <p:cNvSpPr/>
          <p:nvPr/>
        </p:nvSpPr>
        <p:spPr>
          <a:xfrm>
            <a:off x="4762169" y="3136392"/>
            <a:ext cx="64008" cy="1664208"/>
          </a:xfrm>
          <a:prstGeom prst="rect">
            <a:avLst/>
          </a:prstGeom>
          <a:solidFill>
            <a:schemeClr val="accent2">
              <a:lumMod val="75000"/>
            </a:schemeClr>
          </a:solidFill>
          <a:ln/>
        </p:spPr>
      </p:sp>
      <p:sp>
        <p:nvSpPr>
          <p:cNvPr id="86" name="Text 29"/>
          <p:cNvSpPr/>
          <p:nvPr/>
        </p:nvSpPr>
        <p:spPr>
          <a:xfrm>
            <a:off x="5018201" y="3282696"/>
            <a:ext cx="566928" cy="365760"/>
          </a:xfrm>
          <a:prstGeom prst="rect">
            <a:avLst/>
          </a:prstGeom>
          <a:noFill/>
          <a:ln/>
        </p:spPr>
        <p:txBody>
          <a:bodyPr wrap="square" lIns="0" tIns="0" rIns="0" bIns="0" rtlCol="0" anchor="ctr"/>
          <a:lstStyle/>
          <a:p>
            <a:pPr marL="0" indent="0">
              <a:buNone/>
            </a:pPr>
            <a:r>
              <a:rPr lang="en-US" sz="1900" b="1" dirty="0" smtClean="0">
                <a:solidFill>
                  <a:schemeClr val="accent2">
                    <a:lumMod val="75000"/>
                  </a:schemeClr>
                </a:solidFill>
                <a:latin typeface="Georgia" pitchFamily="34" charset="0"/>
              </a:rPr>
              <a:t>12</a:t>
            </a:r>
            <a:endParaRPr lang="en-US" sz="1900" dirty="0">
              <a:solidFill>
                <a:schemeClr val="accent2">
                  <a:lumMod val="75000"/>
                </a:schemeClr>
              </a:solidFill>
            </a:endParaRPr>
          </a:p>
        </p:txBody>
      </p:sp>
      <p:sp>
        <p:nvSpPr>
          <p:cNvPr id="87" name="Text 30"/>
          <p:cNvSpPr/>
          <p:nvPr/>
        </p:nvSpPr>
        <p:spPr>
          <a:xfrm>
            <a:off x="5630849" y="3300984"/>
            <a:ext cx="2880360" cy="365760"/>
          </a:xfrm>
          <a:prstGeom prst="rect">
            <a:avLst/>
          </a:prstGeom>
          <a:noFill/>
          <a:ln/>
        </p:spPr>
        <p:txBody>
          <a:bodyPr wrap="square" lIns="0" tIns="0" rIns="0" bIns="0" rtlCol="0" anchor="ctr"/>
          <a:lstStyle/>
          <a:p>
            <a:pPr marL="0" indent="0">
              <a:buNone/>
            </a:pPr>
            <a:r>
              <a:rPr lang="en-US" sz="1350" b="1" dirty="0" smtClean="0">
                <a:latin typeface="Georgia" pitchFamily="34" charset="0"/>
              </a:rPr>
              <a:t>STC – </a:t>
            </a:r>
            <a:r>
              <a:rPr lang="en-US" sz="1350" b="1" dirty="0" smtClean="0">
                <a:latin typeface="Georgia" pitchFamily="34" charset="0"/>
              </a:rPr>
              <a:t>Parking Area  </a:t>
            </a:r>
            <a:endParaRPr lang="en-US" sz="1350" dirty="0"/>
          </a:p>
        </p:txBody>
      </p:sp>
      <p:sp>
        <p:nvSpPr>
          <p:cNvPr id="88" name="Card divider">
            <a:extLst>
              <a:ext uri="{C183D7F6-B498-43B3-948B-1728B52AA6E4}">
                <adec:decorative xmlns="" xmlns:adec="http://schemas.microsoft.com/office/drawing/2017/decorative" val="1"/>
              </a:ext>
            </a:extLst>
          </p:cNvPr>
          <p:cNvSpPr/>
          <p:nvPr/>
        </p:nvSpPr>
        <p:spPr>
          <a:xfrm>
            <a:off x="5630849" y="3758184"/>
            <a:ext cx="2880360" cy="13716"/>
          </a:xfrm>
          <a:prstGeom prst="rect">
            <a:avLst/>
          </a:prstGeom>
          <a:solidFill>
            <a:srgbClr val="D5C9B5"/>
          </a:solidFill>
          <a:ln/>
        </p:spPr>
      </p:sp>
      <p:sp>
        <p:nvSpPr>
          <p:cNvPr id="89" name="Text 32"/>
          <p:cNvSpPr/>
          <p:nvPr/>
        </p:nvSpPr>
        <p:spPr>
          <a:xfrm>
            <a:off x="5630849" y="3867912"/>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Capacity</a:t>
            </a:r>
            <a:endParaRPr lang="en-US" sz="950" dirty="0"/>
          </a:p>
        </p:txBody>
      </p:sp>
      <p:sp>
        <p:nvSpPr>
          <p:cNvPr id="90" name="Text 34"/>
          <p:cNvSpPr/>
          <p:nvPr/>
        </p:nvSpPr>
        <p:spPr>
          <a:xfrm>
            <a:off x="5630849" y="4133088"/>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Location</a:t>
            </a:r>
            <a:endParaRPr lang="en-US" sz="950" dirty="0"/>
          </a:p>
        </p:txBody>
      </p:sp>
      <p:sp>
        <p:nvSpPr>
          <p:cNvPr id="91" name="Text 36"/>
          <p:cNvSpPr/>
          <p:nvPr/>
        </p:nvSpPr>
        <p:spPr>
          <a:xfrm>
            <a:off x="5630849" y="4398264"/>
            <a:ext cx="731520" cy="219456"/>
          </a:xfrm>
          <a:prstGeom prst="rect">
            <a:avLst/>
          </a:prstGeom>
          <a:noFill/>
          <a:ln/>
        </p:spPr>
        <p:txBody>
          <a:bodyPr wrap="square" lIns="0" tIns="0" rIns="0" bIns="0" rtlCol="0" anchor="ctr"/>
          <a:lstStyle/>
          <a:p>
            <a:pPr marL="0" indent="0">
              <a:buNone/>
            </a:pPr>
            <a:r>
              <a:rPr lang="en-US" sz="950" b="1" dirty="0">
                <a:solidFill>
                  <a:srgbClr val="A99D88"/>
                </a:solidFill>
                <a:latin typeface="Trebuchet MS" pitchFamily="34" charset="0"/>
                <a:ea typeface="Trebuchet MS" pitchFamily="34" charset="-122"/>
                <a:cs typeface="Trebuchet MS" pitchFamily="34" charset="-120"/>
              </a:rPr>
              <a:t>Scope</a:t>
            </a:r>
            <a:endParaRPr lang="en-US" sz="950" dirty="0"/>
          </a:p>
        </p:txBody>
      </p:sp>
      <p:sp>
        <p:nvSpPr>
          <p:cNvPr id="92" name="TextBox 91"/>
          <p:cNvSpPr txBox="1"/>
          <p:nvPr/>
        </p:nvSpPr>
        <p:spPr>
          <a:xfrm>
            <a:off x="6408089" y="3849624"/>
            <a:ext cx="1630019" cy="238527"/>
          </a:xfrm>
          <a:prstGeom prst="rect">
            <a:avLst/>
          </a:prstGeom>
          <a:noFill/>
        </p:spPr>
        <p:txBody>
          <a:bodyPr wrap="square" rtlCol="0">
            <a:spAutoFit/>
          </a:bodyPr>
          <a:lstStyle/>
          <a:p>
            <a:pPr lvl="0"/>
            <a:r>
              <a:rPr lang="en-US" sz="950" b="1" dirty="0" smtClean="0">
                <a:solidFill>
                  <a:srgbClr val="2B2926"/>
                </a:solidFill>
                <a:latin typeface="Trebuchet MS" pitchFamily="34" charset="0"/>
                <a:ea typeface="Trebuchet MS" pitchFamily="34" charset="-122"/>
                <a:cs typeface="Trebuchet MS" pitchFamily="34" charset="-120"/>
              </a:rPr>
              <a:t>100</a:t>
            </a:r>
            <a:r>
              <a:rPr lang="en-US" sz="950" b="1" dirty="0" smtClean="0">
                <a:solidFill>
                  <a:srgbClr val="2B2926"/>
                </a:solidFill>
                <a:latin typeface="Trebuchet MS" pitchFamily="34" charset="0"/>
                <a:ea typeface="Trebuchet MS" pitchFamily="34" charset="-122"/>
                <a:cs typeface="Trebuchet MS" pitchFamily="34" charset="-120"/>
              </a:rPr>
              <a:t> </a:t>
            </a:r>
            <a:r>
              <a:rPr lang="en-US" sz="950" b="1" dirty="0" err="1" smtClean="0">
                <a:solidFill>
                  <a:srgbClr val="2B2926"/>
                </a:solidFill>
                <a:latin typeface="Trebuchet MS" pitchFamily="34" charset="0"/>
                <a:ea typeface="Trebuchet MS" pitchFamily="34" charset="-122"/>
                <a:cs typeface="Trebuchet MS" pitchFamily="34" charset="-120"/>
              </a:rPr>
              <a:t>KWp</a:t>
            </a:r>
            <a:endParaRPr lang="en-US" sz="950" dirty="0">
              <a:solidFill>
                <a:prstClr val="black"/>
              </a:solidFill>
            </a:endParaRPr>
          </a:p>
        </p:txBody>
      </p:sp>
      <p:sp>
        <p:nvSpPr>
          <p:cNvPr id="93" name="TextBox 92"/>
          <p:cNvSpPr txBox="1"/>
          <p:nvPr/>
        </p:nvSpPr>
        <p:spPr>
          <a:xfrm>
            <a:off x="6405310" y="4108451"/>
            <a:ext cx="2019629" cy="238527"/>
          </a:xfrm>
          <a:prstGeom prst="rect">
            <a:avLst/>
          </a:prstGeom>
          <a:noFill/>
        </p:spPr>
        <p:txBody>
          <a:bodyPr wrap="square" rtlCol="0">
            <a:spAutoFit/>
          </a:bodyPr>
          <a:lstStyle/>
          <a:p>
            <a:pPr lvl="0"/>
            <a:r>
              <a:rPr lang="en-US" sz="950" dirty="0">
                <a:solidFill>
                  <a:srgbClr val="45413B"/>
                </a:solidFill>
                <a:latin typeface="Trebuchet MS" pitchFamily="34" charset="0"/>
                <a:ea typeface="Trebuchet MS" pitchFamily="34" charset="-122"/>
                <a:cs typeface="Trebuchet MS" pitchFamily="34" charset="-120"/>
              </a:rPr>
              <a:t>Jeddah, Saudi Arabia</a:t>
            </a:r>
            <a:endParaRPr lang="en-US" sz="950" dirty="0">
              <a:solidFill>
                <a:prstClr val="black"/>
              </a:solidFill>
            </a:endParaRPr>
          </a:p>
        </p:txBody>
      </p:sp>
      <p:sp>
        <p:nvSpPr>
          <p:cNvPr id="94" name="TextBox 93"/>
          <p:cNvSpPr txBox="1"/>
          <p:nvPr/>
        </p:nvSpPr>
        <p:spPr>
          <a:xfrm>
            <a:off x="6380461" y="4344446"/>
            <a:ext cx="2069326" cy="238527"/>
          </a:xfrm>
          <a:prstGeom prst="rect">
            <a:avLst/>
          </a:prstGeom>
          <a:noFill/>
        </p:spPr>
        <p:txBody>
          <a:bodyPr wrap="square" rtlCol="0">
            <a:spAutoFit/>
          </a:bodyPr>
          <a:lstStyle/>
          <a:p>
            <a:pPr lvl="0"/>
            <a:r>
              <a:rPr lang="en-US" sz="950">
                <a:solidFill>
                  <a:srgbClr val="45413B"/>
                </a:solidFill>
                <a:latin typeface="Trebuchet MS" pitchFamily="34" charset="0"/>
                <a:ea typeface="Trebuchet MS" pitchFamily="34" charset="-122"/>
                <a:cs typeface="Trebuchet MS" pitchFamily="34" charset="-120"/>
              </a:rPr>
              <a:t>Rooftop solar PV · Turnkey EPC</a:t>
            </a:r>
            <a:endParaRPr lang="en-US" sz="950" dirty="0">
              <a:solidFill>
                <a:prstClr val="black"/>
              </a:solidFill>
            </a:endParaRPr>
          </a:p>
        </p:txBody>
      </p:sp>
    </p:spTree>
    <p:extLst>
      <p:ext uri="{BB962C8B-B14F-4D97-AF65-F5344CB8AC3E}">
        <p14:creationId xmlns:p14="http://schemas.microsoft.com/office/powerpoint/2010/main" val="1440090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a:extLst>
              <a:ext uri="{C183D7F6-B498-43B3-948B-1728B52AA6E4}">
                <adec:decorative xmlns="" xmlns:adec="http://schemas.microsoft.com/office/drawing/2017/decorative" val="1"/>
              </a:ext>
            </a:extLst>
          </p:cNvPr>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01</a:t>
            </a:r>
            <a:endParaRPr lang="en-US" sz="1000" dirty="0"/>
          </a:p>
        </p:txBody>
      </p:sp>
      <p:sp>
        <p:nvSpPr>
          <p:cNvPr id="4" name="Text 2"/>
          <p:cNvSpPr/>
          <p:nvPr/>
        </p:nvSpPr>
        <p:spPr>
          <a:xfrm>
            <a:off x="548640" y="658368"/>
            <a:ext cx="5120640" cy="457200"/>
          </a:xfrm>
          <a:prstGeom prst="rect">
            <a:avLst/>
          </a:prstGeom>
          <a:noFill/>
          <a:ln/>
        </p:spPr>
        <p:txBody>
          <a:bodyPr wrap="square" lIns="0" tIns="0" rIns="0" bIns="0" rtlCol="0" anchor="ctr"/>
          <a:lstStyle/>
          <a:p>
            <a:pPr marL="0" indent="0">
              <a:buNone/>
            </a:pPr>
            <a:r>
              <a:rPr lang="en-US" sz="2100" b="1" dirty="0">
                <a:solidFill>
                  <a:srgbClr val="2B2926"/>
                </a:solidFill>
                <a:latin typeface="Georgia" pitchFamily="34" charset="0"/>
                <a:ea typeface="Georgia" pitchFamily="34" charset="-122"/>
                <a:cs typeface="Georgia" pitchFamily="34" charset="-120"/>
              </a:rPr>
              <a:t>Amazon Jeddah Solar PV</a:t>
            </a: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2.0 MWp · Jeddah, Saudi Arabia</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txBody>
          <a:bodyPr/>
          <a:lstStyle/>
          <a:p>
            <a:endParaRPr lang="en-US"/>
          </a:p>
        </p:txBody>
      </p:sp>
      <p:sp>
        <p:nvSpPr>
          <p:cNvPr id="7" name="Image placeholder frame">
            <a:extLst>
              <a:ext uri="{C183D7F6-B498-43B3-948B-1728B52AA6E4}">
                <adec:decorative xmlns="" xmlns:adec="http://schemas.microsoft.com/office/drawing/2017/decorative" val="1"/>
              </a:ext>
            </a:extLst>
          </p:cNvPr>
          <p:cNvSpPr/>
          <p:nvPr/>
        </p:nvSpPr>
        <p:spPr>
          <a:xfrm>
            <a:off x="548640" y="1371600"/>
            <a:ext cx="4343400" cy="3200400"/>
          </a:xfrm>
          <a:prstGeom prst="rect">
            <a:avLst/>
          </a:prstGeom>
          <a:solidFill>
            <a:srgbClr val="E4DACA"/>
          </a:solidFill>
          <a:ln w="12700">
            <a:solidFill>
              <a:srgbClr val="CBBDA6"/>
            </a:solidFill>
            <a:prstDash val="dash"/>
          </a:ln>
        </p:spPr>
        <p:txBody>
          <a:bodyPr/>
          <a:lstStyle/>
          <a:p>
            <a:endParaRPr lang="en-US"/>
          </a:p>
        </p:txBody>
      </p:sp>
      <p:sp>
        <p:nvSpPr>
          <p:cNvPr id="8" name="Placeholder mark">
            <a:extLst>
              <a:ext uri="{C183D7F6-B498-43B3-948B-1728B52AA6E4}">
                <adec:decorative xmlns="" xmlns:adec="http://schemas.microsoft.com/office/drawing/2017/decorative" val="1"/>
              </a:ext>
            </a:extLst>
          </p:cNvPr>
          <p:cNvSpPr/>
          <p:nvPr/>
        </p:nvSpPr>
        <p:spPr>
          <a:xfrm>
            <a:off x="2574036" y="2715768"/>
            <a:ext cx="292608" cy="32004"/>
          </a:xfrm>
          <a:prstGeom prst="rect">
            <a:avLst/>
          </a:prstGeom>
          <a:solidFill>
            <a:srgbClr val="B4632B"/>
          </a:solidFill>
          <a:ln/>
        </p:spPr>
        <p:txBody>
          <a:bodyPr/>
          <a:lstStyle/>
          <a:p>
            <a:endParaRPr lang="en-US"/>
          </a:p>
        </p:txBody>
      </p:sp>
      <p:sp>
        <p:nvSpPr>
          <p:cNvPr id="9" name="Text 7">
            <a:extLst>
              <a:ext uri="{C183D7F6-B498-43B3-948B-1728B52AA6E4}">
                <adec:decorative xmlns="" xmlns:adec="http://schemas.microsoft.com/office/drawing/2017/decorative" val="1"/>
              </a:ext>
            </a:extLst>
          </p:cNvPr>
          <p:cNvSpPr/>
          <p:nvPr/>
        </p:nvSpPr>
        <p:spPr>
          <a:xfrm>
            <a:off x="685800" y="2825496"/>
            <a:ext cx="406908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project image here</a:t>
            </a:r>
            <a:endParaRPr lang="en-US" sz="1050" dirty="0"/>
          </a:p>
        </p:txBody>
      </p:sp>
      <p:sp>
        <p:nvSpPr>
          <p:cNvPr id="10" name="Text 8"/>
          <p:cNvSpPr/>
          <p:nvPr/>
        </p:nvSpPr>
        <p:spPr>
          <a:xfrm>
            <a:off x="5166360" y="137160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PROJECT DESCRIPTION</a:t>
            </a:r>
            <a:endParaRPr lang="en-US" sz="950" dirty="0"/>
          </a:p>
        </p:txBody>
      </p:sp>
      <p:sp>
        <p:nvSpPr>
          <p:cNvPr id="11" name="Description box">
            <a:extLst>
              <a:ext uri="{C183D7F6-B498-43B3-948B-1728B52AA6E4}">
                <adec:decorative xmlns="" xmlns:adec="http://schemas.microsoft.com/office/drawing/2017/decorative" val="1"/>
              </a:ext>
            </a:extLst>
          </p:cNvPr>
          <p:cNvSpPr/>
          <p:nvPr/>
        </p:nvSpPr>
        <p:spPr>
          <a:xfrm>
            <a:off x="5166360" y="1645920"/>
            <a:ext cx="3429000" cy="1417320"/>
          </a:xfrm>
          <a:prstGeom prst="rect">
            <a:avLst/>
          </a:prstGeom>
          <a:solidFill>
            <a:srgbClr val="FFFFFF"/>
          </a:solidFill>
          <a:ln w="12700">
            <a:solidFill>
              <a:srgbClr val="E0D5C2"/>
            </a:solidFill>
            <a:prstDash val="solid"/>
          </a:ln>
        </p:spPr>
        <p:txBody>
          <a:bodyPr/>
          <a:lstStyle/>
          <a:p>
            <a:endParaRPr lang="en-US"/>
          </a:p>
        </p:txBody>
      </p:sp>
      <p:sp>
        <p:nvSpPr>
          <p:cNvPr id="12" name="Text 10"/>
          <p:cNvSpPr/>
          <p:nvPr/>
        </p:nvSpPr>
        <p:spPr>
          <a:xfrm>
            <a:off x="5330952" y="1773936"/>
            <a:ext cx="3099816" cy="1161288"/>
          </a:xfrm>
          <a:prstGeom prst="rect">
            <a:avLst/>
          </a:prstGeom>
          <a:noFill/>
          <a:ln/>
        </p:spPr>
        <p:txBody>
          <a:bodyPr wrap="square" lIns="0" tIns="0" rIns="0" bIns="0" rtlCol="0" anchor="ctr"/>
          <a:lstStyle/>
          <a:p>
            <a:pPr marL="0" indent="0">
              <a:lnSpc>
                <a:spcPts val="1500"/>
              </a:lnSpc>
              <a:buNone/>
            </a:pPr>
            <a:r>
              <a:rPr lang="en-US" sz="1050" i="1" dirty="0" smtClean="0">
                <a:latin typeface="Trebuchet MS" pitchFamily="34" charset="0"/>
                <a:ea typeface="Trebuchet MS" pitchFamily="34" charset="-122"/>
                <a:cs typeface="Trebuchet MS" pitchFamily="34" charset="-120"/>
              </a:rPr>
              <a:t>A Rooftop Solar PV project at Amazon, Jeddah, Saudi Arabia. Delivered as a Turnkey EPC project to support clean and renewable energy generation. </a:t>
            </a:r>
            <a:endParaRPr lang="en-US" sz="1050" dirty="0"/>
          </a:p>
        </p:txBody>
      </p:sp>
      <p:sp>
        <p:nvSpPr>
          <p:cNvPr id="13" name="Text 11">
            <a:extLst>
              <a:ext uri="{C183D7F6-B498-43B3-948B-1728B52AA6E4}">
                <adec:decorative xmlns="" xmlns:adec="http://schemas.microsoft.com/office/drawing/2017/decorative" val="1"/>
              </a:ext>
            </a:extLst>
          </p:cNvPr>
          <p:cNvSpPr/>
          <p:nvPr/>
        </p:nvSpPr>
        <p:spPr>
          <a:xfrm>
            <a:off x="5166360" y="315468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KEY FACTS</a:t>
            </a:r>
            <a:endParaRPr lang="en-US" sz="950" dirty="0"/>
          </a:p>
        </p:txBody>
      </p:sp>
      <p:sp>
        <p:nvSpPr>
          <p:cNvPr id="14" name="Text 12"/>
          <p:cNvSpPr/>
          <p:nvPr/>
        </p:nvSpPr>
        <p:spPr>
          <a:xfrm>
            <a:off x="5166360" y="3483864"/>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Capacity</a:t>
            </a:r>
            <a:endParaRPr lang="en-US" sz="1000" dirty="0"/>
          </a:p>
        </p:txBody>
      </p:sp>
      <p:sp>
        <p:nvSpPr>
          <p:cNvPr id="15" name="Text 13"/>
          <p:cNvSpPr/>
          <p:nvPr/>
        </p:nvSpPr>
        <p:spPr>
          <a:xfrm>
            <a:off x="6172200" y="3456432"/>
            <a:ext cx="2423160" cy="228600"/>
          </a:xfrm>
          <a:prstGeom prst="rect">
            <a:avLst/>
          </a:prstGeom>
          <a:noFill/>
          <a:ln/>
        </p:spPr>
        <p:txBody>
          <a:bodyPr wrap="square" lIns="0" tIns="0" rIns="0" bIns="0" rtlCol="0" anchor="ctr"/>
          <a:lstStyle/>
          <a:p>
            <a:pPr marL="0" indent="0">
              <a:buNone/>
            </a:pPr>
            <a:r>
              <a:rPr lang="en-US" sz="1000" dirty="0" smtClean="0">
                <a:solidFill>
                  <a:srgbClr val="45413B"/>
                </a:solidFill>
                <a:latin typeface="Trebuchet MS" pitchFamily="34" charset="0"/>
                <a:ea typeface="Trebuchet MS" pitchFamily="34" charset="-122"/>
                <a:cs typeface="Trebuchet MS" pitchFamily="34" charset="-120"/>
              </a:rPr>
              <a:t>2.06 </a:t>
            </a:r>
            <a:r>
              <a:rPr lang="en-US" sz="1000" dirty="0">
                <a:solidFill>
                  <a:srgbClr val="45413B"/>
                </a:solidFill>
                <a:latin typeface="Trebuchet MS" pitchFamily="34" charset="0"/>
                <a:ea typeface="Trebuchet MS" pitchFamily="34" charset="-122"/>
                <a:cs typeface="Trebuchet MS" pitchFamily="34" charset="-120"/>
              </a:rPr>
              <a:t>MWp</a:t>
            </a:r>
            <a:endParaRPr lang="en-US" sz="1000" dirty="0"/>
          </a:p>
        </p:txBody>
      </p:sp>
      <p:sp>
        <p:nvSpPr>
          <p:cNvPr id="16" name="Text 14"/>
          <p:cNvSpPr/>
          <p:nvPr/>
        </p:nvSpPr>
        <p:spPr>
          <a:xfrm>
            <a:off x="5166360" y="3739896"/>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Location</a:t>
            </a:r>
            <a:endParaRPr lang="en-US" sz="1000" dirty="0"/>
          </a:p>
        </p:txBody>
      </p:sp>
      <p:sp>
        <p:nvSpPr>
          <p:cNvPr id="17" name="Text 15"/>
          <p:cNvSpPr/>
          <p:nvPr/>
        </p:nvSpPr>
        <p:spPr>
          <a:xfrm>
            <a:off x="6172200" y="3739896"/>
            <a:ext cx="2423160" cy="228600"/>
          </a:xfrm>
          <a:prstGeom prst="rect">
            <a:avLst/>
          </a:prstGeom>
          <a:noFill/>
          <a:ln/>
        </p:spPr>
        <p:txBody>
          <a:bodyPr wrap="square" lIns="0" tIns="0" rIns="0" bIns="0" rtlCol="0" anchor="ctr"/>
          <a:lstStyle/>
          <a:p>
            <a:pPr marL="0" indent="0">
              <a:buNone/>
            </a:pPr>
            <a:r>
              <a:rPr lang="en-US" sz="1000" dirty="0">
                <a:solidFill>
                  <a:srgbClr val="45413B"/>
                </a:solidFill>
                <a:latin typeface="Trebuchet MS" pitchFamily="34" charset="0"/>
                <a:ea typeface="Trebuchet MS" pitchFamily="34" charset="-122"/>
                <a:cs typeface="Trebuchet MS" pitchFamily="34" charset="-120"/>
              </a:rPr>
              <a:t>Jeddah, Saudi Arabia</a:t>
            </a:r>
            <a:endParaRPr lang="en-US" sz="1000" dirty="0"/>
          </a:p>
        </p:txBody>
      </p:sp>
      <p:sp>
        <p:nvSpPr>
          <p:cNvPr id="18" name="Text 16"/>
          <p:cNvSpPr/>
          <p:nvPr/>
        </p:nvSpPr>
        <p:spPr>
          <a:xfrm>
            <a:off x="5166360" y="4023360"/>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Scope</a:t>
            </a:r>
            <a:endParaRPr lang="en-US" sz="1000" dirty="0"/>
          </a:p>
        </p:txBody>
      </p:sp>
      <p:sp>
        <p:nvSpPr>
          <p:cNvPr id="19" name="Text 17"/>
          <p:cNvSpPr/>
          <p:nvPr/>
        </p:nvSpPr>
        <p:spPr>
          <a:xfrm>
            <a:off x="6172200" y="4023360"/>
            <a:ext cx="2423160" cy="228600"/>
          </a:xfrm>
          <a:prstGeom prst="rect">
            <a:avLst/>
          </a:prstGeom>
          <a:noFill/>
          <a:ln/>
        </p:spPr>
        <p:txBody>
          <a:bodyPr wrap="square" lIns="0" tIns="0" rIns="0" bIns="0" rtlCol="0" anchor="ctr"/>
          <a:lstStyle/>
          <a:p>
            <a:pPr marL="0" indent="0">
              <a:buNone/>
            </a:pPr>
            <a:r>
              <a:rPr lang="en-US" sz="1000" dirty="0">
                <a:solidFill>
                  <a:srgbClr val="45413B"/>
                </a:solidFill>
                <a:latin typeface="Trebuchet MS" pitchFamily="34" charset="0"/>
                <a:ea typeface="Trebuchet MS" pitchFamily="34" charset="-122"/>
                <a:cs typeface="Trebuchet MS" pitchFamily="34" charset="-120"/>
              </a:rPr>
              <a:t>Turnkey EPC</a:t>
            </a:r>
            <a:endParaRPr lang="en-US" sz="1000" dirty="0"/>
          </a:p>
        </p:txBody>
      </p:sp>
      <p:sp>
        <p:nvSpPr>
          <p:cNvPr id="20" name="Text 18"/>
          <p:cNvSpPr/>
          <p:nvPr/>
        </p:nvSpPr>
        <p:spPr>
          <a:xfrm>
            <a:off x="5166360" y="4306824"/>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Status</a:t>
            </a:r>
            <a:endParaRPr lang="en-US" sz="1000" dirty="0"/>
          </a:p>
        </p:txBody>
      </p:sp>
      <p:sp>
        <p:nvSpPr>
          <p:cNvPr id="21" name="Text 19"/>
          <p:cNvSpPr/>
          <p:nvPr/>
        </p:nvSpPr>
        <p:spPr>
          <a:xfrm>
            <a:off x="6172200" y="4306824"/>
            <a:ext cx="2423160" cy="228600"/>
          </a:xfrm>
          <a:prstGeom prst="rect">
            <a:avLst/>
          </a:prstGeom>
          <a:noFill/>
          <a:ln/>
        </p:spPr>
        <p:txBody>
          <a:bodyPr wrap="square" lIns="0" tIns="0" rIns="0" bIns="0" rtlCol="0" anchor="ctr"/>
          <a:lstStyle/>
          <a:p>
            <a:pPr marL="0" indent="0">
              <a:buNone/>
            </a:pPr>
            <a:r>
              <a:rPr lang="en-US" sz="1000" dirty="0">
                <a:solidFill>
                  <a:srgbClr val="45413B"/>
                </a:solidFill>
                <a:latin typeface="Trebuchet MS" pitchFamily="34" charset="0"/>
                <a:ea typeface="Trebuchet MS" pitchFamily="34" charset="-122"/>
                <a:cs typeface="Trebuchet MS" pitchFamily="34" charset="-120"/>
              </a:rPr>
              <a:t>Completed</a:t>
            </a:r>
            <a:endParaRPr lang="en-US" sz="1000" dirty="0"/>
          </a:p>
        </p:txBody>
      </p:sp>
      <p:pic>
        <p:nvPicPr>
          <p:cNvPr id="24" name="Picture 23"/>
          <p:cNvPicPr>
            <a:picLocks noChangeAspect="1"/>
          </p:cNvPicPr>
          <p:nvPr/>
        </p:nvPicPr>
        <p:blipFill>
          <a:blip r:embed="rId3"/>
          <a:stretch>
            <a:fillRect/>
          </a:stretch>
        </p:blipFill>
        <p:spPr>
          <a:xfrm>
            <a:off x="548641" y="1368079"/>
            <a:ext cx="4343400" cy="320392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01  ·  SITE GALLERY</a:t>
            </a:r>
            <a:endParaRPr lang="en-US" sz="1000" dirty="0"/>
          </a:p>
        </p:txBody>
      </p:sp>
      <p:sp>
        <p:nvSpPr>
          <p:cNvPr id="4" name="Text 2"/>
          <p:cNvSpPr/>
          <p:nvPr/>
        </p:nvSpPr>
        <p:spPr>
          <a:xfrm>
            <a:off x="548640" y="658368"/>
            <a:ext cx="5120640" cy="457200"/>
          </a:xfrm>
          <a:prstGeom prst="rect">
            <a:avLst/>
          </a:prstGeom>
          <a:noFill/>
          <a:ln/>
        </p:spPr>
        <p:txBody>
          <a:bodyPr wrap="square" lIns="0" tIns="0" rIns="0" bIns="0" rtlCol="0" anchor="ctr"/>
          <a:lstStyle/>
          <a:p>
            <a:pPr marL="0" indent="0">
              <a:buNone/>
            </a:pPr>
            <a:r>
              <a:rPr lang="en-US" sz="2100" b="1" dirty="0">
                <a:solidFill>
                  <a:srgbClr val="2B2926"/>
                </a:solidFill>
                <a:latin typeface="Georgia" pitchFamily="34" charset="0"/>
                <a:ea typeface="Georgia" pitchFamily="34" charset="-122"/>
                <a:cs typeface="Georgia" pitchFamily="34" charset="-120"/>
              </a:rPr>
              <a:t>Amazon Jeddah Solar PV</a:t>
            </a: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Images &amp; delivery notes</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2560320" cy="196596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1682496" y="2098548"/>
            <a:ext cx="292608" cy="32004"/>
          </a:xfrm>
          <a:prstGeom prst="rect">
            <a:avLst/>
          </a:prstGeom>
          <a:solidFill>
            <a:srgbClr val="B4632B"/>
          </a:solidFill>
          <a:ln/>
        </p:spPr>
      </p:sp>
      <p:sp>
        <p:nvSpPr>
          <p:cNvPr id="9" name="Text 7"/>
          <p:cNvSpPr/>
          <p:nvPr/>
        </p:nvSpPr>
        <p:spPr>
          <a:xfrm>
            <a:off x="6858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0" name="Image placeholder frame">
            <a:extLst>
              <a:ext uri="{C183D7F6-B498-43B3-948B-1728B52AA6E4}">
                <adec:decorative xmlns="" xmlns:adec="http://schemas.microsoft.com/office/drawing/2017/decorative" val="1"/>
              </a:ext>
            </a:extLst>
          </p:cNvPr>
          <p:cNvSpPr/>
          <p:nvPr/>
        </p:nvSpPr>
        <p:spPr>
          <a:xfrm>
            <a:off x="3291840" y="1371600"/>
            <a:ext cx="2560320" cy="1965960"/>
          </a:xfrm>
          <a:prstGeom prst="rect">
            <a:avLst/>
          </a:prstGeom>
          <a:solidFill>
            <a:srgbClr val="E4DACA"/>
          </a:solidFill>
          <a:ln w="12700">
            <a:solidFill>
              <a:srgbClr val="CBBDA6"/>
            </a:solidFill>
            <a:prstDash val="dash"/>
          </a:ln>
        </p:spPr>
      </p:sp>
      <p:sp>
        <p:nvSpPr>
          <p:cNvPr id="11" name="Placeholder mark">
            <a:extLst>
              <a:ext uri="{C183D7F6-B498-43B3-948B-1728B52AA6E4}">
                <adec:decorative xmlns="" xmlns:adec="http://schemas.microsoft.com/office/drawing/2017/decorative" val="1"/>
              </a:ext>
            </a:extLst>
          </p:cNvPr>
          <p:cNvSpPr/>
          <p:nvPr/>
        </p:nvSpPr>
        <p:spPr>
          <a:xfrm>
            <a:off x="4425696" y="2098548"/>
            <a:ext cx="292608" cy="32004"/>
          </a:xfrm>
          <a:prstGeom prst="rect">
            <a:avLst/>
          </a:prstGeom>
          <a:solidFill>
            <a:srgbClr val="B4632B"/>
          </a:solidFill>
          <a:ln/>
        </p:spPr>
      </p:sp>
      <p:sp>
        <p:nvSpPr>
          <p:cNvPr id="12" name="Text 10"/>
          <p:cNvSpPr/>
          <p:nvPr/>
        </p:nvSpPr>
        <p:spPr>
          <a:xfrm>
            <a:off x="34290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3" name="Image placeholder frame">
            <a:extLst>
              <a:ext uri="{C183D7F6-B498-43B3-948B-1728B52AA6E4}">
                <adec:decorative xmlns="" xmlns:adec="http://schemas.microsoft.com/office/drawing/2017/decorative" val="1"/>
              </a:ext>
            </a:extLst>
          </p:cNvPr>
          <p:cNvSpPr/>
          <p:nvPr/>
        </p:nvSpPr>
        <p:spPr>
          <a:xfrm>
            <a:off x="6035040" y="1371600"/>
            <a:ext cx="2560320" cy="1965960"/>
          </a:xfrm>
          <a:prstGeom prst="rect">
            <a:avLst/>
          </a:prstGeom>
          <a:solidFill>
            <a:srgbClr val="E4DACA"/>
          </a:solidFill>
          <a:ln w="12700">
            <a:solidFill>
              <a:srgbClr val="CBBDA6"/>
            </a:solidFill>
            <a:prstDash val="dash"/>
          </a:ln>
        </p:spPr>
      </p:sp>
      <p:sp>
        <p:nvSpPr>
          <p:cNvPr id="14" name="Placeholder mark">
            <a:extLst>
              <a:ext uri="{C183D7F6-B498-43B3-948B-1728B52AA6E4}">
                <adec:decorative xmlns="" xmlns:adec="http://schemas.microsoft.com/office/drawing/2017/decorative" val="1"/>
              </a:ext>
            </a:extLst>
          </p:cNvPr>
          <p:cNvSpPr/>
          <p:nvPr/>
        </p:nvSpPr>
        <p:spPr>
          <a:xfrm>
            <a:off x="7168896" y="2098548"/>
            <a:ext cx="292608" cy="32004"/>
          </a:xfrm>
          <a:prstGeom prst="rect">
            <a:avLst/>
          </a:prstGeom>
          <a:solidFill>
            <a:srgbClr val="B4632B"/>
          </a:solidFill>
          <a:ln/>
        </p:spPr>
      </p:sp>
      <p:sp>
        <p:nvSpPr>
          <p:cNvPr id="15" name="Text 13"/>
          <p:cNvSpPr/>
          <p:nvPr/>
        </p:nvSpPr>
        <p:spPr>
          <a:xfrm>
            <a:off x="61722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6" name="Text 14"/>
          <p:cNvSpPr/>
          <p:nvPr/>
        </p:nvSpPr>
        <p:spPr>
          <a:xfrm>
            <a:off x="548640" y="3566160"/>
            <a:ext cx="804672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DELIVERY NOTES</a:t>
            </a:r>
            <a:endParaRPr lang="en-US" sz="950" dirty="0"/>
          </a:p>
        </p:txBody>
      </p:sp>
      <p:sp>
        <p:nvSpPr>
          <p:cNvPr id="17" name="Description box">
            <a:extLst>
              <a:ext uri="{C183D7F6-B498-43B3-948B-1728B52AA6E4}">
                <adec:decorative xmlns="" xmlns:adec="http://schemas.microsoft.com/office/drawing/2017/decorative" val="1"/>
              </a:ext>
            </a:extLst>
          </p:cNvPr>
          <p:cNvSpPr/>
          <p:nvPr/>
        </p:nvSpPr>
        <p:spPr>
          <a:xfrm>
            <a:off x="548640" y="3840480"/>
            <a:ext cx="8046720" cy="1051560"/>
          </a:xfrm>
          <a:prstGeom prst="rect">
            <a:avLst/>
          </a:prstGeom>
          <a:solidFill>
            <a:srgbClr val="FFFFFF"/>
          </a:solidFill>
          <a:ln w="12700">
            <a:solidFill>
              <a:srgbClr val="E0D5C2"/>
            </a:solidFill>
            <a:prstDash val="solid"/>
          </a:ln>
        </p:spPr>
      </p:sp>
      <p:sp>
        <p:nvSpPr>
          <p:cNvPr id="18" name="Text 16"/>
          <p:cNvSpPr/>
          <p:nvPr/>
        </p:nvSpPr>
        <p:spPr>
          <a:xfrm>
            <a:off x="713232" y="3968496"/>
            <a:ext cx="7717536" cy="795528"/>
          </a:xfrm>
          <a:prstGeom prst="rect">
            <a:avLst/>
          </a:prstGeom>
          <a:noFill/>
          <a:ln/>
        </p:spPr>
        <p:txBody>
          <a:bodyPr wrap="square" lIns="0" tIns="0" rIns="0" bIns="0" rtlCol="0" anchor="ctr"/>
          <a:lstStyle/>
          <a:p>
            <a:pPr marL="0" indent="0">
              <a:lnSpc>
                <a:spcPts val="1500"/>
              </a:lnSpc>
              <a:buNone/>
            </a:pPr>
            <a:r>
              <a:rPr lang="en-US" sz="1050" i="1" dirty="0">
                <a:latin typeface="Trebuchet MS" pitchFamily="34" charset="0"/>
                <a:ea typeface="Trebuchet MS" pitchFamily="34" charset="-122"/>
                <a:cs typeface="Trebuchet MS" pitchFamily="34" charset="-120"/>
              </a:rPr>
              <a:t>S</a:t>
            </a:r>
            <a:r>
              <a:rPr lang="en-US" sz="1050" i="1" dirty="0" smtClean="0">
                <a:latin typeface="Trebuchet MS" pitchFamily="34" charset="0"/>
                <a:ea typeface="Trebuchet MS" pitchFamily="34" charset="-122"/>
                <a:cs typeface="Trebuchet MS" pitchFamily="34" charset="-120"/>
              </a:rPr>
              <a:t>uccessfully delivered and Supported the installation of the Solar PV Project, ensuring safe, timely, and efficient project execution in line with required quality and safety standards</a:t>
            </a:r>
          </a:p>
        </p:txBody>
      </p:sp>
      <p:pic>
        <p:nvPicPr>
          <p:cNvPr id="19" name="Picture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 y="1371600"/>
            <a:ext cx="2560320" cy="1965960"/>
          </a:xfrm>
          <a:prstGeom prst="rect">
            <a:avLst/>
          </a:prstGeom>
        </p:spPr>
      </p:pic>
      <p:pic>
        <p:nvPicPr>
          <p:cNvPr id="20" name="Picture 19"/>
          <p:cNvPicPr>
            <a:picLocks noChangeAspect="1"/>
          </p:cNvPicPr>
          <p:nvPr/>
        </p:nvPicPr>
        <p:blipFill>
          <a:blip r:embed="rId4"/>
          <a:stretch>
            <a:fillRect/>
          </a:stretch>
        </p:blipFill>
        <p:spPr>
          <a:xfrm>
            <a:off x="3286760" y="1371600"/>
            <a:ext cx="2611120" cy="1965960"/>
          </a:xfrm>
          <a:prstGeom prst="rect">
            <a:avLst/>
          </a:prstGeom>
        </p:spPr>
      </p:pic>
      <p:pic>
        <p:nvPicPr>
          <p:cNvPr id="21" name="Picture 20"/>
          <p:cNvPicPr>
            <a:picLocks noChangeAspect="1"/>
          </p:cNvPicPr>
          <p:nvPr/>
        </p:nvPicPr>
        <p:blipFill>
          <a:blip r:embed="rId5"/>
          <a:stretch>
            <a:fillRect/>
          </a:stretch>
        </p:blipFill>
        <p:spPr>
          <a:xfrm>
            <a:off x="6038542" y="1371601"/>
            <a:ext cx="2570026" cy="19659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02</a:t>
            </a:r>
            <a:endParaRPr lang="en-US" sz="1000" dirty="0"/>
          </a:p>
        </p:txBody>
      </p:sp>
      <p:sp>
        <p:nvSpPr>
          <p:cNvPr id="4" name="Text 2"/>
          <p:cNvSpPr/>
          <p:nvPr/>
        </p:nvSpPr>
        <p:spPr>
          <a:xfrm>
            <a:off x="548640" y="658368"/>
            <a:ext cx="5120640" cy="457200"/>
          </a:xfrm>
          <a:prstGeom prst="rect">
            <a:avLst/>
          </a:prstGeom>
          <a:noFill/>
          <a:ln/>
        </p:spPr>
        <p:txBody>
          <a:bodyPr wrap="square" lIns="0" tIns="0" rIns="0" bIns="0" rtlCol="0" anchor="ctr"/>
          <a:lstStyle/>
          <a:p>
            <a:pPr marL="0" indent="0">
              <a:buNone/>
            </a:pPr>
            <a:r>
              <a:rPr lang="en-US" sz="2100" b="1" dirty="0">
                <a:solidFill>
                  <a:srgbClr val="2B2926"/>
                </a:solidFill>
                <a:latin typeface="Georgia" pitchFamily="34" charset="0"/>
                <a:ea typeface="Georgia" pitchFamily="34" charset="-122"/>
                <a:cs typeface="Georgia" pitchFamily="34" charset="-120"/>
              </a:rPr>
              <a:t>Amazon Riyadh Solar PV</a:t>
            </a: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2.6 MWp · Riyadh, Saudi Arabia</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4343400" cy="320040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2574036" y="2715768"/>
            <a:ext cx="292608" cy="32004"/>
          </a:xfrm>
          <a:prstGeom prst="rect">
            <a:avLst/>
          </a:prstGeom>
          <a:solidFill>
            <a:srgbClr val="B4632B"/>
          </a:solidFill>
          <a:ln/>
        </p:spPr>
      </p:sp>
      <p:sp>
        <p:nvSpPr>
          <p:cNvPr id="9" name="Text 7"/>
          <p:cNvSpPr/>
          <p:nvPr/>
        </p:nvSpPr>
        <p:spPr>
          <a:xfrm>
            <a:off x="685800" y="2825496"/>
            <a:ext cx="406908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project image here</a:t>
            </a:r>
            <a:endParaRPr lang="en-US" sz="1050" dirty="0"/>
          </a:p>
        </p:txBody>
      </p:sp>
      <p:sp>
        <p:nvSpPr>
          <p:cNvPr id="10" name="Text 8"/>
          <p:cNvSpPr/>
          <p:nvPr/>
        </p:nvSpPr>
        <p:spPr>
          <a:xfrm>
            <a:off x="5166360" y="137160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PROJECT DESCRIPTION</a:t>
            </a:r>
            <a:endParaRPr lang="en-US" sz="950" dirty="0"/>
          </a:p>
        </p:txBody>
      </p:sp>
      <p:sp>
        <p:nvSpPr>
          <p:cNvPr id="11" name="Description box">
            <a:extLst>
              <a:ext uri="{C183D7F6-B498-43B3-948B-1728B52AA6E4}">
                <adec:decorative xmlns="" xmlns:adec="http://schemas.microsoft.com/office/drawing/2017/decorative" val="1"/>
              </a:ext>
            </a:extLst>
          </p:cNvPr>
          <p:cNvSpPr/>
          <p:nvPr/>
        </p:nvSpPr>
        <p:spPr>
          <a:xfrm>
            <a:off x="5166360" y="1645920"/>
            <a:ext cx="3429000" cy="1417320"/>
          </a:xfrm>
          <a:prstGeom prst="rect">
            <a:avLst/>
          </a:prstGeom>
          <a:solidFill>
            <a:srgbClr val="FFFFFF"/>
          </a:solidFill>
          <a:ln w="12700">
            <a:solidFill>
              <a:srgbClr val="E0D5C2"/>
            </a:solidFill>
            <a:prstDash val="solid"/>
          </a:ln>
        </p:spPr>
      </p:sp>
      <p:sp>
        <p:nvSpPr>
          <p:cNvPr id="12" name="Text 10"/>
          <p:cNvSpPr/>
          <p:nvPr/>
        </p:nvSpPr>
        <p:spPr>
          <a:xfrm>
            <a:off x="5330952" y="1773936"/>
            <a:ext cx="3099816" cy="1161288"/>
          </a:xfrm>
          <a:prstGeom prst="rect">
            <a:avLst/>
          </a:prstGeom>
          <a:noFill/>
          <a:ln/>
        </p:spPr>
        <p:txBody>
          <a:bodyPr wrap="square" lIns="0" tIns="0" rIns="0" bIns="0" rtlCol="0" anchor="ctr"/>
          <a:lstStyle/>
          <a:p>
            <a:pPr marL="0" indent="0">
              <a:lnSpc>
                <a:spcPts val="1500"/>
              </a:lnSpc>
              <a:buNone/>
            </a:pPr>
            <a:r>
              <a:rPr lang="en-US" sz="1050" i="1" dirty="0" smtClean="0">
                <a:latin typeface="Trebuchet MS" pitchFamily="34" charset="0"/>
                <a:ea typeface="Trebuchet MS" pitchFamily="34" charset="-122"/>
                <a:cs typeface="Trebuchet MS" pitchFamily="34" charset="-120"/>
              </a:rPr>
              <a:t>Solar PV Installation project focused on delivery a reliable and efficient energy solution for Amazon’s Riyadh facility. </a:t>
            </a:r>
            <a:endParaRPr lang="en-US" sz="1050" dirty="0"/>
          </a:p>
        </p:txBody>
      </p:sp>
      <p:sp>
        <p:nvSpPr>
          <p:cNvPr id="13" name="Text 11"/>
          <p:cNvSpPr/>
          <p:nvPr/>
        </p:nvSpPr>
        <p:spPr>
          <a:xfrm>
            <a:off x="5166360" y="315468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KEY FACTS</a:t>
            </a:r>
            <a:endParaRPr lang="en-US" sz="950" dirty="0"/>
          </a:p>
        </p:txBody>
      </p:sp>
      <p:sp>
        <p:nvSpPr>
          <p:cNvPr id="14" name="Text 12"/>
          <p:cNvSpPr/>
          <p:nvPr/>
        </p:nvSpPr>
        <p:spPr>
          <a:xfrm>
            <a:off x="5166360" y="3456432"/>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Capacity</a:t>
            </a:r>
            <a:endParaRPr lang="en-US" sz="1000" dirty="0"/>
          </a:p>
        </p:txBody>
      </p:sp>
      <p:sp>
        <p:nvSpPr>
          <p:cNvPr id="15" name="Text 13"/>
          <p:cNvSpPr/>
          <p:nvPr/>
        </p:nvSpPr>
        <p:spPr>
          <a:xfrm>
            <a:off x="6172200" y="3456432"/>
            <a:ext cx="2423160" cy="228600"/>
          </a:xfrm>
          <a:prstGeom prst="rect">
            <a:avLst/>
          </a:prstGeom>
          <a:noFill/>
          <a:ln/>
        </p:spPr>
        <p:txBody>
          <a:bodyPr wrap="square" lIns="0" tIns="0" rIns="0" bIns="0" rtlCol="0" anchor="ctr"/>
          <a:lstStyle/>
          <a:p>
            <a:pPr marL="0" indent="0">
              <a:buNone/>
            </a:pPr>
            <a:r>
              <a:rPr lang="en-US" sz="1000" dirty="0">
                <a:solidFill>
                  <a:srgbClr val="45413B"/>
                </a:solidFill>
                <a:latin typeface="Trebuchet MS" pitchFamily="34" charset="0"/>
                <a:ea typeface="Trebuchet MS" pitchFamily="34" charset="-122"/>
                <a:cs typeface="Trebuchet MS" pitchFamily="34" charset="-120"/>
              </a:rPr>
              <a:t>2.6 MWp</a:t>
            </a:r>
            <a:endParaRPr lang="en-US" sz="1000" dirty="0"/>
          </a:p>
        </p:txBody>
      </p:sp>
      <p:sp>
        <p:nvSpPr>
          <p:cNvPr id="16" name="Text 14"/>
          <p:cNvSpPr/>
          <p:nvPr/>
        </p:nvSpPr>
        <p:spPr>
          <a:xfrm>
            <a:off x="5166360" y="3739896"/>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Location</a:t>
            </a:r>
            <a:endParaRPr lang="en-US" sz="1000" dirty="0"/>
          </a:p>
        </p:txBody>
      </p:sp>
      <p:sp>
        <p:nvSpPr>
          <p:cNvPr id="17" name="Text 15"/>
          <p:cNvSpPr/>
          <p:nvPr/>
        </p:nvSpPr>
        <p:spPr>
          <a:xfrm>
            <a:off x="6172200" y="3739896"/>
            <a:ext cx="2423160" cy="228600"/>
          </a:xfrm>
          <a:prstGeom prst="rect">
            <a:avLst/>
          </a:prstGeom>
          <a:noFill/>
          <a:ln/>
        </p:spPr>
        <p:txBody>
          <a:bodyPr wrap="square" lIns="0" tIns="0" rIns="0" bIns="0" rtlCol="0" anchor="ctr"/>
          <a:lstStyle/>
          <a:p>
            <a:pPr marL="0" indent="0">
              <a:buNone/>
            </a:pPr>
            <a:r>
              <a:rPr lang="en-US" sz="1000" dirty="0">
                <a:solidFill>
                  <a:srgbClr val="45413B"/>
                </a:solidFill>
                <a:latin typeface="Trebuchet MS" pitchFamily="34" charset="0"/>
                <a:ea typeface="Trebuchet MS" pitchFamily="34" charset="-122"/>
                <a:cs typeface="Trebuchet MS" pitchFamily="34" charset="-120"/>
              </a:rPr>
              <a:t>Riyadh, Saudi Arabia</a:t>
            </a:r>
            <a:endParaRPr lang="en-US" sz="1000" dirty="0"/>
          </a:p>
        </p:txBody>
      </p:sp>
      <p:sp>
        <p:nvSpPr>
          <p:cNvPr id="18" name="Text 16"/>
          <p:cNvSpPr/>
          <p:nvPr/>
        </p:nvSpPr>
        <p:spPr>
          <a:xfrm>
            <a:off x="5166360" y="4023360"/>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Scope</a:t>
            </a:r>
            <a:endParaRPr lang="en-US" sz="1000" dirty="0"/>
          </a:p>
        </p:txBody>
      </p:sp>
      <p:sp>
        <p:nvSpPr>
          <p:cNvPr id="19" name="Text 17"/>
          <p:cNvSpPr/>
          <p:nvPr/>
        </p:nvSpPr>
        <p:spPr>
          <a:xfrm>
            <a:off x="6172200" y="4023360"/>
            <a:ext cx="2423160" cy="228600"/>
          </a:xfrm>
          <a:prstGeom prst="rect">
            <a:avLst/>
          </a:prstGeom>
          <a:noFill/>
          <a:ln/>
        </p:spPr>
        <p:txBody>
          <a:bodyPr wrap="square" lIns="0" tIns="0" rIns="0" bIns="0" rtlCol="0" anchor="ctr"/>
          <a:lstStyle/>
          <a:p>
            <a:pPr marL="0" indent="0">
              <a:buNone/>
            </a:pPr>
            <a:r>
              <a:rPr lang="en-US" sz="1000" dirty="0">
                <a:solidFill>
                  <a:srgbClr val="45413B"/>
                </a:solidFill>
                <a:latin typeface="Trebuchet MS" pitchFamily="34" charset="0"/>
                <a:ea typeface="Trebuchet MS" pitchFamily="34" charset="-122"/>
                <a:cs typeface="Trebuchet MS" pitchFamily="34" charset="-120"/>
              </a:rPr>
              <a:t>Turnkey EPC</a:t>
            </a:r>
            <a:endParaRPr lang="en-US" sz="1000" dirty="0"/>
          </a:p>
        </p:txBody>
      </p:sp>
      <p:sp>
        <p:nvSpPr>
          <p:cNvPr id="20" name="Text 18"/>
          <p:cNvSpPr/>
          <p:nvPr/>
        </p:nvSpPr>
        <p:spPr>
          <a:xfrm>
            <a:off x="5166360" y="4306824"/>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Status</a:t>
            </a:r>
            <a:endParaRPr lang="en-US" sz="1000" dirty="0"/>
          </a:p>
        </p:txBody>
      </p:sp>
      <p:sp>
        <p:nvSpPr>
          <p:cNvPr id="21" name="Text 19"/>
          <p:cNvSpPr/>
          <p:nvPr/>
        </p:nvSpPr>
        <p:spPr>
          <a:xfrm>
            <a:off x="6172200" y="4343400"/>
            <a:ext cx="2423160" cy="228600"/>
          </a:xfrm>
          <a:prstGeom prst="rect">
            <a:avLst/>
          </a:prstGeom>
          <a:noFill/>
          <a:ln/>
        </p:spPr>
        <p:txBody>
          <a:bodyPr wrap="square" lIns="0" tIns="0" rIns="0" bIns="0" rtlCol="0" anchor="ctr"/>
          <a:lstStyle/>
          <a:p>
            <a:pPr marL="0" indent="0">
              <a:buNone/>
            </a:pPr>
            <a:r>
              <a:rPr lang="en-US" sz="1000" dirty="0">
                <a:solidFill>
                  <a:srgbClr val="45413B"/>
                </a:solidFill>
                <a:latin typeface="Trebuchet MS" pitchFamily="34" charset="0"/>
                <a:ea typeface="Trebuchet MS" pitchFamily="34" charset="-122"/>
                <a:cs typeface="Trebuchet MS" pitchFamily="34" charset="-120"/>
              </a:rPr>
              <a:t>Completed</a:t>
            </a:r>
            <a:endParaRPr lang="en-US" sz="1000" dirty="0"/>
          </a:p>
        </p:txBody>
      </p:sp>
      <p:pic>
        <p:nvPicPr>
          <p:cNvPr id="22" name="Picture 21"/>
          <p:cNvPicPr>
            <a:picLocks noChangeAspect="1"/>
          </p:cNvPicPr>
          <p:nvPr/>
        </p:nvPicPr>
        <p:blipFill>
          <a:blip r:embed="rId3"/>
          <a:stretch>
            <a:fillRect/>
          </a:stretch>
        </p:blipFill>
        <p:spPr>
          <a:xfrm>
            <a:off x="564063" y="1371601"/>
            <a:ext cx="4373697" cy="3200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02  ·  SITE GALLERY</a:t>
            </a:r>
            <a:endParaRPr lang="en-US" sz="1000" dirty="0"/>
          </a:p>
        </p:txBody>
      </p:sp>
      <p:sp>
        <p:nvSpPr>
          <p:cNvPr id="4" name="Text 2"/>
          <p:cNvSpPr/>
          <p:nvPr/>
        </p:nvSpPr>
        <p:spPr>
          <a:xfrm>
            <a:off x="548640" y="658368"/>
            <a:ext cx="5120640" cy="457200"/>
          </a:xfrm>
          <a:prstGeom prst="rect">
            <a:avLst/>
          </a:prstGeom>
          <a:noFill/>
          <a:ln/>
        </p:spPr>
        <p:txBody>
          <a:bodyPr wrap="square" lIns="0" tIns="0" rIns="0" bIns="0" rtlCol="0" anchor="ctr"/>
          <a:lstStyle/>
          <a:p>
            <a:pPr marL="0" indent="0">
              <a:buNone/>
            </a:pPr>
            <a:r>
              <a:rPr lang="en-US" sz="2100" b="1" dirty="0">
                <a:solidFill>
                  <a:srgbClr val="2B2926"/>
                </a:solidFill>
                <a:latin typeface="Georgia" pitchFamily="34" charset="0"/>
                <a:ea typeface="Georgia" pitchFamily="34" charset="-122"/>
                <a:cs typeface="Georgia" pitchFamily="34" charset="-120"/>
              </a:rPr>
              <a:t>Amazon Riyadh Solar PV</a:t>
            </a: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Images &amp; delivery notes</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2560320" cy="196596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1682496" y="2098548"/>
            <a:ext cx="292608" cy="32004"/>
          </a:xfrm>
          <a:prstGeom prst="rect">
            <a:avLst/>
          </a:prstGeom>
          <a:solidFill>
            <a:srgbClr val="B4632B"/>
          </a:solidFill>
          <a:ln/>
        </p:spPr>
      </p:sp>
      <p:sp>
        <p:nvSpPr>
          <p:cNvPr id="9" name="Text 7"/>
          <p:cNvSpPr/>
          <p:nvPr/>
        </p:nvSpPr>
        <p:spPr>
          <a:xfrm>
            <a:off x="6858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0" name="Image placeholder frame">
            <a:extLst>
              <a:ext uri="{C183D7F6-B498-43B3-948B-1728B52AA6E4}">
                <adec:decorative xmlns="" xmlns:adec="http://schemas.microsoft.com/office/drawing/2017/decorative" val="1"/>
              </a:ext>
            </a:extLst>
          </p:cNvPr>
          <p:cNvSpPr/>
          <p:nvPr/>
        </p:nvSpPr>
        <p:spPr>
          <a:xfrm>
            <a:off x="3291840" y="1371600"/>
            <a:ext cx="2560320" cy="1965960"/>
          </a:xfrm>
          <a:prstGeom prst="rect">
            <a:avLst/>
          </a:prstGeom>
          <a:solidFill>
            <a:srgbClr val="E4DACA"/>
          </a:solidFill>
          <a:ln w="12700">
            <a:solidFill>
              <a:srgbClr val="CBBDA6"/>
            </a:solidFill>
            <a:prstDash val="dash"/>
          </a:ln>
        </p:spPr>
      </p:sp>
      <p:sp>
        <p:nvSpPr>
          <p:cNvPr id="11" name="Placeholder mark">
            <a:extLst>
              <a:ext uri="{C183D7F6-B498-43B3-948B-1728B52AA6E4}">
                <adec:decorative xmlns="" xmlns:adec="http://schemas.microsoft.com/office/drawing/2017/decorative" val="1"/>
              </a:ext>
            </a:extLst>
          </p:cNvPr>
          <p:cNvSpPr/>
          <p:nvPr/>
        </p:nvSpPr>
        <p:spPr>
          <a:xfrm>
            <a:off x="4425696" y="2098548"/>
            <a:ext cx="292608" cy="32004"/>
          </a:xfrm>
          <a:prstGeom prst="rect">
            <a:avLst/>
          </a:prstGeom>
          <a:solidFill>
            <a:srgbClr val="B4632B"/>
          </a:solidFill>
          <a:ln/>
        </p:spPr>
      </p:sp>
      <p:sp>
        <p:nvSpPr>
          <p:cNvPr id="12" name="Text 10"/>
          <p:cNvSpPr/>
          <p:nvPr/>
        </p:nvSpPr>
        <p:spPr>
          <a:xfrm>
            <a:off x="34290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3" name="Image placeholder frame">
            <a:extLst>
              <a:ext uri="{C183D7F6-B498-43B3-948B-1728B52AA6E4}">
                <adec:decorative xmlns="" xmlns:adec="http://schemas.microsoft.com/office/drawing/2017/decorative" val="1"/>
              </a:ext>
            </a:extLst>
          </p:cNvPr>
          <p:cNvSpPr/>
          <p:nvPr/>
        </p:nvSpPr>
        <p:spPr>
          <a:xfrm>
            <a:off x="6035040" y="1371600"/>
            <a:ext cx="2560320" cy="1965960"/>
          </a:xfrm>
          <a:prstGeom prst="rect">
            <a:avLst/>
          </a:prstGeom>
          <a:solidFill>
            <a:srgbClr val="E4DACA"/>
          </a:solidFill>
          <a:ln w="12700">
            <a:solidFill>
              <a:srgbClr val="CBBDA6"/>
            </a:solidFill>
            <a:prstDash val="dash"/>
          </a:ln>
        </p:spPr>
      </p:sp>
      <p:sp>
        <p:nvSpPr>
          <p:cNvPr id="14" name="Placeholder mark">
            <a:extLst>
              <a:ext uri="{C183D7F6-B498-43B3-948B-1728B52AA6E4}">
                <adec:decorative xmlns="" xmlns:adec="http://schemas.microsoft.com/office/drawing/2017/decorative" val="1"/>
              </a:ext>
            </a:extLst>
          </p:cNvPr>
          <p:cNvSpPr/>
          <p:nvPr/>
        </p:nvSpPr>
        <p:spPr>
          <a:xfrm>
            <a:off x="7168896" y="2098548"/>
            <a:ext cx="292608" cy="32004"/>
          </a:xfrm>
          <a:prstGeom prst="rect">
            <a:avLst/>
          </a:prstGeom>
          <a:solidFill>
            <a:srgbClr val="B4632B"/>
          </a:solidFill>
          <a:ln/>
        </p:spPr>
      </p:sp>
      <p:sp>
        <p:nvSpPr>
          <p:cNvPr id="15" name="Text 13"/>
          <p:cNvSpPr/>
          <p:nvPr/>
        </p:nvSpPr>
        <p:spPr>
          <a:xfrm>
            <a:off x="61722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6" name="Text 14"/>
          <p:cNvSpPr/>
          <p:nvPr/>
        </p:nvSpPr>
        <p:spPr>
          <a:xfrm>
            <a:off x="548640" y="3566160"/>
            <a:ext cx="804672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DELIVERY NOTES</a:t>
            </a:r>
            <a:endParaRPr lang="en-US" sz="950" dirty="0"/>
          </a:p>
        </p:txBody>
      </p:sp>
      <p:sp>
        <p:nvSpPr>
          <p:cNvPr id="17" name="Description box">
            <a:extLst>
              <a:ext uri="{C183D7F6-B498-43B3-948B-1728B52AA6E4}">
                <adec:decorative xmlns="" xmlns:adec="http://schemas.microsoft.com/office/drawing/2017/decorative" val="1"/>
              </a:ext>
            </a:extLst>
          </p:cNvPr>
          <p:cNvSpPr/>
          <p:nvPr/>
        </p:nvSpPr>
        <p:spPr>
          <a:xfrm>
            <a:off x="548640" y="3840480"/>
            <a:ext cx="8046720" cy="1051560"/>
          </a:xfrm>
          <a:prstGeom prst="rect">
            <a:avLst/>
          </a:prstGeom>
          <a:solidFill>
            <a:srgbClr val="FFFFFF"/>
          </a:solidFill>
          <a:ln w="12700">
            <a:solidFill>
              <a:srgbClr val="E0D5C2"/>
            </a:solidFill>
            <a:prstDash val="solid"/>
          </a:ln>
        </p:spPr>
      </p:sp>
      <p:sp>
        <p:nvSpPr>
          <p:cNvPr id="18" name="Text 16"/>
          <p:cNvSpPr/>
          <p:nvPr/>
        </p:nvSpPr>
        <p:spPr>
          <a:xfrm>
            <a:off x="713232" y="3968496"/>
            <a:ext cx="7717536" cy="795528"/>
          </a:xfrm>
          <a:prstGeom prst="rect">
            <a:avLst/>
          </a:prstGeom>
          <a:noFill/>
          <a:ln/>
        </p:spPr>
        <p:txBody>
          <a:bodyPr wrap="square" lIns="0" tIns="0" rIns="0" bIns="0" rtlCol="0" anchor="ctr"/>
          <a:lstStyle/>
          <a:p>
            <a:pPr marL="0" indent="0">
              <a:lnSpc>
                <a:spcPts val="1500"/>
              </a:lnSpc>
              <a:buNone/>
            </a:pPr>
            <a:r>
              <a:rPr lang="en-US" sz="1050" i="1" dirty="0" smtClean="0">
                <a:latin typeface="Trebuchet MS" pitchFamily="34" charset="0"/>
                <a:ea typeface="Trebuchet MS" pitchFamily="34" charset="-122"/>
                <a:cs typeface="Trebuchet MS" pitchFamily="34" charset="-120"/>
              </a:rPr>
              <a:t>Successfully delivered the project with a focus on quality, Safety, and timely execution,  </a:t>
            </a:r>
            <a:endParaRPr lang="en-US" sz="1050" dirty="0"/>
          </a:p>
        </p:txBody>
      </p:sp>
      <p:pic>
        <p:nvPicPr>
          <p:cNvPr id="19" name="Picture 18"/>
          <p:cNvPicPr>
            <a:picLocks noChangeAspect="1"/>
          </p:cNvPicPr>
          <p:nvPr/>
        </p:nvPicPr>
        <p:blipFill>
          <a:blip r:embed="rId3"/>
          <a:stretch>
            <a:fillRect/>
          </a:stretch>
        </p:blipFill>
        <p:spPr>
          <a:xfrm>
            <a:off x="534387" y="1371601"/>
            <a:ext cx="2592861" cy="2002535"/>
          </a:xfrm>
          <a:prstGeom prst="rect">
            <a:avLst/>
          </a:prstGeom>
        </p:spPr>
      </p:pic>
      <p:pic>
        <p:nvPicPr>
          <p:cNvPr id="20" name="Picture 19"/>
          <p:cNvPicPr>
            <a:picLocks noChangeAspect="1"/>
          </p:cNvPicPr>
          <p:nvPr/>
        </p:nvPicPr>
        <p:blipFill>
          <a:blip r:embed="rId4"/>
          <a:stretch>
            <a:fillRect/>
          </a:stretch>
        </p:blipFill>
        <p:spPr>
          <a:xfrm>
            <a:off x="3291841" y="1371601"/>
            <a:ext cx="2560320" cy="1965960"/>
          </a:xfrm>
          <a:prstGeom prst="rect">
            <a:avLst/>
          </a:prstGeom>
        </p:spPr>
      </p:pic>
      <p:pic>
        <p:nvPicPr>
          <p:cNvPr id="21" name="Picture 20"/>
          <p:cNvPicPr>
            <a:picLocks noChangeAspect="1"/>
          </p:cNvPicPr>
          <p:nvPr/>
        </p:nvPicPr>
        <p:blipFill>
          <a:blip r:embed="rId5"/>
          <a:stretch>
            <a:fillRect/>
          </a:stretch>
        </p:blipFill>
        <p:spPr>
          <a:xfrm>
            <a:off x="6035040" y="1371600"/>
            <a:ext cx="2560320" cy="196596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03</a:t>
            </a:r>
            <a:endParaRPr lang="en-US" sz="1000" dirty="0"/>
          </a:p>
        </p:txBody>
      </p:sp>
      <p:sp>
        <p:nvSpPr>
          <p:cNvPr id="4" name="Text 2"/>
          <p:cNvSpPr/>
          <p:nvPr/>
        </p:nvSpPr>
        <p:spPr>
          <a:xfrm>
            <a:off x="548640" y="658368"/>
            <a:ext cx="5120640" cy="457200"/>
          </a:xfrm>
          <a:prstGeom prst="rect">
            <a:avLst/>
          </a:prstGeom>
          <a:noFill/>
          <a:ln/>
        </p:spPr>
        <p:txBody>
          <a:bodyPr wrap="square" lIns="0" tIns="0" rIns="0" bIns="0" rtlCol="0" anchor="ctr"/>
          <a:lstStyle/>
          <a:p>
            <a:r>
              <a:rPr lang="en-US" sz="2100" b="1" dirty="0">
                <a:solidFill>
                  <a:srgbClr val="2B2926"/>
                </a:solidFill>
                <a:latin typeface="Georgia" pitchFamily="34" charset="0"/>
                <a:ea typeface="Georgia" pitchFamily="34" charset="-122"/>
                <a:cs typeface="Georgia" pitchFamily="34" charset="-120"/>
              </a:rPr>
              <a:t>Golden Chicken </a:t>
            </a:r>
            <a:r>
              <a:rPr lang="en-US" sz="2100" b="1" dirty="0" smtClean="0">
                <a:solidFill>
                  <a:srgbClr val="2B2926"/>
                </a:solidFill>
                <a:latin typeface="Georgia" pitchFamily="34" charset="0"/>
                <a:ea typeface="Georgia" pitchFamily="34" charset="-122"/>
                <a:cs typeface="Georgia" pitchFamily="34" charset="-120"/>
              </a:rPr>
              <a:t>Solar PV</a:t>
            </a: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Completed project</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453896"/>
            <a:ext cx="4343400" cy="320040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2574036" y="2715768"/>
            <a:ext cx="292608" cy="32004"/>
          </a:xfrm>
          <a:prstGeom prst="rect">
            <a:avLst/>
          </a:prstGeom>
          <a:solidFill>
            <a:srgbClr val="B4632B"/>
          </a:solidFill>
          <a:ln/>
        </p:spPr>
      </p:sp>
      <p:sp>
        <p:nvSpPr>
          <p:cNvPr id="9" name="Text 7"/>
          <p:cNvSpPr/>
          <p:nvPr/>
        </p:nvSpPr>
        <p:spPr>
          <a:xfrm>
            <a:off x="685800" y="2825496"/>
            <a:ext cx="406908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project image here</a:t>
            </a:r>
            <a:endParaRPr lang="en-US" sz="1050" dirty="0"/>
          </a:p>
        </p:txBody>
      </p:sp>
      <p:sp>
        <p:nvSpPr>
          <p:cNvPr id="10" name="Text 8"/>
          <p:cNvSpPr/>
          <p:nvPr/>
        </p:nvSpPr>
        <p:spPr>
          <a:xfrm>
            <a:off x="5166360" y="137160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PROJECT DESCRIPTION</a:t>
            </a:r>
            <a:endParaRPr lang="en-US" sz="950" dirty="0"/>
          </a:p>
        </p:txBody>
      </p:sp>
      <p:sp>
        <p:nvSpPr>
          <p:cNvPr id="11" name="Description box">
            <a:extLst>
              <a:ext uri="{C183D7F6-B498-43B3-948B-1728B52AA6E4}">
                <adec:decorative xmlns="" xmlns:adec="http://schemas.microsoft.com/office/drawing/2017/decorative" val="1"/>
              </a:ext>
            </a:extLst>
          </p:cNvPr>
          <p:cNvSpPr/>
          <p:nvPr/>
        </p:nvSpPr>
        <p:spPr>
          <a:xfrm>
            <a:off x="5166360" y="1645920"/>
            <a:ext cx="3429000" cy="1417320"/>
          </a:xfrm>
          <a:prstGeom prst="rect">
            <a:avLst/>
          </a:prstGeom>
          <a:solidFill>
            <a:srgbClr val="FFFFFF"/>
          </a:solidFill>
          <a:ln w="12700">
            <a:solidFill>
              <a:srgbClr val="E0D5C2"/>
            </a:solidFill>
            <a:prstDash val="solid"/>
          </a:ln>
        </p:spPr>
      </p:sp>
      <p:sp>
        <p:nvSpPr>
          <p:cNvPr id="12" name="Text 10"/>
          <p:cNvSpPr/>
          <p:nvPr/>
        </p:nvSpPr>
        <p:spPr>
          <a:xfrm>
            <a:off x="5330952" y="1773936"/>
            <a:ext cx="3099816" cy="1161288"/>
          </a:xfrm>
          <a:prstGeom prst="rect">
            <a:avLst/>
          </a:prstGeom>
          <a:noFill/>
          <a:ln/>
        </p:spPr>
        <p:txBody>
          <a:bodyPr wrap="square" lIns="0" tIns="0" rIns="0" bIns="0" rtlCol="0" anchor="ctr"/>
          <a:lstStyle/>
          <a:p>
            <a:pPr marL="0" indent="0">
              <a:lnSpc>
                <a:spcPts val="1500"/>
              </a:lnSpc>
              <a:buNone/>
            </a:pPr>
            <a:r>
              <a:rPr lang="en-US" sz="1050" i="1" dirty="0" smtClean="0">
                <a:latin typeface="Trebuchet MS" pitchFamily="34" charset="0"/>
                <a:ea typeface="Trebuchet MS" pitchFamily="34" charset="-122"/>
                <a:cs typeface="Trebuchet MS" pitchFamily="34" charset="-120"/>
              </a:rPr>
              <a:t>A Solar PV project designed to harness clean energy and reduce conventional power consumption at the Golden Chicken facility </a:t>
            </a:r>
            <a:endParaRPr lang="en-US" sz="1050" dirty="0"/>
          </a:p>
        </p:txBody>
      </p:sp>
      <p:sp>
        <p:nvSpPr>
          <p:cNvPr id="13" name="Text 11"/>
          <p:cNvSpPr/>
          <p:nvPr/>
        </p:nvSpPr>
        <p:spPr>
          <a:xfrm>
            <a:off x="5166360" y="3204738"/>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KEY FACTS</a:t>
            </a:r>
            <a:endParaRPr lang="en-US" sz="950" dirty="0"/>
          </a:p>
        </p:txBody>
      </p:sp>
      <p:sp>
        <p:nvSpPr>
          <p:cNvPr id="14" name="Text 12"/>
          <p:cNvSpPr/>
          <p:nvPr/>
        </p:nvSpPr>
        <p:spPr>
          <a:xfrm>
            <a:off x="5166360" y="3456432"/>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Capacity</a:t>
            </a:r>
            <a:endParaRPr lang="en-US" sz="1000" dirty="0"/>
          </a:p>
        </p:txBody>
      </p:sp>
      <p:sp>
        <p:nvSpPr>
          <p:cNvPr id="16" name="Text 14"/>
          <p:cNvSpPr/>
          <p:nvPr/>
        </p:nvSpPr>
        <p:spPr>
          <a:xfrm>
            <a:off x="5166360" y="3739896"/>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Location</a:t>
            </a:r>
            <a:endParaRPr lang="en-US" sz="1000" dirty="0"/>
          </a:p>
        </p:txBody>
      </p:sp>
      <p:sp>
        <p:nvSpPr>
          <p:cNvPr id="18" name="Text 16"/>
          <p:cNvSpPr/>
          <p:nvPr/>
        </p:nvSpPr>
        <p:spPr>
          <a:xfrm>
            <a:off x="5166360" y="4023360"/>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Scope</a:t>
            </a:r>
            <a:endParaRPr lang="en-US" sz="1000" dirty="0"/>
          </a:p>
        </p:txBody>
      </p:sp>
      <p:sp>
        <p:nvSpPr>
          <p:cNvPr id="20" name="Text 18"/>
          <p:cNvSpPr/>
          <p:nvPr/>
        </p:nvSpPr>
        <p:spPr>
          <a:xfrm>
            <a:off x="5166360" y="4306824"/>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Status</a:t>
            </a:r>
            <a:endParaRPr lang="en-US" sz="1000" dirty="0"/>
          </a:p>
        </p:txBody>
      </p:sp>
      <p:sp>
        <p:nvSpPr>
          <p:cNvPr id="23" name="TextBox 22"/>
          <p:cNvSpPr txBox="1"/>
          <p:nvPr/>
        </p:nvSpPr>
        <p:spPr>
          <a:xfrm>
            <a:off x="6126480" y="3466243"/>
            <a:ext cx="2260599" cy="246221"/>
          </a:xfrm>
          <a:prstGeom prst="rect">
            <a:avLst/>
          </a:prstGeom>
          <a:noFill/>
        </p:spPr>
        <p:txBody>
          <a:bodyPr wrap="square" rtlCol="0">
            <a:spAutoFit/>
          </a:bodyPr>
          <a:lstStyle>
            <a:lvl1pPr lvl="0">
              <a:defRPr sz="1000">
                <a:solidFill>
                  <a:srgbClr val="45413B"/>
                </a:solidFill>
                <a:latin typeface="Trebuchet MS" pitchFamily="34" charset="0"/>
                <a:ea typeface="Trebuchet MS" pitchFamily="34" charset="-122"/>
                <a:cs typeface="Trebuchet MS" pitchFamily="34" charset="-120"/>
              </a:defRPr>
            </a:lvl1pPr>
          </a:lstStyle>
          <a:p>
            <a:r>
              <a:rPr lang="en-US" dirty="0"/>
              <a:t>2.6 MWp</a:t>
            </a:r>
          </a:p>
        </p:txBody>
      </p:sp>
      <p:sp>
        <p:nvSpPr>
          <p:cNvPr id="24" name="TextBox 23"/>
          <p:cNvSpPr txBox="1"/>
          <p:nvPr/>
        </p:nvSpPr>
        <p:spPr>
          <a:xfrm>
            <a:off x="6107869" y="3722126"/>
            <a:ext cx="2260599" cy="246221"/>
          </a:xfrm>
          <a:prstGeom prst="rect">
            <a:avLst/>
          </a:prstGeom>
          <a:noFill/>
        </p:spPr>
        <p:txBody>
          <a:bodyPr wrap="square" rtlCol="0">
            <a:spAutoFit/>
          </a:bodyPr>
          <a:lstStyle/>
          <a:p>
            <a:r>
              <a:rPr lang="en-US" sz="1000" dirty="0" smtClean="0">
                <a:solidFill>
                  <a:srgbClr val="45413B"/>
                </a:solidFill>
                <a:latin typeface="Trebuchet MS" pitchFamily="34" charset="0"/>
                <a:ea typeface="Trebuchet MS" pitchFamily="34" charset="-122"/>
                <a:cs typeface="Trebuchet MS" pitchFamily="34" charset="-120"/>
              </a:rPr>
              <a:t>Shaqra,KSA</a:t>
            </a:r>
            <a:endParaRPr lang="en-US" sz="1000" dirty="0">
              <a:solidFill>
                <a:srgbClr val="45413B"/>
              </a:solidFill>
              <a:latin typeface="Trebuchet MS" pitchFamily="34" charset="0"/>
              <a:ea typeface="Trebuchet MS" pitchFamily="34" charset="-122"/>
              <a:cs typeface="Trebuchet MS" pitchFamily="34" charset="-120"/>
            </a:endParaRPr>
          </a:p>
        </p:txBody>
      </p:sp>
      <p:sp>
        <p:nvSpPr>
          <p:cNvPr id="27" name="Rectangle 26"/>
          <p:cNvSpPr/>
          <p:nvPr/>
        </p:nvSpPr>
        <p:spPr>
          <a:xfrm>
            <a:off x="6104889" y="3975838"/>
            <a:ext cx="90281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Turnkey EPC</a:t>
            </a:r>
            <a:endParaRPr lang="en-US" sz="1000" dirty="0">
              <a:solidFill>
                <a:prstClr val="black"/>
              </a:solidFill>
            </a:endParaRPr>
          </a:p>
        </p:txBody>
      </p:sp>
      <p:sp>
        <p:nvSpPr>
          <p:cNvPr id="28" name="Rectangle 27"/>
          <p:cNvSpPr/>
          <p:nvPr/>
        </p:nvSpPr>
        <p:spPr>
          <a:xfrm>
            <a:off x="6150573" y="4289203"/>
            <a:ext cx="81144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Completed</a:t>
            </a:r>
            <a:endParaRPr lang="en-US" sz="1000" dirty="0">
              <a:solidFill>
                <a:prstClr val="black"/>
              </a:solidFill>
            </a:endParaRPr>
          </a:p>
        </p:txBody>
      </p:sp>
      <p:pic>
        <p:nvPicPr>
          <p:cNvPr id="29" name="Picture 28"/>
          <p:cNvPicPr>
            <a:picLocks noChangeAspect="1"/>
          </p:cNvPicPr>
          <p:nvPr/>
        </p:nvPicPr>
        <p:blipFill>
          <a:blip r:embed="rId3"/>
          <a:stretch>
            <a:fillRect/>
          </a:stretch>
        </p:blipFill>
        <p:spPr>
          <a:xfrm>
            <a:off x="548640" y="1416556"/>
            <a:ext cx="4343400" cy="323773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03  ·  SITE GALLERY</a:t>
            </a:r>
            <a:endParaRPr lang="en-US" sz="1000" dirty="0"/>
          </a:p>
        </p:txBody>
      </p:sp>
      <p:sp>
        <p:nvSpPr>
          <p:cNvPr id="4" name="Text 2"/>
          <p:cNvSpPr/>
          <p:nvPr/>
        </p:nvSpPr>
        <p:spPr>
          <a:xfrm>
            <a:off x="548640" y="658368"/>
            <a:ext cx="5120640" cy="457200"/>
          </a:xfrm>
          <a:prstGeom prst="rect">
            <a:avLst/>
          </a:prstGeom>
          <a:noFill/>
          <a:ln/>
        </p:spPr>
        <p:txBody>
          <a:bodyPr wrap="square" lIns="0" tIns="0" rIns="0" bIns="0" rtlCol="0" anchor="ctr"/>
          <a:lstStyle/>
          <a:p>
            <a:pPr marL="0" indent="0">
              <a:buNone/>
            </a:pP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Images &amp; delivery notes</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2560320" cy="196596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1682496" y="2098548"/>
            <a:ext cx="292608" cy="32004"/>
          </a:xfrm>
          <a:prstGeom prst="rect">
            <a:avLst/>
          </a:prstGeom>
          <a:solidFill>
            <a:srgbClr val="B4632B"/>
          </a:solidFill>
          <a:ln/>
        </p:spPr>
      </p:sp>
      <p:sp>
        <p:nvSpPr>
          <p:cNvPr id="9" name="Text 7"/>
          <p:cNvSpPr/>
          <p:nvPr/>
        </p:nvSpPr>
        <p:spPr>
          <a:xfrm>
            <a:off x="6858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0" name="Image placeholder frame">
            <a:extLst>
              <a:ext uri="{C183D7F6-B498-43B3-948B-1728B52AA6E4}">
                <adec:decorative xmlns="" xmlns:adec="http://schemas.microsoft.com/office/drawing/2017/decorative" val="1"/>
              </a:ext>
            </a:extLst>
          </p:cNvPr>
          <p:cNvSpPr/>
          <p:nvPr/>
        </p:nvSpPr>
        <p:spPr>
          <a:xfrm>
            <a:off x="3291840" y="1371600"/>
            <a:ext cx="2560320" cy="1965960"/>
          </a:xfrm>
          <a:prstGeom prst="rect">
            <a:avLst/>
          </a:prstGeom>
          <a:solidFill>
            <a:srgbClr val="E4DACA"/>
          </a:solidFill>
          <a:ln w="12700">
            <a:solidFill>
              <a:srgbClr val="CBBDA6"/>
            </a:solidFill>
            <a:prstDash val="dash"/>
          </a:ln>
        </p:spPr>
      </p:sp>
      <p:sp>
        <p:nvSpPr>
          <p:cNvPr id="11" name="Placeholder mark">
            <a:extLst>
              <a:ext uri="{C183D7F6-B498-43B3-948B-1728B52AA6E4}">
                <adec:decorative xmlns="" xmlns:adec="http://schemas.microsoft.com/office/drawing/2017/decorative" val="1"/>
              </a:ext>
            </a:extLst>
          </p:cNvPr>
          <p:cNvSpPr/>
          <p:nvPr/>
        </p:nvSpPr>
        <p:spPr>
          <a:xfrm>
            <a:off x="4425696" y="2098548"/>
            <a:ext cx="292608" cy="32004"/>
          </a:xfrm>
          <a:prstGeom prst="rect">
            <a:avLst/>
          </a:prstGeom>
          <a:solidFill>
            <a:srgbClr val="B4632B"/>
          </a:solidFill>
          <a:ln/>
        </p:spPr>
      </p:sp>
      <p:sp>
        <p:nvSpPr>
          <p:cNvPr id="12" name="Text 10"/>
          <p:cNvSpPr/>
          <p:nvPr/>
        </p:nvSpPr>
        <p:spPr>
          <a:xfrm>
            <a:off x="34290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3" name="Image placeholder frame">
            <a:extLst>
              <a:ext uri="{C183D7F6-B498-43B3-948B-1728B52AA6E4}">
                <adec:decorative xmlns="" xmlns:adec="http://schemas.microsoft.com/office/drawing/2017/decorative" val="1"/>
              </a:ext>
            </a:extLst>
          </p:cNvPr>
          <p:cNvSpPr/>
          <p:nvPr/>
        </p:nvSpPr>
        <p:spPr>
          <a:xfrm>
            <a:off x="6035040" y="1371600"/>
            <a:ext cx="2560320" cy="1965960"/>
          </a:xfrm>
          <a:prstGeom prst="rect">
            <a:avLst/>
          </a:prstGeom>
          <a:solidFill>
            <a:srgbClr val="E4DACA"/>
          </a:solidFill>
          <a:ln w="12700">
            <a:solidFill>
              <a:srgbClr val="CBBDA6"/>
            </a:solidFill>
            <a:prstDash val="dash"/>
          </a:ln>
        </p:spPr>
      </p:sp>
      <p:sp>
        <p:nvSpPr>
          <p:cNvPr id="14" name="Placeholder mark">
            <a:extLst>
              <a:ext uri="{C183D7F6-B498-43B3-948B-1728B52AA6E4}">
                <adec:decorative xmlns="" xmlns:adec="http://schemas.microsoft.com/office/drawing/2017/decorative" val="1"/>
              </a:ext>
            </a:extLst>
          </p:cNvPr>
          <p:cNvSpPr/>
          <p:nvPr/>
        </p:nvSpPr>
        <p:spPr>
          <a:xfrm>
            <a:off x="7168896" y="2098548"/>
            <a:ext cx="292608" cy="32004"/>
          </a:xfrm>
          <a:prstGeom prst="rect">
            <a:avLst/>
          </a:prstGeom>
          <a:solidFill>
            <a:srgbClr val="B4632B"/>
          </a:solidFill>
          <a:ln/>
        </p:spPr>
      </p:sp>
      <p:sp>
        <p:nvSpPr>
          <p:cNvPr id="15" name="Text 13"/>
          <p:cNvSpPr/>
          <p:nvPr/>
        </p:nvSpPr>
        <p:spPr>
          <a:xfrm>
            <a:off x="61722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6" name="Text 14"/>
          <p:cNvSpPr/>
          <p:nvPr/>
        </p:nvSpPr>
        <p:spPr>
          <a:xfrm>
            <a:off x="548640" y="3566160"/>
            <a:ext cx="804672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DELIVERY NOTES</a:t>
            </a:r>
            <a:endParaRPr lang="en-US" sz="950" dirty="0"/>
          </a:p>
        </p:txBody>
      </p:sp>
      <p:sp>
        <p:nvSpPr>
          <p:cNvPr id="17" name="Description box">
            <a:extLst>
              <a:ext uri="{C183D7F6-B498-43B3-948B-1728B52AA6E4}">
                <adec:decorative xmlns="" xmlns:adec="http://schemas.microsoft.com/office/drawing/2017/decorative" val="1"/>
              </a:ext>
            </a:extLst>
          </p:cNvPr>
          <p:cNvSpPr/>
          <p:nvPr/>
        </p:nvSpPr>
        <p:spPr>
          <a:xfrm>
            <a:off x="548640" y="3840480"/>
            <a:ext cx="8046720" cy="1051560"/>
          </a:xfrm>
          <a:prstGeom prst="rect">
            <a:avLst/>
          </a:prstGeom>
          <a:solidFill>
            <a:srgbClr val="FFFFFF"/>
          </a:solidFill>
          <a:ln w="12700">
            <a:solidFill>
              <a:srgbClr val="E0D5C2"/>
            </a:solidFill>
            <a:prstDash val="solid"/>
          </a:ln>
        </p:spPr>
      </p:sp>
      <p:sp>
        <p:nvSpPr>
          <p:cNvPr id="18" name="Text 16"/>
          <p:cNvSpPr/>
          <p:nvPr/>
        </p:nvSpPr>
        <p:spPr>
          <a:xfrm>
            <a:off x="713232" y="3968496"/>
            <a:ext cx="7717536" cy="795528"/>
          </a:xfrm>
          <a:prstGeom prst="rect">
            <a:avLst/>
          </a:prstGeom>
          <a:noFill/>
          <a:ln/>
        </p:spPr>
        <p:txBody>
          <a:bodyPr wrap="square" lIns="0" tIns="0" rIns="0" bIns="0" rtlCol="0" anchor="ctr"/>
          <a:lstStyle/>
          <a:p>
            <a:pPr marL="0" indent="0">
              <a:lnSpc>
                <a:spcPts val="1500"/>
              </a:lnSpc>
              <a:buNone/>
            </a:pPr>
            <a:r>
              <a:rPr lang="en-US" sz="1050" i="1" dirty="0">
                <a:latin typeface="Trebuchet MS" pitchFamily="34" charset="0"/>
                <a:ea typeface="Trebuchet MS" pitchFamily="34" charset="-122"/>
                <a:cs typeface="Trebuchet MS" pitchFamily="34" charset="-120"/>
              </a:rPr>
              <a:t>T</a:t>
            </a:r>
            <a:r>
              <a:rPr lang="en-US" sz="1050" i="1" dirty="0" smtClean="0">
                <a:latin typeface="Trebuchet MS" pitchFamily="34" charset="0"/>
                <a:ea typeface="Trebuchet MS" pitchFamily="34" charset="-122"/>
                <a:cs typeface="Trebuchet MS" pitchFamily="34" charset="-120"/>
              </a:rPr>
              <a:t>he project was successfully completed and handed over, meeting the required project, safety, and quality standards. </a:t>
            </a:r>
            <a:endParaRPr lang="en-US" sz="1050" dirty="0"/>
          </a:p>
        </p:txBody>
      </p:sp>
      <p:pic>
        <p:nvPicPr>
          <p:cNvPr id="19" name="Picture 18"/>
          <p:cNvPicPr>
            <a:picLocks noChangeAspect="1"/>
          </p:cNvPicPr>
          <p:nvPr/>
        </p:nvPicPr>
        <p:blipFill>
          <a:blip r:embed="rId3"/>
          <a:stretch>
            <a:fillRect/>
          </a:stretch>
        </p:blipFill>
        <p:spPr>
          <a:xfrm>
            <a:off x="548640" y="1371600"/>
            <a:ext cx="2560320" cy="1965960"/>
          </a:xfrm>
          <a:prstGeom prst="rect">
            <a:avLst/>
          </a:prstGeom>
        </p:spPr>
      </p:pic>
      <p:pic>
        <p:nvPicPr>
          <p:cNvPr id="20" name="Picture 19"/>
          <p:cNvPicPr>
            <a:picLocks noChangeAspect="1"/>
          </p:cNvPicPr>
          <p:nvPr/>
        </p:nvPicPr>
        <p:blipFill>
          <a:blip r:embed="rId4"/>
          <a:stretch>
            <a:fillRect/>
          </a:stretch>
        </p:blipFill>
        <p:spPr>
          <a:xfrm>
            <a:off x="3300977" y="1371601"/>
            <a:ext cx="2551183" cy="1965960"/>
          </a:xfrm>
          <a:prstGeom prst="rect">
            <a:avLst/>
          </a:prstGeom>
        </p:spPr>
      </p:pic>
      <p:pic>
        <p:nvPicPr>
          <p:cNvPr id="21" name="Picture 20"/>
          <p:cNvPicPr>
            <a:picLocks noChangeAspect="1"/>
          </p:cNvPicPr>
          <p:nvPr/>
        </p:nvPicPr>
        <p:blipFill>
          <a:blip r:embed="rId5"/>
          <a:stretch>
            <a:fillRect/>
          </a:stretch>
        </p:blipFill>
        <p:spPr>
          <a:xfrm>
            <a:off x="6044177" y="1371600"/>
            <a:ext cx="2560320" cy="1965960"/>
          </a:xfrm>
          <a:prstGeom prst="rect">
            <a:avLst/>
          </a:prstGeom>
        </p:spPr>
      </p:pic>
      <p:sp>
        <p:nvSpPr>
          <p:cNvPr id="22" name="Rectangle 21"/>
          <p:cNvSpPr/>
          <p:nvPr/>
        </p:nvSpPr>
        <p:spPr>
          <a:xfrm>
            <a:off x="457200" y="786938"/>
            <a:ext cx="3647152" cy="415498"/>
          </a:xfrm>
          <a:prstGeom prst="rect">
            <a:avLst/>
          </a:prstGeom>
        </p:spPr>
        <p:txBody>
          <a:bodyPr wrap="none">
            <a:spAutoFit/>
          </a:bodyPr>
          <a:lstStyle/>
          <a:p>
            <a:pPr lvl="0"/>
            <a:r>
              <a:rPr lang="en-US" sz="2100" b="1" dirty="0">
                <a:solidFill>
                  <a:srgbClr val="2B2926"/>
                </a:solidFill>
                <a:latin typeface="Georgia" pitchFamily="34" charset="0"/>
                <a:ea typeface="Georgia" pitchFamily="34" charset="-122"/>
                <a:cs typeface="Georgia" pitchFamily="34" charset="-120"/>
              </a:rPr>
              <a:t>Golden Chicken Solar PV</a:t>
            </a:r>
            <a:endParaRPr lang="en-US" sz="2100"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04</a:t>
            </a:r>
            <a:endParaRPr lang="en-US" sz="1000" dirty="0"/>
          </a:p>
        </p:txBody>
      </p:sp>
      <p:sp>
        <p:nvSpPr>
          <p:cNvPr id="4" name="Text 2"/>
          <p:cNvSpPr/>
          <p:nvPr/>
        </p:nvSpPr>
        <p:spPr>
          <a:xfrm>
            <a:off x="548640" y="822960"/>
            <a:ext cx="5120640" cy="457200"/>
          </a:xfrm>
          <a:prstGeom prst="rect">
            <a:avLst/>
          </a:prstGeom>
          <a:noFill/>
          <a:ln/>
        </p:spPr>
        <p:txBody>
          <a:bodyPr wrap="square" lIns="0" tIns="0" rIns="0" bIns="0" rtlCol="0" anchor="ctr"/>
          <a:lstStyle/>
          <a:p>
            <a:r>
              <a:rPr lang="en-US" sz="2100" b="1" dirty="0" smtClean="0">
                <a:solidFill>
                  <a:srgbClr val="2B2926"/>
                </a:solidFill>
                <a:latin typeface="Georgia" pitchFamily="34" charset="0"/>
                <a:ea typeface="Georgia" pitchFamily="34" charset="-122"/>
                <a:cs typeface="Georgia" pitchFamily="34" charset="-120"/>
              </a:rPr>
              <a:t>Al </a:t>
            </a:r>
            <a:r>
              <a:rPr lang="en-US" sz="2100" b="1" dirty="0" err="1">
                <a:solidFill>
                  <a:srgbClr val="2B2926"/>
                </a:solidFill>
                <a:latin typeface="Georgia" pitchFamily="34" charset="0"/>
                <a:ea typeface="Georgia" pitchFamily="34" charset="-122"/>
                <a:cs typeface="Georgia" pitchFamily="34" charset="-120"/>
              </a:rPr>
              <a:t>Jomaih</a:t>
            </a:r>
            <a:r>
              <a:rPr lang="en-US" sz="2100" b="1" dirty="0">
                <a:solidFill>
                  <a:srgbClr val="2B2926"/>
                </a:solidFill>
                <a:latin typeface="Georgia" pitchFamily="34" charset="0"/>
                <a:ea typeface="Georgia" pitchFamily="34" charset="-122"/>
                <a:cs typeface="Georgia" pitchFamily="34" charset="-120"/>
              </a:rPr>
              <a:t> Shell Lubricant Factory</a:t>
            </a: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Completed project</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4343400" cy="320040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2574036" y="2715768"/>
            <a:ext cx="292608" cy="32004"/>
          </a:xfrm>
          <a:prstGeom prst="rect">
            <a:avLst/>
          </a:prstGeom>
          <a:solidFill>
            <a:srgbClr val="B4632B"/>
          </a:solidFill>
          <a:ln/>
        </p:spPr>
      </p:sp>
      <p:sp>
        <p:nvSpPr>
          <p:cNvPr id="9" name="Text 7"/>
          <p:cNvSpPr/>
          <p:nvPr/>
        </p:nvSpPr>
        <p:spPr>
          <a:xfrm>
            <a:off x="685800" y="2825496"/>
            <a:ext cx="406908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project image here</a:t>
            </a:r>
            <a:endParaRPr lang="en-US" sz="1050" dirty="0"/>
          </a:p>
        </p:txBody>
      </p:sp>
      <p:sp>
        <p:nvSpPr>
          <p:cNvPr id="10" name="Text 8"/>
          <p:cNvSpPr/>
          <p:nvPr/>
        </p:nvSpPr>
        <p:spPr>
          <a:xfrm>
            <a:off x="5166360" y="137160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PROJECT DESCRIPTION</a:t>
            </a:r>
            <a:endParaRPr lang="en-US" sz="950" dirty="0"/>
          </a:p>
        </p:txBody>
      </p:sp>
      <p:sp>
        <p:nvSpPr>
          <p:cNvPr id="11" name="Description box">
            <a:extLst>
              <a:ext uri="{C183D7F6-B498-43B3-948B-1728B52AA6E4}">
                <adec:decorative xmlns="" xmlns:adec="http://schemas.microsoft.com/office/drawing/2017/decorative" val="1"/>
              </a:ext>
            </a:extLst>
          </p:cNvPr>
          <p:cNvSpPr/>
          <p:nvPr/>
        </p:nvSpPr>
        <p:spPr>
          <a:xfrm>
            <a:off x="5166360" y="1645920"/>
            <a:ext cx="3429000" cy="1417320"/>
          </a:xfrm>
          <a:prstGeom prst="rect">
            <a:avLst/>
          </a:prstGeom>
          <a:solidFill>
            <a:srgbClr val="FFFFFF"/>
          </a:solidFill>
          <a:ln w="12700">
            <a:solidFill>
              <a:srgbClr val="E0D5C2"/>
            </a:solidFill>
            <a:prstDash val="solid"/>
          </a:ln>
        </p:spPr>
      </p:sp>
      <p:sp>
        <p:nvSpPr>
          <p:cNvPr id="12" name="Text 10"/>
          <p:cNvSpPr/>
          <p:nvPr/>
        </p:nvSpPr>
        <p:spPr>
          <a:xfrm>
            <a:off x="5330952" y="1773936"/>
            <a:ext cx="3099816" cy="1161288"/>
          </a:xfrm>
          <a:prstGeom prst="rect">
            <a:avLst/>
          </a:prstGeom>
          <a:noFill/>
          <a:ln/>
        </p:spPr>
        <p:txBody>
          <a:bodyPr wrap="square" lIns="0" tIns="0" rIns="0" bIns="0" rtlCol="0" anchor="ctr"/>
          <a:lstStyle/>
          <a:p>
            <a:pPr marL="0" indent="0">
              <a:lnSpc>
                <a:spcPts val="1500"/>
              </a:lnSpc>
              <a:buNone/>
            </a:pPr>
            <a:r>
              <a:rPr lang="en-US" sz="1050" i="1" dirty="0" smtClean="0">
                <a:latin typeface="Trebuchet MS" pitchFamily="34" charset="0"/>
                <a:ea typeface="Trebuchet MS" pitchFamily="34" charset="-122"/>
                <a:cs typeface="Trebuchet MS" pitchFamily="34" charset="-120"/>
              </a:rPr>
              <a:t>Solar PV installation for an industrial lubricant manufacturing factory, Designed to maximize on-site renewable energy generation and improve energy efficiency. </a:t>
            </a:r>
            <a:endParaRPr lang="en-US" sz="1050" dirty="0"/>
          </a:p>
        </p:txBody>
      </p:sp>
      <p:sp>
        <p:nvSpPr>
          <p:cNvPr id="13" name="Text 11"/>
          <p:cNvSpPr/>
          <p:nvPr/>
        </p:nvSpPr>
        <p:spPr>
          <a:xfrm>
            <a:off x="5166360" y="315468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KEY FACTS</a:t>
            </a:r>
            <a:endParaRPr lang="en-US" sz="950" dirty="0"/>
          </a:p>
        </p:txBody>
      </p:sp>
      <p:sp>
        <p:nvSpPr>
          <p:cNvPr id="14" name="Text 12"/>
          <p:cNvSpPr/>
          <p:nvPr/>
        </p:nvSpPr>
        <p:spPr>
          <a:xfrm>
            <a:off x="5166360" y="3456432"/>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Capacity</a:t>
            </a:r>
            <a:endParaRPr lang="en-US" sz="1000" dirty="0"/>
          </a:p>
        </p:txBody>
      </p:sp>
      <p:sp>
        <p:nvSpPr>
          <p:cNvPr id="16" name="Text 14"/>
          <p:cNvSpPr/>
          <p:nvPr/>
        </p:nvSpPr>
        <p:spPr>
          <a:xfrm>
            <a:off x="5166360" y="3739896"/>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Location</a:t>
            </a:r>
            <a:endParaRPr lang="en-US" sz="1000" dirty="0"/>
          </a:p>
        </p:txBody>
      </p:sp>
      <p:sp>
        <p:nvSpPr>
          <p:cNvPr id="18" name="Text 16"/>
          <p:cNvSpPr/>
          <p:nvPr/>
        </p:nvSpPr>
        <p:spPr>
          <a:xfrm>
            <a:off x="5166360" y="4023360"/>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Scope</a:t>
            </a:r>
            <a:endParaRPr lang="en-US" sz="1000" dirty="0"/>
          </a:p>
        </p:txBody>
      </p:sp>
      <p:sp>
        <p:nvSpPr>
          <p:cNvPr id="20" name="Text 18"/>
          <p:cNvSpPr/>
          <p:nvPr/>
        </p:nvSpPr>
        <p:spPr>
          <a:xfrm>
            <a:off x="5166360" y="4306824"/>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Status</a:t>
            </a:r>
            <a:endParaRPr lang="en-US" sz="1000" dirty="0"/>
          </a:p>
        </p:txBody>
      </p:sp>
      <p:pic>
        <p:nvPicPr>
          <p:cNvPr id="22" name="Picture 21"/>
          <p:cNvPicPr>
            <a:picLocks noChangeAspect="1"/>
          </p:cNvPicPr>
          <p:nvPr/>
        </p:nvPicPr>
        <p:blipFill>
          <a:blip r:embed="rId3"/>
          <a:stretch>
            <a:fillRect/>
          </a:stretch>
        </p:blipFill>
        <p:spPr>
          <a:xfrm>
            <a:off x="548640" y="1362456"/>
            <a:ext cx="4343400" cy="3209544"/>
          </a:xfrm>
          <a:prstGeom prst="rect">
            <a:avLst/>
          </a:prstGeom>
        </p:spPr>
      </p:pic>
      <p:sp>
        <p:nvSpPr>
          <p:cNvPr id="23" name="Rectangle 22"/>
          <p:cNvSpPr/>
          <p:nvPr/>
        </p:nvSpPr>
        <p:spPr>
          <a:xfrm>
            <a:off x="6124877" y="3952050"/>
            <a:ext cx="90281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Turnkey EPC</a:t>
            </a:r>
            <a:endParaRPr lang="en-US" sz="1000" dirty="0">
              <a:solidFill>
                <a:prstClr val="black"/>
              </a:solidFill>
            </a:endParaRPr>
          </a:p>
        </p:txBody>
      </p:sp>
      <p:sp>
        <p:nvSpPr>
          <p:cNvPr id="24" name="Rectangle 23"/>
          <p:cNvSpPr/>
          <p:nvPr/>
        </p:nvSpPr>
        <p:spPr>
          <a:xfrm>
            <a:off x="6124877" y="4266718"/>
            <a:ext cx="81144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Completed</a:t>
            </a:r>
            <a:endParaRPr lang="en-US" sz="1000" dirty="0">
              <a:solidFill>
                <a:prstClr val="black"/>
              </a:solidFill>
            </a:endParaRPr>
          </a:p>
        </p:txBody>
      </p:sp>
      <p:sp>
        <p:nvSpPr>
          <p:cNvPr id="25" name="Rectangle 24"/>
          <p:cNvSpPr/>
          <p:nvPr/>
        </p:nvSpPr>
        <p:spPr>
          <a:xfrm>
            <a:off x="6126480" y="3437358"/>
            <a:ext cx="607859" cy="246221"/>
          </a:xfrm>
          <a:prstGeom prst="rect">
            <a:avLst/>
          </a:prstGeom>
        </p:spPr>
        <p:txBody>
          <a:bodyPr wrap="none">
            <a:spAutoFit/>
          </a:bodyPr>
          <a:lstStyle/>
          <a:p>
            <a:pPr lvl="0"/>
            <a:r>
              <a:rPr lang="en-US" sz="1000" dirty="0" smtClean="0">
                <a:solidFill>
                  <a:srgbClr val="45413B"/>
                </a:solidFill>
                <a:latin typeface="Trebuchet MS" pitchFamily="34" charset="0"/>
              </a:rPr>
              <a:t>500 KW</a:t>
            </a:r>
            <a:endParaRPr lang="en-US" sz="1000" dirty="0">
              <a:solidFill>
                <a:prstClr val="black"/>
              </a:solidFill>
            </a:endParaRPr>
          </a:p>
        </p:txBody>
      </p:sp>
      <p:sp>
        <p:nvSpPr>
          <p:cNvPr id="26" name="Rectangle 25"/>
          <p:cNvSpPr/>
          <p:nvPr/>
        </p:nvSpPr>
        <p:spPr>
          <a:xfrm>
            <a:off x="6126480" y="3689167"/>
            <a:ext cx="899605" cy="246221"/>
          </a:xfrm>
          <a:prstGeom prst="rect">
            <a:avLst/>
          </a:prstGeom>
        </p:spPr>
        <p:txBody>
          <a:bodyPr wrap="none">
            <a:spAutoFit/>
          </a:bodyPr>
          <a:lstStyle/>
          <a:p>
            <a:pPr lvl="0"/>
            <a:r>
              <a:rPr lang="en-US" sz="1000" dirty="0" smtClean="0">
                <a:solidFill>
                  <a:srgbClr val="45413B"/>
                </a:solidFill>
                <a:latin typeface="Trebuchet MS" pitchFamily="34" charset="0"/>
              </a:rPr>
              <a:t>Saudi Arabia</a:t>
            </a:r>
            <a:endParaRPr lang="en-US" sz="1000" dirty="0">
              <a:solidFill>
                <a:prstClr val="black"/>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04  ·  SITE GALLERY</a:t>
            </a:r>
            <a:endParaRPr lang="en-US" sz="1000" dirty="0"/>
          </a:p>
        </p:txBody>
      </p:sp>
      <p:sp>
        <p:nvSpPr>
          <p:cNvPr id="4" name="Text 2"/>
          <p:cNvSpPr/>
          <p:nvPr/>
        </p:nvSpPr>
        <p:spPr>
          <a:xfrm>
            <a:off x="548640" y="950977"/>
            <a:ext cx="5120640" cy="457200"/>
          </a:xfrm>
          <a:prstGeom prst="rect">
            <a:avLst/>
          </a:prstGeom>
          <a:noFill/>
          <a:ln/>
        </p:spPr>
        <p:txBody>
          <a:bodyPr wrap="square" lIns="0" tIns="0" rIns="0" bIns="0" rtlCol="0" anchor="ctr"/>
          <a:lstStyle/>
          <a:p>
            <a:pPr lvl="0"/>
            <a:r>
              <a:rPr lang="en-US" sz="2100" b="1" dirty="0" smtClean="0">
                <a:solidFill>
                  <a:srgbClr val="2B2926"/>
                </a:solidFill>
                <a:latin typeface="Georgia" pitchFamily="34" charset="0"/>
                <a:ea typeface="Georgia" pitchFamily="34" charset="-122"/>
                <a:cs typeface="Georgia" pitchFamily="34" charset="-120"/>
              </a:rPr>
              <a:t>Al </a:t>
            </a:r>
            <a:r>
              <a:rPr lang="en-US" sz="2100" b="1" dirty="0" err="1">
                <a:solidFill>
                  <a:srgbClr val="2B2926"/>
                </a:solidFill>
                <a:latin typeface="Georgia" pitchFamily="34" charset="0"/>
                <a:ea typeface="Georgia" pitchFamily="34" charset="-122"/>
                <a:cs typeface="Georgia" pitchFamily="34" charset="-120"/>
              </a:rPr>
              <a:t>Jomaih</a:t>
            </a:r>
            <a:r>
              <a:rPr lang="en-US" sz="2100" b="1" dirty="0">
                <a:solidFill>
                  <a:srgbClr val="2B2926"/>
                </a:solidFill>
                <a:latin typeface="Georgia" pitchFamily="34" charset="0"/>
                <a:ea typeface="Georgia" pitchFamily="34" charset="-122"/>
                <a:cs typeface="Georgia" pitchFamily="34" charset="-120"/>
              </a:rPr>
              <a:t> Shell Lubricant Factory</a:t>
            </a:r>
            <a:endParaRPr lang="en-US" sz="2100" dirty="0">
              <a:solidFill>
                <a:prstClr val="black"/>
              </a:solidFill>
            </a:endParaRPr>
          </a:p>
          <a:p>
            <a:pPr marL="0" indent="0">
              <a:buNone/>
            </a:pP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Images &amp; delivery notes</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2560320" cy="196596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1682496" y="2098548"/>
            <a:ext cx="292608" cy="32004"/>
          </a:xfrm>
          <a:prstGeom prst="rect">
            <a:avLst/>
          </a:prstGeom>
          <a:solidFill>
            <a:srgbClr val="B4632B"/>
          </a:solidFill>
          <a:ln/>
        </p:spPr>
      </p:sp>
      <p:sp>
        <p:nvSpPr>
          <p:cNvPr id="9" name="Text 7"/>
          <p:cNvSpPr/>
          <p:nvPr/>
        </p:nvSpPr>
        <p:spPr>
          <a:xfrm>
            <a:off x="6858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0" name="Image placeholder frame">
            <a:extLst>
              <a:ext uri="{C183D7F6-B498-43B3-948B-1728B52AA6E4}">
                <adec:decorative xmlns="" xmlns:adec="http://schemas.microsoft.com/office/drawing/2017/decorative" val="1"/>
              </a:ext>
            </a:extLst>
          </p:cNvPr>
          <p:cNvSpPr/>
          <p:nvPr/>
        </p:nvSpPr>
        <p:spPr>
          <a:xfrm>
            <a:off x="3291840" y="1371600"/>
            <a:ext cx="2560320" cy="1965960"/>
          </a:xfrm>
          <a:prstGeom prst="rect">
            <a:avLst/>
          </a:prstGeom>
          <a:solidFill>
            <a:srgbClr val="E4DACA"/>
          </a:solidFill>
          <a:ln w="12700">
            <a:solidFill>
              <a:srgbClr val="CBBDA6"/>
            </a:solidFill>
            <a:prstDash val="dash"/>
          </a:ln>
        </p:spPr>
      </p:sp>
      <p:sp>
        <p:nvSpPr>
          <p:cNvPr id="11" name="Placeholder mark">
            <a:extLst>
              <a:ext uri="{C183D7F6-B498-43B3-948B-1728B52AA6E4}">
                <adec:decorative xmlns="" xmlns:adec="http://schemas.microsoft.com/office/drawing/2017/decorative" val="1"/>
              </a:ext>
            </a:extLst>
          </p:cNvPr>
          <p:cNvSpPr/>
          <p:nvPr/>
        </p:nvSpPr>
        <p:spPr>
          <a:xfrm>
            <a:off x="4425696" y="2098548"/>
            <a:ext cx="292608" cy="32004"/>
          </a:xfrm>
          <a:prstGeom prst="rect">
            <a:avLst/>
          </a:prstGeom>
          <a:solidFill>
            <a:srgbClr val="B4632B"/>
          </a:solidFill>
          <a:ln/>
        </p:spPr>
      </p:sp>
      <p:sp>
        <p:nvSpPr>
          <p:cNvPr id="12" name="Text 10"/>
          <p:cNvSpPr/>
          <p:nvPr/>
        </p:nvSpPr>
        <p:spPr>
          <a:xfrm>
            <a:off x="34290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3" name="Image placeholder frame">
            <a:extLst>
              <a:ext uri="{C183D7F6-B498-43B3-948B-1728B52AA6E4}">
                <adec:decorative xmlns="" xmlns:adec="http://schemas.microsoft.com/office/drawing/2017/decorative" val="1"/>
              </a:ext>
            </a:extLst>
          </p:cNvPr>
          <p:cNvSpPr/>
          <p:nvPr/>
        </p:nvSpPr>
        <p:spPr>
          <a:xfrm>
            <a:off x="6035040" y="1371600"/>
            <a:ext cx="2560320" cy="1965960"/>
          </a:xfrm>
          <a:prstGeom prst="rect">
            <a:avLst/>
          </a:prstGeom>
          <a:solidFill>
            <a:srgbClr val="E4DACA"/>
          </a:solidFill>
          <a:ln w="12700">
            <a:solidFill>
              <a:srgbClr val="CBBDA6"/>
            </a:solidFill>
            <a:prstDash val="dash"/>
          </a:ln>
        </p:spPr>
      </p:sp>
      <p:sp>
        <p:nvSpPr>
          <p:cNvPr id="14" name="Placeholder mark">
            <a:extLst>
              <a:ext uri="{C183D7F6-B498-43B3-948B-1728B52AA6E4}">
                <adec:decorative xmlns="" xmlns:adec="http://schemas.microsoft.com/office/drawing/2017/decorative" val="1"/>
              </a:ext>
            </a:extLst>
          </p:cNvPr>
          <p:cNvSpPr/>
          <p:nvPr/>
        </p:nvSpPr>
        <p:spPr>
          <a:xfrm>
            <a:off x="7168896" y="2098548"/>
            <a:ext cx="292608" cy="32004"/>
          </a:xfrm>
          <a:prstGeom prst="rect">
            <a:avLst/>
          </a:prstGeom>
          <a:solidFill>
            <a:srgbClr val="B4632B"/>
          </a:solidFill>
          <a:ln/>
        </p:spPr>
      </p:sp>
      <p:sp>
        <p:nvSpPr>
          <p:cNvPr id="15" name="Text 13"/>
          <p:cNvSpPr/>
          <p:nvPr/>
        </p:nvSpPr>
        <p:spPr>
          <a:xfrm>
            <a:off x="61722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6" name="Text 14"/>
          <p:cNvSpPr/>
          <p:nvPr/>
        </p:nvSpPr>
        <p:spPr>
          <a:xfrm>
            <a:off x="548640" y="3566160"/>
            <a:ext cx="804672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DELIVERY NOTES</a:t>
            </a:r>
            <a:endParaRPr lang="en-US" sz="950" dirty="0"/>
          </a:p>
        </p:txBody>
      </p:sp>
      <p:sp>
        <p:nvSpPr>
          <p:cNvPr id="17" name="Description box">
            <a:extLst>
              <a:ext uri="{C183D7F6-B498-43B3-948B-1728B52AA6E4}">
                <adec:decorative xmlns="" xmlns:adec="http://schemas.microsoft.com/office/drawing/2017/decorative" val="1"/>
              </a:ext>
            </a:extLst>
          </p:cNvPr>
          <p:cNvSpPr/>
          <p:nvPr/>
        </p:nvSpPr>
        <p:spPr>
          <a:xfrm>
            <a:off x="548640" y="3840480"/>
            <a:ext cx="8046720" cy="1051560"/>
          </a:xfrm>
          <a:prstGeom prst="rect">
            <a:avLst/>
          </a:prstGeom>
          <a:solidFill>
            <a:srgbClr val="FFFFFF"/>
          </a:solidFill>
          <a:ln w="12700">
            <a:solidFill>
              <a:srgbClr val="E0D5C2"/>
            </a:solidFill>
            <a:prstDash val="solid"/>
          </a:ln>
        </p:spPr>
      </p:sp>
      <p:sp>
        <p:nvSpPr>
          <p:cNvPr id="18" name="Text 16"/>
          <p:cNvSpPr/>
          <p:nvPr/>
        </p:nvSpPr>
        <p:spPr>
          <a:xfrm>
            <a:off x="713232" y="3968496"/>
            <a:ext cx="7717536" cy="795528"/>
          </a:xfrm>
          <a:prstGeom prst="rect">
            <a:avLst/>
          </a:prstGeom>
          <a:noFill/>
          <a:ln/>
        </p:spPr>
        <p:txBody>
          <a:bodyPr wrap="square" lIns="0" tIns="0" rIns="0" bIns="0" rtlCol="0" anchor="ctr"/>
          <a:lstStyle/>
          <a:p>
            <a:pPr marL="0" indent="0">
              <a:lnSpc>
                <a:spcPts val="1500"/>
              </a:lnSpc>
              <a:buNone/>
            </a:pPr>
            <a:r>
              <a:rPr lang="en-US" sz="1050" i="1" dirty="0" smtClean="0">
                <a:latin typeface="Trebuchet MS" pitchFamily="34" charset="0"/>
                <a:ea typeface="Trebuchet MS" pitchFamily="34" charset="-122"/>
                <a:cs typeface="Trebuchet MS" pitchFamily="34" charset="-120"/>
              </a:rPr>
              <a:t>Successfully completed and delivered with a focus on safe installation, quality workmanship and reliable system. </a:t>
            </a:r>
            <a:endParaRPr lang="en-US" sz="1050" dirty="0"/>
          </a:p>
        </p:txBody>
      </p:sp>
      <p:pic>
        <p:nvPicPr>
          <p:cNvPr id="19" name="Picture 18"/>
          <p:cNvPicPr>
            <a:picLocks noChangeAspect="1"/>
          </p:cNvPicPr>
          <p:nvPr/>
        </p:nvPicPr>
        <p:blipFill>
          <a:blip r:embed="rId3"/>
          <a:stretch>
            <a:fillRect/>
          </a:stretch>
        </p:blipFill>
        <p:spPr>
          <a:xfrm>
            <a:off x="548641" y="1371600"/>
            <a:ext cx="2606040" cy="1965960"/>
          </a:xfrm>
          <a:prstGeom prst="rect">
            <a:avLst/>
          </a:prstGeom>
        </p:spPr>
      </p:pic>
      <p:pic>
        <p:nvPicPr>
          <p:cNvPr id="21" name="Picture 20"/>
          <p:cNvPicPr>
            <a:picLocks noChangeAspect="1"/>
          </p:cNvPicPr>
          <p:nvPr/>
        </p:nvPicPr>
        <p:blipFill>
          <a:blip r:embed="rId4"/>
          <a:stretch>
            <a:fillRect/>
          </a:stretch>
        </p:blipFill>
        <p:spPr>
          <a:xfrm>
            <a:off x="3291840" y="1394461"/>
            <a:ext cx="2560320" cy="1979676"/>
          </a:xfrm>
          <a:prstGeom prst="rect">
            <a:avLst/>
          </a:prstGeom>
        </p:spPr>
      </p:pic>
      <p:pic>
        <p:nvPicPr>
          <p:cNvPr id="22" name="Picture 21"/>
          <p:cNvPicPr>
            <a:picLocks noChangeAspect="1"/>
          </p:cNvPicPr>
          <p:nvPr/>
        </p:nvPicPr>
        <p:blipFill>
          <a:blip r:embed="rId5"/>
          <a:stretch>
            <a:fillRect/>
          </a:stretch>
        </p:blipFill>
        <p:spPr>
          <a:xfrm>
            <a:off x="6019800" y="1380003"/>
            <a:ext cx="2575560" cy="199413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05</a:t>
            </a:r>
            <a:endParaRPr lang="en-US" sz="1000" dirty="0"/>
          </a:p>
        </p:txBody>
      </p:sp>
      <p:sp>
        <p:nvSpPr>
          <p:cNvPr id="4" name="Text 2"/>
          <p:cNvSpPr/>
          <p:nvPr/>
        </p:nvSpPr>
        <p:spPr>
          <a:xfrm>
            <a:off x="548640" y="768096"/>
            <a:ext cx="6878320" cy="457200"/>
          </a:xfrm>
          <a:prstGeom prst="rect">
            <a:avLst/>
          </a:prstGeom>
          <a:noFill/>
          <a:ln/>
        </p:spPr>
        <p:txBody>
          <a:bodyPr wrap="square" lIns="0" tIns="0" rIns="0" bIns="0" rtlCol="0" anchor="ctr"/>
          <a:lstStyle/>
          <a:p>
            <a:r>
              <a:rPr lang="en-US" sz="2100" b="1" dirty="0" err="1" smtClean="0">
                <a:solidFill>
                  <a:srgbClr val="2B2926"/>
                </a:solidFill>
                <a:latin typeface="Georgia" pitchFamily="34" charset="0"/>
                <a:ea typeface="Georgia" pitchFamily="34" charset="-122"/>
                <a:cs typeface="Georgia" pitchFamily="34" charset="-120"/>
              </a:rPr>
              <a:t>Qiddiya</a:t>
            </a:r>
            <a:r>
              <a:rPr lang="en-US" sz="2100" b="1" dirty="0" smtClean="0">
                <a:solidFill>
                  <a:srgbClr val="2B2926"/>
                </a:solidFill>
                <a:latin typeface="Georgia" pitchFamily="34" charset="0"/>
                <a:ea typeface="Georgia" pitchFamily="34" charset="-122"/>
                <a:cs typeface="Georgia" pitchFamily="34" charset="-120"/>
              </a:rPr>
              <a:t> </a:t>
            </a:r>
            <a:r>
              <a:rPr lang="en-US" sz="2100" b="1" dirty="0">
                <a:solidFill>
                  <a:srgbClr val="2B2926"/>
                </a:solidFill>
                <a:latin typeface="Georgia" pitchFamily="34" charset="0"/>
                <a:ea typeface="Georgia" pitchFamily="34" charset="-122"/>
                <a:cs typeface="Georgia" pitchFamily="34" charset="-120"/>
              </a:rPr>
              <a:t>Six flags Solar On Grid Ground Mount </a:t>
            </a: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Completed project</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4343400" cy="320040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2574036" y="2715768"/>
            <a:ext cx="292608" cy="32004"/>
          </a:xfrm>
          <a:prstGeom prst="rect">
            <a:avLst/>
          </a:prstGeom>
          <a:solidFill>
            <a:srgbClr val="B4632B"/>
          </a:solidFill>
          <a:ln/>
        </p:spPr>
      </p:sp>
      <p:sp>
        <p:nvSpPr>
          <p:cNvPr id="9" name="Text 7"/>
          <p:cNvSpPr/>
          <p:nvPr/>
        </p:nvSpPr>
        <p:spPr>
          <a:xfrm>
            <a:off x="685800" y="2825496"/>
            <a:ext cx="406908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project image here</a:t>
            </a:r>
            <a:endParaRPr lang="en-US" sz="1050" dirty="0"/>
          </a:p>
        </p:txBody>
      </p:sp>
      <p:sp>
        <p:nvSpPr>
          <p:cNvPr id="10" name="Text 8"/>
          <p:cNvSpPr/>
          <p:nvPr/>
        </p:nvSpPr>
        <p:spPr>
          <a:xfrm>
            <a:off x="5166360" y="137160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PROJECT DESCRIPTION</a:t>
            </a:r>
            <a:endParaRPr lang="en-US" sz="950" dirty="0"/>
          </a:p>
        </p:txBody>
      </p:sp>
      <p:sp>
        <p:nvSpPr>
          <p:cNvPr id="11" name="Description box">
            <a:extLst>
              <a:ext uri="{C183D7F6-B498-43B3-948B-1728B52AA6E4}">
                <adec:decorative xmlns="" xmlns:adec="http://schemas.microsoft.com/office/drawing/2017/decorative" val="1"/>
              </a:ext>
            </a:extLst>
          </p:cNvPr>
          <p:cNvSpPr/>
          <p:nvPr/>
        </p:nvSpPr>
        <p:spPr>
          <a:xfrm>
            <a:off x="5166360" y="1645920"/>
            <a:ext cx="3429000" cy="1417320"/>
          </a:xfrm>
          <a:prstGeom prst="rect">
            <a:avLst/>
          </a:prstGeom>
          <a:solidFill>
            <a:srgbClr val="FFFFFF"/>
          </a:solidFill>
          <a:ln w="12700">
            <a:solidFill>
              <a:srgbClr val="E0D5C2"/>
            </a:solidFill>
            <a:prstDash val="solid"/>
          </a:ln>
        </p:spPr>
      </p:sp>
      <p:sp>
        <p:nvSpPr>
          <p:cNvPr id="12" name="Text 10"/>
          <p:cNvSpPr/>
          <p:nvPr/>
        </p:nvSpPr>
        <p:spPr>
          <a:xfrm>
            <a:off x="5330952" y="1773936"/>
            <a:ext cx="3099816" cy="1161288"/>
          </a:xfrm>
          <a:prstGeom prst="rect">
            <a:avLst/>
          </a:prstGeom>
          <a:noFill/>
          <a:ln/>
        </p:spPr>
        <p:txBody>
          <a:bodyPr wrap="square" lIns="0" tIns="0" rIns="0" bIns="0" rtlCol="0" anchor="ctr"/>
          <a:lstStyle/>
          <a:p>
            <a:pPr marL="0" indent="0">
              <a:lnSpc>
                <a:spcPts val="1500"/>
              </a:lnSpc>
              <a:buNone/>
            </a:pPr>
            <a:r>
              <a:rPr lang="en-US" sz="1050" i="1" dirty="0">
                <a:solidFill>
                  <a:srgbClr val="A2947C"/>
                </a:solidFill>
                <a:latin typeface="Trebuchet MS" pitchFamily="34" charset="0"/>
                <a:ea typeface="Trebuchet MS" pitchFamily="34" charset="-122"/>
                <a:cs typeface="Trebuchet MS" pitchFamily="34" charset="-120"/>
              </a:rPr>
              <a:t>Write the project description here — scope of works, system design, site conditions, timeline and outcome.</a:t>
            </a:r>
            <a:endParaRPr lang="en-US" sz="1050" dirty="0"/>
          </a:p>
        </p:txBody>
      </p:sp>
      <p:sp>
        <p:nvSpPr>
          <p:cNvPr id="13" name="Text 11"/>
          <p:cNvSpPr/>
          <p:nvPr/>
        </p:nvSpPr>
        <p:spPr>
          <a:xfrm>
            <a:off x="5166360" y="315468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KEY FACTS</a:t>
            </a:r>
            <a:endParaRPr lang="en-US" sz="950" dirty="0"/>
          </a:p>
        </p:txBody>
      </p:sp>
      <p:sp>
        <p:nvSpPr>
          <p:cNvPr id="14" name="Text 12"/>
          <p:cNvSpPr/>
          <p:nvPr/>
        </p:nvSpPr>
        <p:spPr>
          <a:xfrm>
            <a:off x="5166360" y="3456432"/>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Capacity</a:t>
            </a:r>
            <a:endParaRPr lang="en-US" sz="1000" dirty="0"/>
          </a:p>
        </p:txBody>
      </p:sp>
      <p:sp>
        <p:nvSpPr>
          <p:cNvPr id="16" name="Text 14"/>
          <p:cNvSpPr/>
          <p:nvPr/>
        </p:nvSpPr>
        <p:spPr>
          <a:xfrm>
            <a:off x="5166360" y="3739896"/>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Location</a:t>
            </a:r>
            <a:endParaRPr lang="en-US" sz="1000" dirty="0"/>
          </a:p>
        </p:txBody>
      </p:sp>
      <p:sp>
        <p:nvSpPr>
          <p:cNvPr id="18" name="Text 16"/>
          <p:cNvSpPr/>
          <p:nvPr/>
        </p:nvSpPr>
        <p:spPr>
          <a:xfrm>
            <a:off x="5166360" y="4023360"/>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Scope</a:t>
            </a:r>
            <a:endParaRPr lang="en-US" sz="1000" dirty="0"/>
          </a:p>
        </p:txBody>
      </p:sp>
      <p:sp>
        <p:nvSpPr>
          <p:cNvPr id="20" name="Text 18"/>
          <p:cNvSpPr/>
          <p:nvPr/>
        </p:nvSpPr>
        <p:spPr>
          <a:xfrm>
            <a:off x="5166360" y="4306824"/>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Status</a:t>
            </a:r>
            <a:endParaRPr lang="en-US" sz="1000" dirty="0"/>
          </a:p>
        </p:txBody>
      </p:sp>
      <p:pic>
        <p:nvPicPr>
          <p:cNvPr id="23" name="Picture 22"/>
          <p:cNvPicPr>
            <a:picLocks noChangeAspect="1"/>
          </p:cNvPicPr>
          <p:nvPr/>
        </p:nvPicPr>
        <p:blipFill rotWithShape="1">
          <a:blip r:embed="rId3"/>
          <a:srcRect l="18461" t="23920" r="19359" b="14128"/>
          <a:stretch/>
        </p:blipFill>
        <p:spPr>
          <a:xfrm>
            <a:off x="548641" y="1371601"/>
            <a:ext cx="4343399" cy="3200400"/>
          </a:xfrm>
          <a:prstGeom prst="rect">
            <a:avLst/>
          </a:prstGeom>
        </p:spPr>
      </p:pic>
      <p:sp>
        <p:nvSpPr>
          <p:cNvPr id="24" name="Rectangle 23"/>
          <p:cNvSpPr/>
          <p:nvPr/>
        </p:nvSpPr>
        <p:spPr>
          <a:xfrm>
            <a:off x="6124877" y="3952050"/>
            <a:ext cx="90281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Turnkey EPC</a:t>
            </a:r>
            <a:endParaRPr lang="en-US" sz="1000" dirty="0">
              <a:solidFill>
                <a:prstClr val="black"/>
              </a:solidFill>
            </a:endParaRPr>
          </a:p>
        </p:txBody>
      </p:sp>
      <p:sp>
        <p:nvSpPr>
          <p:cNvPr id="25" name="Rectangle 24"/>
          <p:cNvSpPr/>
          <p:nvPr/>
        </p:nvSpPr>
        <p:spPr>
          <a:xfrm>
            <a:off x="6124877" y="4266718"/>
            <a:ext cx="81144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Completed</a:t>
            </a:r>
            <a:endParaRPr lang="en-US" sz="1000" dirty="0">
              <a:solidFill>
                <a:prstClr val="black"/>
              </a:solidFill>
            </a:endParaRPr>
          </a:p>
        </p:txBody>
      </p:sp>
      <p:sp>
        <p:nvSpPr>
          <p:cNvPr id="26" name="Rectangle 25"/>
          <p:cNvSpPr/>
          <p:nvPr/>
        </p:nvSpPr>
        <p:spPr>
          <a:xfrm>
            <a:off x="6126480" y="3437358"/>
            <a:ext cx="607859" cy="246221"/>
          </a:xfrm>
          <a:prstGeom prst="rect">
            <a:avLst/>
          </a:prstGeom>
        </p:spPr>
        <p:txBody>
          <a:bodyPr wrap="none">
            <a:spAutoFit/>
          </a:bodyPr>
          <a:lstStyle/>
          <a:p>
            <a:pPr lvl="0"/>
            <a:r>
              <a:rPr lang="en-US" sz="1000" dirty="0" smtClean="0">
                <a:solidFill>
                  <a:srgbClr val="45413B"/>
                </a:solidFill>
                <a:latin typeface="Trebuchet MS" pitchFamily="34" charset="0"/>
              </a:rPr>
              <a:t>500 KW</a:t>
            </a:r>
            <a:endParaRPr lang="en-US" sz="1000" dirty="0">
              <a:solidFill>
                <a:prstClr val="black"/>
              </a:solidFill>
            </a:endParaRPr>
          </a:p>
        </p:txBody>
      </p:sp>
      <p:sp>
        <p:nvSpPr>
          <p:cNvPr id="27" name="Rectangle 26"/>
          <p:cNvSpPr/>
          <p:nvPr/>
        </p:nvSpPr>
        <p:spPr>
          <a:xfrm>
            <a:off x="6126480" y="3689167"/>
            <a:ext cx="899605" cy="246221"/>
          </a:xfrm>
          <a:prstGeom prst="rect">
            <a:avLst/>
          </a:prstGeom>
        </p:spPr>
        <p:txBody>
          <a:bodyPr wrap="none">
            <a:spAutoFit/>
          </a:bodyPr>
          <a:lstStyle/>
          <a:p>
            <a:pPr lvl="0"/>
            <a:r>
              <a:rPr lang="en-US" sz="1000" dirty="0" smtClean="0">
                <a:solidFill>
                  <a:srgbClr val="45413B"/>
                </a:solidFill>
                <a:latin typeface="Trebuchet MS" pitchFamily="34" charset="0"/>
              </a:rPr>
              <a:t>Saudi Arabia</a:t>
            </a:r>
            <a:endParaRPr lang="en-US" sz="1000"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05  ·  SITE GALLERY</a:t>
            </a:r>
            <a:endParaRPr lang="en-US" sz="1000" dirty="0"/>
          </a:p>
        </p:txBody>
      </p:sp>
      <p:sp>
        <p:nvSpPr>
          <p:cNvPr id="4" name="Text 2"/>
          <p:cNvSpPr/>
          <p:nvPr/>
        </p:nvSpPr>
        <p:spPr>
          <a:xfrm>
            <a:off x="548640" y="731520"/>
            <a:ext cx="6620256" cy="457200"/>
          </a:xfrm>
          <a:prstGeom prst="rect">
            <a:avLst/>
          </a:prstGeom>
          <a:noFill/>
          <a:ln/>
        </p:spPr>
        <p:txBody>
          <a:bodyPr wrap="square" lIns="0" tIns="0" rIns="0" bIns="0" rtlCol="0" anchor="ctr"/>
          <a:lstStyle/>
          <a:p>
            <a:r>
              <a:rPr lang="en-US" sz="2100" b="1" dirty="0" err="1" smtClean="0">
                <a:solidFill>
                  <a:srgbClr val="2B2926"/>
                </a:solidFill>
                <a:latin typeface="Georgia" pitchFamily="34" charset="0"/>
                <a:ea typeface="Georgia" pitchFamily="34" charset="-122"/>
                <a:cs typeface="Georgia" pitchFamily="34" charset="-120"/>
              </a:rPr>
              <a:t>Qiddiya</a:t>
            </a:r>
            <a:r>
              <a:rPr lang="en-US" sz="2100" b="1" dirty="0" smtClean="0">
                <a:solidFill>
                  <a:srgbClr val="2B2926"/>
                </a:solidFill>
                <a:latin typeface="Georgia" pitchFamily="34" charset="0"/>
                <a:ea typeface="Georgia" pitchFamily="34" charset="-122"/>
                <a:cs typeface="Georgia" pitchFamily="34" charset="-120"/>
              </a:rPr>
              <a:t> </a:t>
            </a:r>
            <a:r>
              <a:rPr lang="en-US" sz="2100" b="1" dirty="0">
                <a:solidFill>
                  <a:srgbClr val="2B2926"/>
                </a:solidFill>
                <a:latin typeface="Georgia" pitchFamily="34" charset="0"/>
                <a:ea typeface="Georgia" pitchFamily="34" charset="-122"/>
                <a:cs typeface="Georgia" pitchFamily="34" charset="-120"/>
              </a:rPr>
              <a:t>Six flags Solar On Grid Ground Mount </a:t>
            </a: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Images &amp; delivery notes</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2560320" cy="196596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1682496" y="2098548"/>
            <a:ext cx="292608" cy="32004"/>
          </a:xfrm>
          <a:prstGeom prst="rect">
            <a:avLst/>
          </a:prstGeom>
          <a:solidFill>
            <a:srgbClr val="B4632B"/>
          </a:solidFill>
          <a:ln/>
        </p:spPr>
      </p:sp>
      <p:sp>
        <p:nvSpPr>
          <p:cNvPr id="9" name="Text 7"/>
          <p:cNvSpPr/>
          <p:nvPr/>
        </p:nvSpPr>
        <p:spPr>
          <a:xfrm>
            <a:off x="6858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0" name="Image placeholder frame">
            <a:extLst>
              <a:ext uri="{C183D7F6-B498-43B3-948B-1728B52AA6E4}">
                <adec:decorative xmlns="" xmlns:adec="http://schemas.microsoft.com/office/drawing/2017/decorative" val="1"/>
              </a:ext>
            </a:extLst>
          </p:cNvPr>
          <p:cNvSpPr/>
          <p:nvPr/>
        </p:nvSpPr>
        <p:spPr>
          <a:xfrm>
            <a:off x="3291840" y="1371600"/>
            <a:ext cx="2560320" cy="1965960"/>
          </a:xfrm>
          <a:prstGeom prst="rect">
            <a:avLst/>
          </a:prstGeom>
          <a:solidFill>
            <a:srgbClr val="E4DACA"/>
          </a:solidFill>
          <a:ln w="12700">
            <a:solidFill>
              <a:srgbClr val="CBBDA6"/>
            </a:solidFill>
            <a:prstDash val="dash"/>
          </a:ln>
        </p:spPr>
      </p:sp>
      <p:sp>
        <p:nvSpPr>
          <p:cNvPr id="11" name="Placeholder mark">
            <a:extLst>
              <a:ext uri="{C183D7F6-B498-43B3-948B-1728B52AA6E4}">
                <adec:decorative xmlns="" xmlns:adec="http://schemas.microsoft.com/office/drawing/2017/decorative" val="1"/>
              </a:ext>
            </a:extLst>
          </p:cNvPr>
          <p:cNvSpPr/>
          <p:nvPr/>
        </p:nvSpPr>
        <p:spPr>
          <a:xfrm>
            <a:off x="4425696" y="2098548"/>
            <a:ext cx="292608" cy="32004"/>
          </a:xfrm>
          <a:prstGeom prst="rect">
            <a:avLst/>
          </a:prstGeom>
          <a:solidFill>
            <a:srgbClr val="B4632B"/>
          </a:solidFill>
          <a:ln/>
        </p:spPr>
      </p:sp>
      <p:sp>
        <p:nvSpPr>
          <p:cNvPr id="12" name="Text 10"/>
          <p:cNvSpPr/>
          <p:nvPr/>
        </p:nvSpPr>
        <p:spPr>
          <a:xfrm>
            <a:off x="34290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3" name="Image placeholder frame">
            <a:extLst>
              <a:ext uri="{C183D7F6-B498-43B3-948B-1728B52AA6E4}">
                <adec:decorative xmlns="" xmlns:adec="http://schemas.microsoft.com/office/drawing/2017/decorative" val="1"/>
              </a:ext>
            </a:extLst>
          </p:cNvPr>
          <p:cNvSpPr/>
          <p:nvPr/>
        </p:nvSpPr>
        <p:spPr>
          <a:xfrm>
            <a:off x="6035040" y="1371600"/>
            <a:ext cx="2560320" cy="1965960"/>
          </a:xfrm>
          <a:prstGeom prst="rect">
            <a:avLst/>
          </a:prstGeom>
          <a:solidFill>
            <a:srgbClr val="E4DACA"/>
          </a:solidFill>
          <a:ln w="12700">
            <a:solidFill>
              <a:srgbClr val="CBBDA6"/>
            </a:solidFill>
            <a:prstDash val="dash"/>
          </a:ln>
        </p:spPr>
      </p:sp>
      <p:sp>
        <p:nvSpPr>
          <p:cNvPr id="14" name="Placeholder mark">
            <a:extLst>
              <a:ext uri="{C183D7F6-B498-43B3-948B-1728B52AA6E4}">
                <adec:decorative xmlns="" xmlns:adec="http://schemas.microsoft.com/office/drawing/2017/decorative" val="1"/>
              </a:ext>
            </a:extLst>
          </p:cNvPr>
          <p:cNvSpPr/>
          <p:nvPr/>
        </p:nvSpPr>
        <p:spPr>
          <a:xfrm>
            <a:off x="7168896" y="2098548"/>
            <a:ext cx="292608" cy="32004"/>
          </a:xfrm>
          <a:prstGeom prst="rect">
            <a:avLst/>
          </a:prstGeom>
          <a:solidFill>
            <a:srgbClr val="B4632B"/>
          </a:solidFill>
          <a:ln/>
        </p:spPr>
      </p:sp>
      <p:sp>
        <p:nvSpPr>
          <p:cNvPr id="15" name="Text 13"/>
          <p:cNvSpPr/>
          <p:nvPr/>
        </p:nvSpPr>
        <p:spPr>
          <a:xfrm>
            <a:off x="61722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6" name="Text 14"/>
          <p:cNvSpPr/>
          <p:nvPr/>
        </p:nvSpPr>
        <p:spPr>
          <a:xfrm>
            <a:off x="548640" y="3566160"/>
            <a:ext cx="804672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DELIVERY NOTES</a:t>
            </a:r>
            <a:endParaRPr lang="en-US" sz="950" dirty="0"/>
          </a:p>
        </p:txBody>
      </p:sp>
      <p:sp>
        <p:nvSpPr>
          <p:cNvPr id="17" name="Description box">
            <a:extLst>
              <a:ext uri="{C183D7F6-B498-43B3-948B-1728B52AA6E4}">
                <adec:decorative xmlns="" xmlns:adec="http://schemas.microsoft.com/office/drawing/2017/decorative" val="1"/>
              </a:ext>
            </a:extLst>
          </p:cNvPr>
          <p:cNvSpPr/>
          <p:nvPr/>
        </p:nvSpPr>
        <p:spPr>
          <a:xfrm>
            <a:off x="548640" y="3840480"/>
            <a:ext cx="8046720" cy="1051560"/>
          </a:xfrm>
          <a:prstGeom prst="rect">
            <a:avLst/>
          </a:prstGeom>
          <a:solidFill>
            <a:srgbClr val="FFFFFF"/>
          </a:solidFill>
          <a:ln w="12700">
            <a:solidFill>
              <a:srgbClr val="E0D5C2"/>
            </a:solidFill>
            <a:prstDash val="solid"/>
          </a:ln>
        </p:spPr>
      </p:sp>
      <p:sp>
        <p:nvSpPr>
          <p:cNvPr id="18" name="Text 16"/>
          <p:cNvSpPr/>
          <p:nvPr/>
        </p:nvSpPr>
        <p:spPr>
          <a:xfrm>
            <a:off x="713232" y="3968496"/>
            <a:ext cx="7717536" cy="795528"/>
          </a:xfrm>
          <a:prstGeom prst="rect">
            <a:avLst/>
          </a:prstGeom>
          <a:noFill/>
          <a:ln/>
        </p:spPr>
        <p:txBody>
          <a:bodyPr wrap="square" lIns="0" tIns="0" rIns="0" bIns="0" rtlCol="0" anchor="ctr"/>
          <a:lstStyle/>
          <a:p>
            <a:pPr marL="0" indent="0">
              <a:lnSpc>
                <a:spcPts val="1500"/>
              </a:lnSpc>
              <a:buNone/>
            </a:pPr>
            <a:r>
              <a:rPr lang="en-US" sz="1050" i="1" dirty="0">
                <a:solidFill>
                  <a:srgbClr val="A2947C"/>
                </a:solidFill>
                <a:latin typeface="Trebuchet MS" pitchFamily="34" charset="0"/>
                <a:ea typeface="Trebuchet MS" pitchFamily="34" charset="-122"/>
                <a:cs typeface="Trebuchet MS" pitchFamily="34" charset="-120"/>
              </a:rPr>
              <a:t>Add notes here — installation highlights, engineering challenges solved, performance results and client feedback.</a:t>
            </a:r>
            <a:endParaRPr lang="en-US" sz="1050" dirty="0"/>
          </a:p>
        </p:txBody>
      </p:sp>
      <p:pic>
        <p:nvPicPr>
          <p:cNvPr id="20" name="Picture 19"/>
          <p:cNvPicPr>
            <a:picLocks noChangeAspect="1"/>
          </p:cNvPicPr>
          <p:nvPr/>
        </p:nvPicPr>
        <p:blipFill>
          <a:blip r:embed="rId3"/>
          <a:stretch>
            <a:fillRect/>
          </a:stretch>
        </p:blipFill>
        <p:spPr>
          <a:xfrm>
            <a:off x="547174" y="1371600"/>
            <a:ext cx="2561786" cy="1965960"/>
          </a:xfrm>
          <a:prstGeom prst="rect">
            <a:avLst/>
          </a:prstGeom>
        </p:spPr>
      </p:pic>
      <p:pic>
        <p:nvPicPr>
          <p:cNvPr id="21" name="Picture 20"/>
          <p:cNvPicPr>
            <a:picLocks noChangeAspect="1"/>
          </p:cNvPicPr>
          <p:nvPr/>
        </p:nvPicPr>
        <p:blipFill>
          <a:blip r:embed="rId4"/>
          <a:stretch>
            <a:fillRect/>
          </a:stretch>
        </p:blipFill>
        <p:spPr>
          <a:xfrm>
            <a:off x="3273553" y="1371601"/>
            <a:ext cx="2624328" cy="1965960"/>
          </a:xfrm>
          <a:prstGeom prst="rect">
            <a:avLst/>
          </a:prstGeom>
        </p:spPr>
      </p:pic>
      <p:pic>
        <p:nvPicPr>
          <p:cNvPr id="22" name="Picture 21"/>
          <p:cNvPicPr>
            <a:picLocks noChangeAspect="1"/>
          </p:cNvPicPr>
          <p:nvPr/>
        </p:nvPicPr>
        <p:blipFill>
          <a:blip r:embed="rId5"/>
          <a:stretch>
            <a:fillRect/>
          </a:stretch>
        </p:blipFill>
        <p:spPr>
          <a:xfrm>
            <a:off x="6034025" y="1371600"/>
            <a:ext cx="2579622" cy="19659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06</a:t>
            </a:r>
            <a:endParaRPr lang="en-US" sz="1000" dirty="0"/>
          </a:p>
        </p:txBody>
      </p:sp>
      <p:sp>
        <p:nvSpPr>
          <p:cNvPr id="4" name="Text 2"/>
          <p:cNvSpPr/>
          <p:nvPr/>
        </p:nvSpPr>
        <p:spPr>
          <a:xfrm>
            <a:off x="548640" y="795528"/>
            <a:ext cx="5120640" cy="457200"/>
          </a:xfrm>
          <a:prstGeom prst="rect">
            <a:avLst/>
          </a:prstGeom>
          <a:noFill/>
          <a:ln/>
        </p:spPr>
        <p:txBody>
          <a:bodyPr wrap="square" lIns="0" tIns="0" rIns="0" bIns="0" rtlCol="0" anchor="ctr"/>
          <a:lstStyle/>
          <a:p>
            <a:r>
              <a:rPr lang="en-US" sz="2100" b="1" dirty="0" smtClean="0">
                <a:solidFill>
                  <a:srgbClr val="2B2926"/>
                </a:solidFill>
                <a:latin typeface="Georgia" pitchFamily="34" charset="0"/>
                <a:ea typeface="Georgia" pitchFamily="34" charset="-122"/>
                <a:cs typeface="Georgia" pitchFamily="34" charset="-120"/>
              </a:rPr>
              <a:t>SABIC </a:t>
            </a:r>
            <a:r>
              <a:rPr lang="en-US" sz="2100" b="1" dirty="0">
                <a:solidFill>
                  <a:srgbClr val="2B2926"/>
                </a:solidFill>
                <a:latin typeface="Georgia" pitchFamily="34" charset="0"/>
                <a:ea typeface="Georgia" pitchFamily="34" charset="-122"/>
                <a:cs typeface="Georgia" pitchFamily="34" charset="-120"/>
              </a:rPr>
              <a:t>ON grid Solar </a:t>
            </a:r>
            <a:r>
              <a:rPr lang="en-US" sz="2100" b="1" dirty="0" smtClean="0">
                <a:solidFill>
                  <a:srgbClr val="2B2926"/>
                </a:solidFill>
                <a:latin typeface="Georgia" pitchFamily="34" charset="0"/>
                <a:ea typeface="Georgia" pitchFamily="34" charset="-122"/>
                <a:cs typeface="Georgia" pitchFamily="34" charset="-120"/>
              </a:rPr>
              <a:t>PV</a:t>
            </a: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Completed project</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4343400" cy="320040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2574036" y="2715768"/>
            <a:ext cx="292608" cy="32004"/>
          </a:xfrm>
          <a:prstGeom prst="rect">
            <a:avLst/>
          </a:prstGeom>
          <a:solidFill>
            <a:srgbClr val="B4632B"/>
          </a:solidFill>
          <a:ln/>
        </p:spPr>
      </p:sp>
      <p:sp>
        <p:nvSpPr>
          <p:cNvPr id="9" name="Text 7"/>
          <p:cNvSpPr/>
          <p:nvPr/>
        </p:nvSpPr>
        <p:spPr>
          <a:xfrm>
            <a:off x="685800" y="2825496"/>
            <a:ext cx="406908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project image here</a:t>
            </a:r>
            <a:endParaRPr lang="en-US" sz="1050" dirty="0"/>
          </a:p>
        </p:txBody>
      </p:sp>
      <p:sp>
        <p:nvSpPr>
          <p:cNvPr id="10" name="Text 8"/>
          <p:cNvSpPr/>
          <p:nvPr/>
        </p:nvSpPr>
        <p:spPr>
          <a:xfrm>
            <a:off x="5166360" y="137160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PROJECT DESCRIPTION</a:t>
            </a:r>
            <a:endParaRPr lang="en-US" sz="950" dirty="0"/>
          </a:p>
        </p:txBody>
      </p:sp>
      <p:sp>
        <p:nvSpPr>
          <p:cNvPr id="11" name="Description box">
            <a:extLst>
              <a:ext uri="{C183D7F6-B498-43B3-948B-1728B52AA6E4}">
                <adec:decorative xmlns="" xmlns:adec="http://schemas.microsoft.com/office/drawing/2017/decorative" val="1"/>
              </a:ext>
            </a:extLst>
          </p:cNvPr>
          <p:cNvSpPr/>
          <p:nvPr/>
        </p:nvSpPr>
        <p:spPr>
          <a:xfrm>
            <a:off x="5166360" y="1645920"/>
            <a:ext cx="3429000" cy="1417320"/>
          </a:xfrm>
          <a:prstGeom prst="rect">
            <a:avLst/>
          </a:prstGeom>
          <a:solidFill>
            <a:srgbClr val="FFFFFF"/>
          </a:solidFill>
          <a:ln w="12700">
            <a:solidFill>
              <a:srgbClr val="E0D5C2"/>
            </a:solidFill>
            <a:prstDash val="solid"/>
          </a:ln>
        </p:spPr>
      </p:sp>
      <p:sp>
        <p:nvSpPr>
          <p:cNvPr id="12" name="Text 10"/>
          <p:cNvSpPr/>
          <p:nvPr/>
        </p:nvSpPr>
        <p:spPr>
          <a:xfrm>
            <a:off x="5330952" y="1773936"/>
            <a:ext cx="3099816" cy="1161288"/>
          </a:xfrm>
          <a:prstGeom prst="rect">
            <a:avLst/>
          </a:prstGeom>
          <a:noFill/>
          <a:ln/>
        </p:spPr>
        <p:txBody>
          <a:bodyPr wrap="square" lIns="0" tIns="0" rIns="0" bIns="0" rtlCol="0" anchor="ctr"/>
          <a:lstStyle/>
          <a:p>
            <a:pPr>
              <a:lnSpc>
                <a:spcPts val="1500"/>
              </a:lnSpc>
            </a:pPr>
            <a:r>
              <a:rPr lang="en-US" sz="1050" i="1" dirty="0" smtClean="0">
                <a:latin typeface="Trebuchet MS" pitchFamily="34" charset="0"/>
                <a:ea typeface="Trebuchet MS" pitchFamily="34" charset="-122"/>
                <a:cs typeface="Trebuchet MS" pitchFamily="34" charset="-120"/>
              </a:rPr>
              <a:t>Large-scale </a:t>
            </a:r>
            <a:r>
              <a:rPr lang="en-US" sz="1050" i="1" dirty="0">
                <a:latin typeface="Trebuchet MS" pitchFamily="34" charset="0"/>
                <a:ea typeface="Trebuchet MS" pitchFamily="34" charset="-122"/>
                <a:cs typeface="Trebuchet MS" pitchFamily="34" charset="-120"/>
              </a:rPr>
              <a:t>850 </a:t>
            </a:r>
            <a:r>
              <a:rPr lang="en-US" sz="1050" i="1" dirty="0" err="1">
                <a:latin typeface="Trebuchet MS" pitchFamily="34" charset="0"/>
                <a:ea typeface="Trebuchet MS" pitchFamily="34" charset="-122"/>
                <a:cs typeface="Trebuchet MS" pitchFamily="34" charset="-120"/>
              </a:rPr>
              <a:t>kWp</a:t>
            </a:r>
            <a:r>
              <a:rPr lang="en-US" sz="1050" i="1" dirty="0">
                <a:latin typeface="Trebuchet MS" pitchFamily="34" charset="0"/>
                <a:ea typeface="Trebuchet MS" pitchFamily="34" charset="-122"/>
                <a:cs typeface="Trebuchet MS" pitchFamily="34" charset="-120"/>
              </a:rPr>
              <a:t> grid-connected solar PV system developed for SABIC, designed to maximize on-site renewable energy generation and reduce dependence on conventional electricity sources. The project involved solar PV system design, equipment integration, installation, testing, and commissioning</a:t>
            </a:r>
            <a:r>
              <a:rPr lang="en-US" sz="1050" i="1" dirty="0" smtClean="0">
                <a:latin typeface="Trebuchet MS" pitchFamily="34" charset="0"/>
                <a:ea typeface="Trebuchet MS" pitchFamily="34" charset="-122"/>
                <a:cs typeface="Trebuchet MS" pitchFamily="34" charset="-120"/>
              </a:rPr>
              <a:t>. timeline </a:t>
            </a:r>
            <a:r>
              <a:rPr lang="en-US" sz="1050" i="1" dirty="0">
                <a:latin typeface="Trebuchet MS" pitchFamily="34" charset="0"/>
                <a:ea typeface="Trebuchet MS" pitchFamily="34" charset="-122"/>
                <a:cs typeface="Trebuchet MS" pitchFamily="34" charset="-120"/>
              </a:rPr>
              <a:t>and outcome.</a:t>
            </a:r>
            <a:endParaRPr lang="en-US" sz="1050" dirty="0"/>
          </a:p>
        </p:txBody>
      </p:sp>
      <p:sp>
        <p:nvSpPr>
          <p:cNvPr id="13" name="Text 11"/>
          <p:cNvSpPr/>
          <p:nvPr/>
        </p:nvSpPr>
        <p:spPr>
          <a:xfrm>
            <a:off x="5166360" y="315468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KEY FACTS</a:t>
            </a:r>
            <a:endParaRPr lang="en-US" sz="950" dirty="0"/>
          </a:p>
        </p:txBody>
      </p:sp>
      <p:sp>
        <p:nvSpPr>
          <p:cNvPr id="14" name="Text 12"/>
          <p:cNvSpPr/>
          <p:nvPr/>
        </p:nvSpPr>
        <p:spPr>
          <a:xfrm>
            <a:off x="5166360" y="3456432"/>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Capacity</a:t>
            </a:r>
            <a:endParaRPr lang="en-US" sz="1000" dirty="0"/>
          </a:p>
        </p:txBody>
      </p:sp>
      <p:sp>
        <p:nvSpPr>
          <p:cNvPr id="16" name="Text 14"/>
          <p:cNvSpPr/>
          <p:nvPr/>
        </p:nvSpPr>
        <p:spPr>
          <a:xfrm>
            <a:off x="5166360" y="3739896"/>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Location</a:t>
            </a:r>
            <a:endParaRPr lang="en-US" sz="1000" dirty="0"/>
          </a:p>
        </p:txBody>
      </p:sp>
      <p:sp>
        <p:nvSpPr>
          <p:cNvPr id="18" name="Text 16"/>
          <p:cNvSpPr/>
          <p:nvPr/>
        </p:nvSpPr>
        <p:spPr>
          <a:xfrm>
            <a:off x="5166360" y="4023360"/>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Scope</a:t>
            </a:r>
            <a:endParaRPr lang="en-US" sz="1000" dirty="0"/>
          </a:p>
        </p:txBody>
      </p:sp>
      <p:sp>
        <p:nvSpPr>
          <p:cNvPr id="20" name="Text 18"/>
          <p:cNvSpPr/>
          <p:nvPr/>
        </p:nvSpPr>
        <p:spPr>
          <a:xfrm>
            <a:off x="5166360" y="4306824"/>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Status</a:t>
            </a:r>
            <a:endParaRPr lang="en-US" sz="1000" dirty="0"/>
          </a:p>
        </p:txBody>
      </p:sp>
      <p:pic>
        <p:nvPicPr>
          <p:cNvPr id="22" name="Picture 21"/>
          <p:cNvPicPr>
            <a:picLocks noChangeAspect="1"/>
          </p:cNvPicPr>
          <p:nvPr/>
        </p:nvPicPr>
        <p:blipFill>
          <a:blip r:embed="rId3"/>
          <a:stretch>
            <a:fillRect/>
          </a:stretch>
        </p:blipFill>
        <p:spPr>
          <a:xfrm>
            <a:off x="548641" y="1371600"/>
            <a:ext cx="4343400" cy="3200400"/>
          </a:xfrm>
          <a:prstGeom prst="rect">
            <a:avLst/>
          </a:prstGeom>
        </p:spPr>
      </p:pic>
      <p:sp>
        <p:nvSpPr>
          <p:cNvPr id="23" name="Rectangle 22"/>
          <p:cNvSpPr/>
          <p:nvPr/>
        </p:nvSpPr>
        <p:spPr>
          <a:xfrm>
            <a:off x="6124877" y="3952050"/>
            <a:ext cx="90281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Turnkey EPC</a:t>
            </a:r>
            <a:endParaRPr lang="en-US" sz="1000" dirty="0">
              <a:solidFill>
                <a:prstClr val="black"/>
              </a:solidFill>
            </a:endParaRPr>
          </a:p>
        </p:txBody>
      </p:sp>
      <p:sp>
        <p:nvSpPr>
          <p:cNvPr id="24" name="Rectangle 23"/>
          <p:cNvSpPr/>
          <p:nvPr/>
        </p:nvSpPr>
        <p:spPr>
          <a:xfrm>
            <a:off x="6124877" y="4266718"/>
            <a:ext cx="81144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Completed</a:t>
            </a:r>
            <a:endParaRPr lang="en-US" sz="1000" dirty="0">
              <a:solidFill>
                <a:prstClr val="black"/>
              </a:solidFill>
            </a:endParaRPr>
          </a:p>
        </p:txBody>
      </p:sp>
      <p:sp>
        <p:nvSpPr>
          <p:cNvPr id="25" name="Rectangle 24"/>
          <p:cNvSpPr/>
          <p:nvPr/>
        </p:nvSpPr>
        <p:spPr>
          <a:xfrm>
            <a:off x="6126480" y="3437358"/>
            <a:ext cx="607859" cy="246221"/>
          </a:xfrm>
          <a:prstGeom prst="rect">
            <a:avLst/>
          </a:prstGeom>
        </p:spPr>
        <p:txBody>
          <a:bodyPr wrap="none">
            <a:spAutoFit/>
          </a:bodyPr>
          <a:lstStyle/>
          <a:p>
            <a:pPr lvl="0"/>
            <a:r>
              <a:rPr lang="en-US" sz="1000" dirty="0" smtClean="0">
                <a:solidFill>
                  <a:srgbClr val="45413B"/>
                </a:solidFill>
                <a:latin typeface="Trebuchet MS" pitchFamily="34" charset="0"/>
              </a:rPr>
              <a:t>500 KW</a:t>
            </a:r>
            <a:endParaRPr lang="en-US" sz="1000" dirty="0">
              <a:solidFill>
                <a:prstClr val="black"/>
              </a:solidFill>
            </a:endParaRPr>
          </a:p>
        </p:txBody>
      </p:sp>
      <p:sp>
        <p:nvSpPr>
          <p:cNvPr id="26" name="Rectangle 25"/>
          <p:cNvSpPr/>
          <p:nvPr/>
        </p:nvSpPr>
        <p:spPr>
          <a:xfrm>
            <a:off x="6126480" y="3689167"/>
            <a:ext cx="899605" cy="246221"/>
          </a:xfrm>
          <a:prstGeom prst="rect">
            <a:avLst/>
          </a:prstGeom>
        </p:spPr>
        <p:txBody>
          <a:bodyPr wrap="none">
            <a:spAutoFit/>
          </a:bodyPr>
          <a:lstStyle/>
          <a:p>
            <a:pPr lvl="0"/>
            <a:r>
              <a:rPr lang="en-US" sz="1000" dirty="0" smtClean="0">
                <a:solidFill>
                  <a:srgbClr val="45413B"/>
                </a:solidFill>
                <a:latin typeface="Trebuchet MS" pitchFamily="34" charset="0"/>
              </a:rPr>
              <a:t>Saudi Arabia</a:t>
            </a:r>
            <a:endParaRPr lang="en-US" sz="1000" dirty="0">
              <a:solidFill>
                <a:prstClr val="black"/>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06  ·  SITE GALLERY</a:t>
            </a:r>
            <a:endParaRPr lang="en-US" sz="1000" dirty="0"/>
          </a:p>
        </p:txBody>
      </p:sp>
      <p:sp>
        <p:nvSpPr>
          <p:cNvPr id="4" name="Text 2"/>
          <p:cNvSpPr/>
          <p:nvPr/>
        </p:nvSpPr>
        <p:spPr>
          <a:xfrm>
            <a:off x="548640" y="941832"/>
            <a:ext cx="5120640" cy="457200"/>
          </a:xfrm>
          <a:prstGeom prst="rect">
            <a:avLst/>
          </a:prstGeom>
          <a:noFill/>
          <a:ln/>
        </p:spPr>
        <p:txBody>
          <a:bodyPr wrap="square" lIns="0" tIns="0" rIns="0" bIns="0" rtlCol="0" anchor="ctr"/>
          <a:lstStyle/>
          <a:p>
            <a:r>
              <a:rPr lang="en-US" sz="2100" b="1" dirty="0" smtClean="0">
                <a:solidFill>
                  <a:srgbClr val="2B2926"/>
                </a:solidFill>
                <a:latin typeface="Georgia" pitchFamily="34" charset="0"/>
                <a:ea typeface="Georgia" pitchFamily="34" charset="-122"/>
                <a:cs typeface="Georgia" pitchFamily="34" charset="-120"/>
              </a:rPr>
              <a:t>SABIC </a:t>
            </a:r>
            <a:r>
              <a:rPr lang="en-US" sz="2100" b="1" dirty="0">
                <a:solidFill>
                  <a:srgbClr val="2B2926"/>
                </a:solidFill>
                <a:latin typeface="Georgia" pitchFamily="34" charset="0"/>
                <a:ea typeface="Georgia" pitchFamily="34" charset="-122"/>
                <a:cs typeface="Georgia" pitchFamily="34" charset="-120"/>
              </a:rPr>
              <a:t>ON grid Solar PV</a:t>
            </a:r>
            <a:endParaRPr lang="en-US" sz="2100" dirty="0"/>
          </a:p>
          <a:p>
            <a:pPr marL="0" indent="0">
              <a:buNone/>
            </a:pP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Images &amp; delivery notes</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2560320" cy="196596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1682496" y="2098548"/>
            <a:ext cx="292608" cy="32004"/>
          </a:xfrm>
          <a:prstGeom prst="rect">
            <a:avLst/>
          </a:prstGeom>
          <a:solidFill>
            <a:srgbClr val="B4632B"/>
          </a:solidFill>
          <a:ln/>
        </p:spPr>
      </p:sp>
      <p:sp>
        <p:nvSpPr>
          <p:cNvPr id="9" name="Text 7"/>
          <p:cNvSpPr/>
          <p:nvPr/>
        </p:nvSpPr>
        <p:spPr>
          <a:xfrm>
            <a:off x="6858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0" name="Image placeholder frame">
            <a:extLst>
              <a:ext uri="{C183D7F6-B498-43B3-948B-1728B52AA6E4}">
                <adec:decorative xmlns="" xmlns:adec="http://schemas.microsoft.com/office/drawing/2017/decorative" val="1"/>
              </a:ext>
            </a:extLst>
          </p:cNvPr>
          <p:cNvSpPr/>
          <p:nvPr/>
        </p:nvSpPr>
        <p:spPr>
          <a:xfrm>
            <a:off x="3291840" y="1371600"/>
            <a:ext cx="2560320" cy="1965960"/>
          </a:xfrm>
          <a:prstGeom prst="rect">
            <a:avLst/>
          </a:prstGeom>
          <a:solidFill>
            <a:srgbClr val="E4DACA"/>
          </a:solidFill>
          <a:ln w="12700">
            <a:solidFill>
              <a:srgbClr val="CBBDA6"/>
            </a:solidFill>
            <a:prstDash val="dash"/>
          </a:ln>
        </p:spPr>
      </p:sp>
      <p:sp>
        <p:nvSpPr>
          <p:cNvPr id="11" name="Placeholder mark">
            <a:extLst>
              <a:ext uri="{C183D7F6-B498-43B3-948B-1728B52AA6E4}">
                <adec:decorative xmlns="" xmlns:adec="http://schemas.microsoft.com/office/drawing/2017/decorative" val="1"/>
              </a:ext>
            </a:extLst>
          </p:cNvPr>
          <p:cNvSpPr/>
          <p:nvPr/>
        </p:nvSpPr>
        <p:spPr>
          <a:xfrm>
            <a:off x="4425696" y="2098548"/>
            <a:ext cx="292608" cy="32004"/>
          </a:xfrm>
          <a:prstGeom prst="rect">
            <a:avLst/>
          </a:prstGeom>
          <a:solidFill>
            <a:srgbClr val="B4632B"/>
          </a:solidFill>
          <a:ln/>
        </p:spPr>
      </p:sp>
      <p:sp>
        <p:nvSpPr>
          <p:cNvPr id="12" name="Text 10"/>
          <p:cNvSpPr/>
          <p:nvPr/>
        </p:nvSpPr>
        <p:spPr>
          <a:xfrm>
            <a:off x="34290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3" name="Image placeholder frame">
            <a:extLst>
              <a:ext uri="{C183D7F6-B498-43B3-948B-1728B52AA6E4}">
                <adec:decorative xmlns="" xmlns:adec="http://schemas.microsoft.com/office/drawing/2017/decorative" val="1"/>
              </a:ext>
            </a:extLst>
          </p:cNvPr>
          <p:cNvSpPr/>
          <p:nvPr/>
        </p:nvSpPr>
        <p:spPr>
          <a:xfrm>
            <a:off x="6035040" y="1371600"/>
            <a:ext cx="2560320" cy="1965960"/>
          </a:xfrm>
          <a:prstGeom prst="rect">
            <a:avLst/>
          </a:prstGeom>
          <a:solidFill>
            <a:srgbClr val="E4DACA"/>
          </a:solidFill>
          <a:ln w="12700">
            <a:solidFill>
              <a:srgbClr val="CBBDA6"/>
            </a:solidFill>
            <a:prstDash val="dash"/>
          </a:ln>
        </p:spPr>
      </p:sp>
      <p:sp>
        <p:nvSpPr>
          <p:cNvPr id="14" name="Placeholder mark">
            <a:extLst>
              <a:ext uri="{C183D7F6-B498-43B3-948B-1728B52AA6E4}">
                <adec:decorative xmlns="" xmlns:adec="http://schemas.microsoft.com/office/drawing/2017/decorative" val="1"/>
              </a:ext>
            </a:extLst>
          </p:cNvPr>
          <p:cNvSpPr/>
          <p:nvPr/>
        </p:nvSpPr>
        <p:spPr>
          <a:xfrm>
            <a:off x="7168896" y="2098548"/>
            <a:ext cx="292608" cy="32004"/>
          </a:xfrm>
          <a:prstGeom prst="rect">
            <a:avLst/>
          </a:prstGeom>
          <a:solidFill>
            <a:srgbClr val="B4632B"/>
          </a:solidFill>
          <a:ln/>
        </p:spPr>
      </p:sp>
      <p:sp>
        <p:nvSpPr>
          <p:cNvPr id="15" name="Text 13"/>
          <p:cNvSpPr/>
          <p:nvPr/>
        </p:nvSpPr>
        <p:spPr>
          <a:xfrm>
            <a:off x="61722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6" name="Text 14"/>
          <p:cNvSpPr/>
          <p:nvPr/>
        </p:nvSpPr>
        <p:spPr>
          <a:xfrm>
            <a:off x="548640" y="3566160"/>
            <a:ext cx="804672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DELIVERY NOTES</a:t>
            </a:r>
            <a:endParaRPr lang="en-US" sz="950" dirty="0"/>
          </a:p>
        </p:txBody>
      </p:sp>
      <p:sp>
        <p:nvSpPr>
          <p:cNvPr id="17" name="Description box">
            <a:extLst>
              <a:ext uri="{C183D7F6-B498-43B3-948B-1728B52AA6E4}">
                <adec:decorative xmlns="" xmlns:adec="http://schemas.microsoft.com/office/drawing/2017/decorative" val="1"/>
              </a:ext>
            </a:extLst>
          </p:cNvPr>
          <p:cNvSpPr/>
          <p:nvPr/>
        </p:nvSpPr>
        <p:spPr>
          <a:xfrm>
            <a:off x="548640" y="3840480"/>
            <a:ext cx="8046720" cy="1051560"/>
          </a:xfrm>
          <a:prstGeom prst="rect">
            <a:avLst/>
          </a:prstGeom>
          <a:solidFill>
            <a:srgbClr val="FFFFFF"/>
          </a:solidFill>
          <a:ln w="12700">
            <a:solidFill>
              <a:srgbClr val="E0D5C2"/>
            </a:solidFill>
            <a:prstDash val="solid"/>
          </a:ln>
        </p:spPr>
      </p:sp>
      <p:sp>
        <p:nvSpPr>
          <p:cNvPr id="18" name="Text 16"/>
          <p:cNvSpPr/>
          <p:nvPr/>
        </p:nvSpPr>
        <p:spPr>
          <a:xfrm>
            <a:off x="713232" y="3968496"/>
            <a:ext cx="7717536" cy="795528"/>
          </a:xfrm>
          <a:prstGeom prst="rect">
            <a:avLst/>
          </a:prstGeom>
          <a:noFill/>
          <a:ln/>
        </p:spPr>
        <p:txBody>
          <a:bodyPr wrap="square" lIns="0" tIns="0" rIns="0" bIns="0" rtlCol="0" anchor="ctr"/>
          <a:lstStyle/>
          <a:p>
            <a:pPr>
              <a:lnSpc>
                <a:spcPts val="1500"/>
              </a:lnSpc>
            </a:pPr>
            <a:r>
              <a:rPr lang="en-US" sz="1050" i="1" dirty="0" smtClean="0">
                <a:latin typeface="Trebuchet MS" pitchFamily="34" charset="0"/>
                <a:ea typeface="Trebuchet MS" pitchFamily="34" charset="-122"/>
                <a:cs typeface="Trebuchet MS" pitchFamily="34" charset="-120"/>
              </a:rPr>
              <a:t>Successfully </a:t>
            </a:r>
            <a:r>
              <a:rPr lang="en-US" sz="1050" i="1" dirty="0">
                <a:latin typeface="Trebuchet MS" pitchFamily="34" charset="0"/>
                <a:ea typeface="Trebuchet MS" pitchFamily="34" charset="-122"/>
                <a:cs typeface="Trebuchet MS" pitchFamily="34" charset="-120"/>
              </a:rPr>
              <a:t>delivered and commissioned the complete solar PV solution, ensuring reliable grid synchronization, system performance, and compliance with project technical and safety </a:t>
            </a:r>
            <a:r>
              <a:rPr lang="en-US" sz="1050" i="1" dirty="0" smtClean="0">
                <a:latin typeface="Trebuchet MS" pitchFamily="34" charset="0"/>
                <a:ea typeface="Trebuchet MS" pitchFamily="34" charset="-122"/>
                <a:cs typeface="Trebuchet MS" pitchFamily="34" charset="-120"/>
              </a:rPr>
              <a:t>requirements</a:t>
            </a:r>
            <a:endParaRPr lang="en-US" sz="1050" dirty="0"/>
          </a:p>
        </p:txBody>
      </p:sp>
      <p:pic>
        <p:nvPicPr>
          <p:cNvPr id="19" name="Picture 18"/>
          <p:cNvPicPr>
            <a:picLocks noChangeAspect="1"/>
          </p:cNvPicPr>
          <p:nvPr/>
        </p:nvPicPr>
        <p:blipFill>
          <a:blip r:embed="rId3"/>
          <a:stretch>
            <a:fillRect/>
          </a:stretch>
        </p:blipFill>
        <p:spPr>
          <a:xfrm>
            <a:off x="548640" y="1371600"/>
            <a:ext cx="2578608" cy="1997964"/>
          </a:xfrm>
          <a:prstGeom prst="rect">
            <a:avLst/>
          </a:prstGeom>
        </p:spPr>
      </p:pic>
      <p:pic>
        <p:nvPicPr>
          <p:cNvPr id="20" name="Picture 19"/>
          <p:cNvPicPr>
            <a:picLocks noChangeAspect="1"/>
          </p:cNvPicPr>
          <p:nvPr/>
        </p:nvPicPr>
        <p:blipFill>
          <a:blip r:embed="rId4"/>
          <a:stretch>
            <a:fillRect/>
          </a:stretch>
        </p:blipFill>
        <p:spPr>
          <a:xfrm>
            <a:off x="3273553" y="1371600"/>
            <a:ext cx="2578608" cy="1997964"/>
          </a:xfrm>
          <a:prstGeom prst="rect">
            <a:avLst/>
          </a:prstGeom>
        </p:spPr>
      </p:pic>
      <p:pic>
        <p:nvPicPr>
          <p:cNvPr id="21" name="Picture 20"/>
          <p:cNvPicPr>
            <a:picLocks noChangeAspect="1"/>
          </p:cNvPicPr>
          <p:nvPr/>
        </p:nvPicPr>
        <p:blipFill>
          <a:blip r:embed="rId5"/>
          <a:stretch>
            <a:fillRect/>
          </a:stretch>
        </p:blipFill>
        <p:spPr>
          <a:xfrm>
            <a:off x="6045198" y="1371601"/>
            <a:ext cx="2550161" cy="199796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07</a:t>
            </a:r>
            <a:endParaRPr lang="en-US" sz="1000" dirty="0"/>
          </a:p>
        </p:txBody>
      </p:sp>
      <p:sp>
        <p:nvSpPr>
          <p:cNvPr id="4" name="Text 2"/>
          <p:cNvSpPr/>
          <p:nvPr/>
        </p:nvSpPr>
        <p:spPr>
          <a:xfrm>
            <a:off x="548640" y="745236"/>
            <a:ext cx="6380480" cy="457200"/>
          </a:xfrm>
          <a:prstGeom prst="rect">
            <a:avLst/>
          </a:prstGeom>
          <a:noFill/>
          <a:ln/>
        </p:spPr>
        <p:txBody>
          <a:bodyPr wrap="square" lIns="0" tIns="0" rIns="0" bIns="0" rtlCol="0" anchor="ctr"/>
          <a:lstStyle/>
          <a:p>
            <a:r>
              <a:rPr lang="en-US" sz="2100" b="1" dirty="0" smtClean="0">
                <a:solidFill>
                  <a:srgbClr val="2B2926"/>
                </a:solidFill>
                <a:latin typeface="Georgia" pitchFamily="34" charset="0"/>
                <a:ea typeface="Georgia" pitchFamily="34" charset="-122"/>
                <a:cs typeface="Georgia" pitchFamily="34" charset="-120"/>
              </a:rPr>
              <a:t>Solar </a:t>
            </a:r>
            <a:r>
              <a:rPr lang="en-US" sz="2100" b="1" dirty="0">
                <a:solidFill>
                  <a:srgbClr val="2B2926"/>
                </a:solidFill>
                <a:latin typeface="Georgia" pitchFamily="34" charset="0"/>
                <a:ea typeface="Georgia" pitchFamily="34" charset="-122"/>
                <a:cs typeface="Georgia" pitchFamily="34" charset="-120"/>
              </a:rPr>
              <a:t>off Grid container for weather stations</a:t>
            </a: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Completed project</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4343400" cy="320040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2574036" y="2715768"/>
            <a:ext cx="292608" cy="32004"/>
          </a:xfrm>
          <a:prstGeom prst="rect">
            <a:avLst/>
          </a:prstGeom>
          <a:solidFill>
            <a:srgbClr val="B4632B"/>
          </a:solidFill>
          <a:ln/>
        </p:spPr>
      </p:sp>
      <p:sp>
        <p:nvSpPr>
          <p:cNvPr id="9" name="Text 7"/>
          <p:cNvSpPr/>
          <p:nvPr/>
        </p:nvSpPr>
        <p:spPr>
          <a:xfrm>
            <a:off x="685800" y="2825496"/>
            <a:ext cx="406908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project image here</a:t>
            </a:r>
            <a:endParaRPr lang="en-US" sz="1050" dirty="0"/>
          </a:p>
        </p:txBody>
      </p:sp>
      <p:sp>
        <p:nvSpPr>
          <p:cNvPr id="10" name="Text 8"/>
          <p:cNvSpPr/>
          <p:nvPr/>
        </p:nvSpPr>
        <p:spPr>
          <a:xfrm>
            <a:off x="5166360" y="137160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PROJECT DESCRIPTION</a:t>
            </a:r>
            <a:endParaRPr lang="en-US" sz="950" dirty="0"/>
          </a:p>
        </p:txBody>
      </p:sp>
      <p:sp>
        <p:nvSpPr>
          <p:cNvPr id="11" name="Description box">
            <a:extLst>
              <a:ext uri="{C183D7F6-B498-43B3-948B-1728B52AA6E4}">
                <adec:decorative xmlns="" xmlns:adec="http://schemas.microsoft.com/office/drawing/2017/decorative" val="1"/>
              </a:ext>
            </a:extLst>
          </p:cNvPr>
          <p:cNvSpPr/>
          <p:nvPr/>
        </p:nvSpPr>
        <p:spPr>
          <a:xfrm>
            <a:off x="5166360" y="1645920"/>
            <a:ext cx="3429000" cy="1417320"/>
          </a:xfrm>
          <a:prstGeom prst="rect">
            <a:avLst/>
          </a:prstGeom>
          <a:solidFill>
            <a:srgbClr val="FFFFFF"/>
          </a:solidFill>
          <a:ln w="12700">
            <a:solidFill>
              <a:srgbClr val="E0D5C2"/>
            </a:solidFill>
            <a:prstDash val="solid"/>
          </a:ln>
        </p:spPr>
      </p:sp>
      <p:sp>
        <p:nvSpPr>
          <p:cNvPr id="12" name="Text 10"/>
          <p:cNvSpPr/>
          <p:nvPr/>
        </p:nvSpPr>
        <p:spPr>
          <a:xfrm>
            <a:off x="5330952" y="1773936"/>
            <a:ext cx="3099816" cy="1161288"/>
          </a:xfrm>
          <a:prstGeom prst="rect">
            <a:avLst/>
          </a:prstGeom>
          <a:noFill/>
          <a:ln/>
        </p:spPr>
        <p:txBody>
          <a:bodyPr wrap="square" lIns="0" tIns="0" rIns="0" bIns="0" rtlCol="0" anchor="ctr"/>
          <a:lstStyle/>
          <a:p>
            <a:pPr>
              <a:lnSpc>
                <a:spcPts val="1500"/>
              </a:lnSpc>
            </a:pPr>
            <a:r>
              <a:rPr lang="en-US" sz="1050" i="1" dirty="0" smtClean="0">
                <a:latin typeface="Trebuchet MS" pitchFamily="34" charset="0"/>
                <a:ea typeface="Trebuchet MS" pitchFamily="34" charset="-122"/>
                <a:cs typeface="Trebuchet MS" pitchFamily="34" charset="-120"/>
              </a:rPr>
              <a:t>Engineered </a:t>
            </a:r>
            <a:r>
              <a:rPr lang="en-US" sz="1050" i="1" dirty="0">
                <a:latin typeface="Trebuchet MS" pitchFamily="34" charset="0"/>
                <a:ea typeface="Trebuchet MS" pitchFamily="34" charset="-122"/>
                <a:cs typeface="Trebuchet MS" pitchFamily="34" charset="-120"/>
              </a:rPr>
              <a:t>a stand-alone solar power container solution to provide reliable, continuous energy for remote weather monitoring stations. The system integrates solar generation, battery storage, power management, and supporting electrical equipment for operation in remote </a:t>
            </a:r>
            <a:r>
              <a:rPr lang="en-US" sz="1050" i="1" dirty="0" smtClean="0">
                <a:latin typeface="Trebuchet MS" pitchFamily="34" charset="0"/>
                <a:ea typeface="Trebuchet MS" pitchFamily="34" charset="-122"/>
                <a:cs typeface="Trebuchet MS" pitchFamily="34" charset="-120"/>
              </a:rPr>
              <a:t>environments. outcome</a:t>
            </a:r>
            <a:r>
              <a:rPr lang="en-US" sz="1050" i="1" dirty="0">
                <a:latin typeface="Trebuchet MS" pitchFamily="34" charset="0"/>
                <a:ea typeface="Trebuchet MS" pitchFamily="34" charset="-122"/>
                <a:cs typeface="Trebuchet MS" pitchFamily="34" charset="-120"/>
              </a:rPr>
              <a:t>.</a:t>
            </a:r>
            <a:endParaRPr lang="en-US" sz="1050" dirty="0"/>
          </a:p>
        </p:txBody>
      </p:sp>
      <p:sp>
        <p:nvSpPr>
          <p:cNvPr id="13" name="Text 11"/>
          <p:cNvSpPr/>
          <p:nvPr/>
        </p:nvSpPr>
        <p:spPr>
          <a:xfrm>
            <a:off x="5166360" y="315468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KEY FACTS</a:t>
            </a:r>
            <a:endParaRPr lang="en-US" sz="950" dirty="0"/>
          </a:p>
        </p:txBody>
      </p:sp>
      <p:sp>
        <p:nvSpPr>
          <p:cNvPr id="14" name="Text 12"/>
          <p:cNvSpPr/>
          <p:nvPr/>
        </p:nvSpPr>
        <p:spPr>
          <a:xfrm>
            <a:off x="5166360" y="3456432"/>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Capacity</a:t>
            </a:r>
            <a:endParaRPr lang="en-US" sz="1000" dirty="0"/>
          </a:p>
        </p:txBody>
      </p:sp>
      <p:sp>
        <p:nvSpPr>
          <p:cNvPr id="16" name="Text 14"/>
          <p:cNvSpPr/>
          <p:nvPr/>
        </p:nvSpPr>
        <p:spPr>
          <a:xfrm>
            <a:off x="5166360" y="3739896"/>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Location</a:t>
            </a:r>
            <a:endParaRPr lang="en-US" sz="1000" dirty="0"/>
          </a:p>
        </p:txBody>
      </p:sp>
      <p:sp>
        <p:nvSpPr>
          <p:cNvPr id="18" name="Text 16"/>
          <p:cNvSpPr/>
          <p:nvPr/>
        </p:nvSpPr>
        <p:spPr>
          <a:xfrm>
            <a:off x="5166360" y="4023360"/>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Scope</a:t>
            </a:r>
            <a:endParaRPr lang="en-US" sz="1000" dirty="0"/>
          </a:p>
        </p:txBody>
      </p:sp>
      <p:sp>
        <p:nvSpPr>
          <p:cNvPr id="20" name="Text 18"/>
          <p:cNvSpPr/>
          <p:nvPr/>
        </p:nvSpPr>
        <p:spPr>
          <a:xfrm>
            <a:off x="5166360" y="4306824"/>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Status</a:t>
            </a:r>
            <a:endParaRPr lang="en-US" sz="1000" dirty="0"/>
          </a:p>
        </p:txBody>
      </p:sp>
      <p:pic>
        <p:nvPicPr>
          <p:cNvPr id="22" name="Picture 21"/>
          <p:cNvPicPr>
            <a:picLocks noChangeAspect="1"/>
          </p:cNvPicPr>
          <p:nvPr/>
        </p:nvPicPr>
        <p:blipFill>
          <a:blip r:embed="rId3"/>
          <a:stretch>
            <a:fillRect/>
          </a:stretch>
        </p:blipFill>
        <p:spPr>
          <a:xfrm>
            <a:off x="553720" y="1393895"/>
            <a:ext cx="4338320" cy="3178105"/>
          </a:xfrm>
          <a:prstGeom prst="rect">
            <a:avLst/>
          </a:prstGeom>
        </p:spPr>
      </p:pic>
      <p:sp>
        <p:nvSpPr>
          <p:cNvPr id="23" name="Rectangle 22"/>
          <p:cNvSpPr/>
          <p:nvPr/>
        </p:nvSpPr>
        <p:spPr>
          <a:xfrm>
            <a:off x="6124877" y="3952050"/>
            <a:ext cx="90281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Turnkey EPC</a:t>
            </a:r>
            <a:endParaRPr lang="en-US" sz="1000" dirty="0">
              <a:solidFill>
                <a:prstClr val="black"/>
              </a:solidFill>
            </a:endParaRPr>
          </a:p>
        </p:txBody>
      </p:sp>
      <p:sp>
        <p:nvSpPr>
          <p:cNvPr id="24" name="Rectangle 23"/>
          <p:cNvSpPr/>
          <p:nvPr/>
        </p:nvSpPr>
        <p:spPr>
          <a:xfrm>
            <a:off x="6124877" y="4266718"/>
            <a:ext cx="81144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Completed</a:t>
            </a:r>
            <a:endParaRPr lang="en-US" sz="1000" dirty="0">
              <a:solidFill>
                <a:prstClr val="black"/>
              </a:solidFill>
            </a:endParaRPr>
          </a:p>
        </p:txBody>
      </p:sp>
      <p:sp>
        <p:nvSpPr>
          <p:cNvPr id="25" name="Rectangle 24"/>
          <p:cNvSpPr/>
          <p:nvPr/>
        </p:nvSpPr>
        <p:spPr>
          <a:xfrm>
            <a:off x="6126480" y="3437358"/>
            <a:ext cx="607859" cy="246221"/>
          </a:xfrm>
          <a:prstGeom prst="rect">
            <a:avLst/>
          </a:prstGeom>
        </p:spPr>
        <p:txBody>
          <a:bodyPr wrap="none">
            <a:spAutoFit/>
          </a:bodyPr>
          <a:lstStyle/>
          <a:p>
            <a:pPr lvl="0"/>
            <a:r>
              <a:rPr lang="en-US" sz="1000" dirty="0" smtClean="0">
                <a:solidFill>
                  <a:srgbClr val="45413B"/>
                </a:solidFill>
                <a:latin typeface="Trebuchet MS" pitchFamily="34" charset="0"/>
              </a:rPr>
              <a:t>500 KW</a:t>
            </a:r>
            <a:endParaRPr lang="en-US" sz="1000" dirty="0">
              <a:solidFill>
                <a:prstClr val="black"/>
              </a:solidFill>
            </a:endParaRPr>
          </a:p>
        </p:txBody>
      </p:sp>
      <p:sp>
        <p:nvSpPr>
          <p:cNvPr id="26" name="Rectangle 25"/>
          <p:cNvSpPr/>
          <p:nvPr/>
        </p:nvSpPr>
        <p:spPr>
          <a:xfrm>
            <a:off x="6126480" y="3689167"/>
            <a:ext cx="899605" cy="246221"/>
          </a:xfrm>
          <a:prstGeom prst="rect">
            <a:avLst/>
          </a:prstGeom>
        </p:spPr>
        <p:txBody>
          <a:bodyPr wrap="none">
            <a:spAutoFit/>
          </a:bodyPr>
          <a:lstStyle/>
          <a:p>
            <a:pPr lvl="0"/>
            <a:r>
              <a:rPr lang="en-US" sz="1000" dirty="0" smtClean="0">
                <a:solidFill>
                  <a:srgbClr val="45413B"/>
                </a:solidFill>
                <a:latin typeface="Trebuchet MS" pitchFamily="34" charset="0"/>
              </a:rPr>
              <a:t>Saudi Arabia</a:t>
            </a:r>
            <a:endParaRPr lang="en-US" sz="1000"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07  ·  SITE GALLERY</a:t>
            </a:r>
            <a:endParaRPr lang="en-US" sz="1000" dirty="0"/>
          </a:p>
        </p:txBody>
      </p:sp>
      <p:sp>
        <p:nvSpPr>
          <p:cNvPr id="4" name="Text 2"/>
          <p:cNvSpPr/>
          <p:nvPr/>
        </p:nvSpPr>
        <p:spPr>
          <a:xfrm>
            <a:off x="548640" y="836676"/>
            <a:ext cx="7721600" cy="457200"/>
          </a:xfrm>
          <a:prstGeom prst="rect">
            <a:avLst/>
          </a:prstGeom>
          <a:noFill/>
          <a:ln/>
        </p:spPr>
        <p:txBody>
          <a:bodyPr wrap="square" lIns="0" tIns="0" rIns="0" bIns="0" rtlCol="0" anchor="ctr"/>
          <a:lstStyle/>
          <a:p>
            <a:r>
              <a:rPr lang="en-US" sz="2100" b="1" dirty="0" smtClean="0">
                <a:solidFill>
                  <a:srgbClr val="2B2926"/>
                </a:solidFill>
                <a:latin typeface="Georgia" pitchFamily="34" charset="0"/>
                <a:ea typeface="Georgia" pitchFamily="34" charset="-122"/>
                <a:cs typeface="Georgia" pitchFamily="34" charset="-120"/>
              </a:rPr>
              <a:t>Solar </a:t>
            </a:r>
            <a:r>
              <a:rPr lang="en-US" sz="2100" b="1" dirty="0">
                <a:solidFill>
                  <a:srgbClr val="2B2926"/>
                </a:solidFill>
                <a:latin typeface="Georgia" pitchFamily="34" charset="0"/>
                <a:ea typeface="Georgia" pitchFamily="34" charset="-122"/>
                <a:cs typeface="Georgia" pitchFamily="34" charset="-120"/>
              </a:rPr>
              <a:t>off Grid container for weather stations</a:t>
            </a:r>
            <a:endParaRPr lang="en-US" sz="2100" dirty="0"/>
          </a:p>
          <a:p>
            <a:pPr marL="0" indent="0">
              <a:buNone/>
            </a:pP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Images &amp; delivery notes</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2560320" cy="196596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1682496" y="2098548"/>
            <a:ext cx="292608" cy="32004"/>
          </a:xfrm>
          <a:prstGeom prst="rect">
            <a:avLst/>
          </a:prstGeom>
          <a:solidFill>
            <a:srgbClr val="B4632B"/>
          </a:solidFill>
          <a:ln/>
        </p:spPr>
      </p:sp>
      <p:sp>
        <p:nvSpPr>
          <p:cNvPr id="9" name="Text 7"/>
          <p:cNvSpPr/>
          <p:nvPr/>
        </p:nvSpPr>
        <p:spPr>
          <a:xfrm>
            <a:off x="6858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0" name="Image placeholder frame">
            <a:extLst>
              <a:ext uri="{C183D7F6-B498-43B3-948B-1728B52AA6E4}">
                <adec:decorative xmlns="" xmlns:adec="http://schemas.microsoft.com/office/drawing/2017/decorative" val="1"/>
              </a:ext>
            </a:extLst>
          </p:cNvPr>
          <p:cNvSpPr/>
          <p:nvPr/>
        </p:nvSpPr>
        <p:spPr>
          <a:xfrm>
            <a:off x="3291840" y="1371600"/>
            <a:ext cx="2560320" cy="1965960"/>
          </a:xfrm>
          <a:prstGeom prst="rect">
            <a:avLst/>
          </a:prstGeom>
          <a:solidFill>
            <a:srgbClr val="E4DACA"/>
          </a:solidFill>
          <a:ln w="12700">
            <a:solidFill>
              <a:srgbClr val="CBBDA6"/>
            </a:solidFill>
            <a:prstDash val="dash"/>
          </a:ln>
        </p:spPr>
      </p:sp>
      <p:sp>
        <p:nvSpPr>
          <p:cNvPr id="11" name="Placeholder mark">
            <a:extLst>
              <a:ext uri="{C183D7F6-B498-43B3-948B-1728B52AA6E4}">
                <adec:decorative xmlns="" xmlns:adec="http://schemas.microsoft.com/office/drawing/2017/decorative" val="1"/>
              </a:ext>
            </a:extLst>
          </p:cNvPr>
          <p:cNvSpPr/>
          <p:nvPr/>
        </p:nvSpPr>
        <p:spPr>
          <a:xfrm>
            <a:off x="4425696" y="2098548"/>
            <a:ext cx="292608" cy="32004"/>
          </a:xfrm>
          <a:prstGeom prst="rect">
            <a:avLst/>
          </a:prstGeom>
          <a:solidFill>
            <a:srgbClr val="B4632B"/>
          </a:solidFill>
          <a:ln/>
        </p:spPr>
      </p:sp>
      <p:sp>
        <p:nvSpPr>
          <p:cNvPr id="12" name="Text 10"/>
          <p:cNvSpPr/>
          <p:nvPr/>
        </p:nvSpPr>
        <p:spPr>
          <a:xfrm>
            <a:off x="34290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3" name="Image placeholder frame">
            <a:extLst>
              <a:ext uri="{C183D7F6-B498-43B3-948B-1728B52AA6E4}">
                <adec:decorative xmlns="" xmlns:adec="http://schemas.microsoft.com/office/drawing/2017/decorative" val="1"/>
              </a:ext>
            </a:extLst>
          </p:cNvPr>
          <p:cNvSpPr/>
          <p:nvPr/>
        </p:nvSpPr>
        <p:spPr>
          <a:xfrm>
            <a:off x="6035040" y="1371600"/>
            <a:ext cx="2560320" cy="1965960"/>
          </a:xfrm>
          <a:prstGeom prst="rect">
            <a:avLst/>
          </a:prstGeom>
          <a:solidFill>
            <a:srgbClr val="E4DACA"/>
          </a:solidFill>
          <a:ln w="12700">
            <a:solidFill>
              <a:srgbClr val="CBBDA6"/>
            </a:solidFill>
            <a:prstDash val="dash"/>
          </a:ln>
        </p:spPr>
      </p:sp>
      <p:sp>
        <p:nvSpPr>
          <p:cNvPr id="14" name="Placeholder mark">
            <a:extLst>
              <a:ext uri="{C183D7F6-B498-43B3-948B-1728B52AA6E4}">
                <adec:decorative xmlns="" xmlns:adec="http://schemas.microsoft.com/office/drawing/2017/decorative" val="1"/>
              </a:ext>
            </a:extLst>
          </p:cNvPr>
          <p:cNvSpPr/>
          <p:nvPr/>
        </p:nvSpPr>
        <p:spPr>
          <a:xfrm>
            <a:off x="7168896" y="2098548"/>
            <a:ext cx="292608" cy="32004"/>
          </a:xfrm>
          <a:prstGeom prst="rect">
            <a:avLst/>
          </a:prstGeom>
          <a:solidFill>
            <a:srgbClr val="B4632B"/>
          </a:solidFill>
          <a:ln/>
        </p:spPr>
      </p:sp>
      <p:sp>
        <p:nvSpPr>
          <p:cNvPr id="15" name="Text 13"/>
          <p:cNvSpPr/>
          <p:nvPr/>
        </p:nvSpPr>
        <p:spPr>
          <a:xfrm>
            <a:off x="61722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6" name="Text 14"/>
          <p:cNvSpPr/>
          <p:nvPr/>
        </p:nvSpPr>
        <p:spPr>
          <a:xfrm>
            <a:off x="548640" y="3566160"/>
            <a:ext cx="804672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DELIVERY NOTES</a:t>
            </a:r>
            <a:endParaRPr lang="en-US" sz="950" dirty="0"/>
          </a:p>
        </p:txBody>
      </p:sp>
      <p:sp>
        <p:nvSpPr>
          <p:cNvPr id="17" name="Description box">
            <a:extLst>
              <a:ext uri="{C183D7F6-B498-43B3-948B-1728B52AA6E4}">
                <adec:decorative xmlns="" xmlns:adec="http://schemas.microsoft.com/office/drawing/2017/decorative" val="1"/>
              </a:ext>
            </a:extLst>
          </p:cNvPr>
          <p:cNvSpPr/>
          <p:nvPr/>
        </p:nvSpPr>
        <p:spPr>
          <a:xfrm>
            <a:off x="548640" y="3840480"/>
            <a:ext cx="8046720" cy="1051560"/>
          </a:xfrm>
          <a:prstGeom prst="rect">
            <a:avLst/>
          </a:prstGeom>
          <a:solidFill>
            <a:srgbClr val="FFFFFF"/>
          </a:solidFill>
          <a:ln w="12700">
            <a:solidFill>
              <a:srgbClr val="E0D5C2"/>
            </a:solidFill>
            <a:prstDash val="solid"/>
          </a:ln>
        </p:spPr>
      </p:sp>
      <p:sp>
        <p:nvSpPr>
          <p:cNvPr id="18" name="Text 16"/>
          <p:cNvSpPr/>
          <p:nvPr/>
        </p:nvSpPr>
        <p:spPr>
          <a:xfrm>
            <a:off x="713232" y="3968496"/>
            <a:ext cx="7717536" cy="795528"/>
          </a:xfrm>
          <a:prstGeom prst="rect">
            <a:avLst/>
          </a:prstGeom>
          <a:noFill/>
          <a:ln/>
        </p:spPr>
        <p:txBody>
          <a:bodyPr wrap="square" lIns="0" tIns="0" rIns="0" bIns="0" rtlCol="0" anchor="ctr"/>
          <a:lstStyle/>
          <a:p>
            <a:pPr>
              <a:lnSpc>
                <a:spcPts val="1500"/>
              </a:lnSpc>
            </a:pPr>
            <a:r>
              <a:rPr lang="en-US" sz="1050" i="1" dirty="0" smtClean="0">
                <a:latin typeface="Trebuchet MS" pitchFamily="34" charset="0"/>
                <a:ea typeface="Trebuchet MS" pitchFamily="34" charset="-122"/>
                <a:cs typeface="Trebuchet MS" pitchFamily="34" charset="-120"/>
              </a:rPr>
              <a:t>Delivered </a:t>
            </a:r>
            <a:r>
              <a:rPr lang="en-US" sz="1050" i="1" dirty="0">
                <a:latin typeface="Trebuchet MS" pitchFamily="34" charset="0"/>
                <a:ea typeface="Trebuchet MS" pitchFamily="34" charset="-122"/>
                <a:cs typeface="Trebuchet MS" pitchFamily="34" charset="-120"/>
              </a:rPr>
              <a:t>a complete plug-and-play off-grid power solution, optimized for autonomous operation, remote deployment, and dependable performance with minimal maintenance </a:t>
            </a:r>
            <a:r>
              <a:rPr lang="en-US" sz="1050" i="1" dirty="0" smtClean="0">
                <a:latin typeface="Trebuchet MS" pitchFamily="34" charset="0"/>
                <a:ea typeface="Trebuchet MS" pitchFamily="34" charset="-122"/>
                <a:cs typeface="Trebuchet MS" pitchFamily="34" charset="-120"/>
              </a:rPr>
              <a:t>requirements.</a:t>
            </a:r>
            <a:endParaRPr lang="en-US" sz="1050" dirty="0"/>
          </a:p>
        </p:txBody>
      </p:sp>
      <p:pic>
        <p:nvPicPr>
          <p:cNvPr id="19" name="Picture 18"/>
          <p:cNvPicPr>
            <a:picLocks noChangeAspect="1"/>
          </p:cNvPicPr>
          <p:nvPr/>
        </p:nvPicPr>
        <p:blipFill>
          <a:blip r:embed="rId3"/>
          <a:stretch>
            <a:fillRect/>
          </a:stretch>
        </p:blipFill>
        <p:spPr>
          <a:xfrm>
            <a:off x="548641" y="1371601"/>
            <a:ext cx="2560320" cy="1965960"/>
          </a:xfrm>
          <a:prstGeom prst="rect">
            <a:avLst/>
          </a:prstGeom>
        </p:spPr>
      </p:pic>
      <p:pic>
        <p:nvPicPr>
          <p:cNvPr id="20" name="Picture 19"/>
          <p:cNvPicPr>
            <a:picLocks noChangeAspect="1"/>
          </p:cNvPicPr>
          <p:nvPr/>
        </p:nvPicPr>
        <p:blipFill>
          <a:blip r:embed="rId4"/>
          <a:stretch>
            <a:fillRect/>
          </a:stretch>
        </p:blipFill>
        <p:spPr>
          <a:xfrm>
            <a:off x="3291840" y="1371601"/>
            <a:ext cx="2560320" cy="1965960"/>
          </a:xfrm>
          <a:prstGeom prst="rect">
            <a:avLst/>
          </a:prstGeom>
        </p:spPr>
      </p:pic>
      <p:pic>
        <p:nvPicPr>
          <p:cNvPr id="21" name="Picture 20"/>
          <p:cNvPicPr>
            <a:picLocks noChangeAspect="1"/>
          </p:cNvPicPr>
          <p:nvPr/>
        </p:nvPicPr>
        <p:blipFill>
          <a:blip r:embed="rId5"/>
          <a:stretch>
            <a:fillRect/>
          </a:stretch>
        </p:blipFill>
        <p:spPr>
          <a:xfrm>
            <a:off x="6035039" y="1371600"/>
            <a:ext cx="2560321" cy="19659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08</a:t>
            </a:r>
            <a:endParaRPr lang="en-US" sz="1000" dirty="0"/>
          </a:p>
        </p:txBody>
      </p:sp>
      <p:sp>
        <p:nvSpPr>
          <p:cNvPr id="4" name="Text 2"/>
          <p:cNvSpPr/>
          <p:nvPr/>
        </p:nvSpPr>
        <p:spPr>
          <a:xfrm>
            <a:off x="548640" y="731520"/>
            <a:ext cx="5577840" cy="457200"/>
          </a:xfrm>
          <a:prstGeom prst="rect">
            <a:avLst/>
          </a:prstGeom>
          <a:noFill/>
          <a:ln/>
        </p:spPr>
        <p:txBody>
          <a:bodyPr wrap="square" lIns="0" tIns="0" rIns="0" bIns="0" rtlCol="0" anchor="ctr"/>
          <a:lstStyle/>
          <a:p>
            <a:r>
              <a:rPr lang="en-US" sz="2100" b="1" dirty="0" smtClean="0">
                <a:solidFill>
                  <a:srgbClr val="2B2926"/>
                </a:solidFill>
                <a:latin typeface="Georgia" pitchFamily="34" charset="0"/>
                <a:ea typeface="Georgia" pitchFamily="34" charset="-122"/>
                <a:cs typeface="Georgia" pitchFamily="34" charset="-120"/>
              </a:rPr>
              <a:t>Solar Traffic Monitoring System</a:t>
            </a: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Completed project</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4343400" cy="320040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2574036" y="2715768"/>
            <a:ext cx="292608" cy="32004"/>
          </a:xfrm>
          <a:prstGeom prst="rect">
            <a:avLst/>
          </a:prstGeom>
          <a:solidFill>
            <a:srgbClr val="B4632B"/>
          </a:solidFill>
          <a:ln/>
        </p:spPr>
      </p:sp>
      <p:sp>
        <p:nvSpPr>
          <p:cNvPr id="9" name="Text 7"/>
          <p:cNvSpPr/>
          <p:nvPr/>
        </p:nvSpPr>
        <p:spPr>
          <a:xfrm>
            <a:off x="685800" y="2825496"/>
            <a:ext cx="406908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project image here</a:t>
            </a:r>
            <a:endParaRPr lang="en-US" sz="1050" dirty="0"/>
          </a:p>
        </p:txBody>
      </p:sp>
      <p:sp>
        <p:nvSpPr>
          <p:cNvPr id="10" name="Text 8"/>
          <p:cNvSpPr/>
          <p:nvPr/>
        </p:nvSpPr>
        <p:spPr>
          <a:xfrm>
            <a:off x="5166360" y="137160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PROJECT DESCRIPTION</a:t>
            </a:r>
            <a:endParaRPr lang="en-US" sz="950" dirty="0"/>
          </a:p>
        </p:txBody>
      </p:sp>
      <p:sp>
        <p:nvSpPr>
          <p:cNvPr id="11" name="Description box">
            <a:extLst>
              <a:ext uri="{C183D7F6-B498-43B3-948B-1728B52AA6E4}">
                <adec:decorative xmlns="" xmlns:adec="http://schemas.microsoft.com/office/drawing/2017/decorative" val="1"/>
              </a:ext>
            </a:extLst>
          </p:cNvPr>
          <p:cNvSpPr/>
          <p:nvPr/>
        </p:nvSpPr>
        <p:spPr>
          <a:xfrm>
            <a:off x="5166360" y="1645920"/>
            <a:ext cx="3429000" cy="1417320"/>
          </a:xfrm>
          <a:prstGeom prst="rect">
            <a:avLst/>
          </a:prstGeom>
          <a:solidFill>
            <a:srgbClr val="FFFFFF"/>
          </a:solidFill>
          <a:ln w="12700">
            <a:solidFill>
              <a:srgbClr val="E0D5C2"/>
            </a:solidFill>
            <a:prstDash val="solid"/>
          </a:ln>
        </p:spPr>
      </p:sp>
      <p:sp>
        <p:nvSpPr>
          <p:cNvPr id="12" name="Text 10"/>
          <p:cNvSpPr/>
          <p:nvPr/>
        </p:nvSpPr>
        <p:spPr>
          <a:xfrm>
            <a:off x="5330952" y="1773936"/>
            <a:ext cx="3099816" cy="1161288"/>
          </a:xfrm>
          <a:prstGeom prst="rect">
            <a:avLst/>
          </a:prstGeom>
          <a:noFill/>
          <a:ln/>
        </p:spPr>
        <p:txBody>
          <a:bodyPr wrap="square" lIns="0" tIns="0" rIns="0" bIns="0" rtlCol="0" anchor="ctr"/>
          <a:lstStyle/>
          <a:p>
            <a:pPr>
              <a:lnSpc>
                <a:spcPts val="1500"/>
              </a:lnSpc>
            </a:pPr>
            <a:r>
              <a:rPr lang="en-US" sz="1050" i="1" dirty="0" smtClean="0">
                <a:latin typeface="Trebuchet MS" pitchFamily="34" charset="0"/>
                <a:ea typeface="Trebuchet MS" pitchFamily="34" charset="-122"/>
                <a:cs typeface="Trebuchet MS" pitchFamily="34" charset="-120"/>
              </a:rPr>
              <a:t>Developed </a:t>
            </a:r>
            <a:r>
              <a:rPr lang="en-US" sz="1050" i="1" dirty="0">
                <a:latin typeface="Trebuchet MS" pitchFamily="34" charset="0"/>
                <a:ea typeface="Trebuchet MS" pitchFamily="34" charset="-122"/>
                <a:cs typeface="Trebuchet MS" pitchFamily="34" charset="-120"/>
              </a:rPr>
              <a:t>a solar-powered traffic monitoring solution for remote and infrastructure locations where conventional grid power is unavailable or impractical. The system provides autonomous power for traffic monitoring and associated communication </a:t>
            </a:r>
            <a:r>
              <a:rPr lang="en-US" sz="1050" i="1" dirty="0" smtClean="0">
                <a:latin typeface="Trebuchet MS" pitchFamily="34" charset="0"/>
                <a:ea typeface="Trebuchet MS" pitchFamily="34" charset="-122"/>
                <a:cs typeface="Trebuchet MS" pitchFamily="34" charset="-120"/>
              </a:rPr>
              <a:t>equipment.</a:t>
            </a:r>
            <a:endParaRPr lang="en-US" sz="1050" dirty="0"/>
          </a:p>
        </p:txBody>
      </p:sp>
      <p:sp>
        <p:nvSpPr>
          <p:cNvPr id="13" name="Text 11"/>
          <p:cNvSpPr/>
          <p:nvPr/>
        </p:nvSpPr>
        <p:spPr>
          <a:xfrm>
            <a:off x="5166360" y="315468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KEY FACTS</a:t>
            </a:r>
            <a:endParaRPr lang="en-US" sz="950" dirty="0"/>
          </a:p>
        </p:txBody>
      </p:sp>
      <p:sp>
        <p:nvSpPr>
          <p:cNvPr id="14" name="Text 12"/>
          <p:cNvSpPr/>
          <p:nvPr/>
        </p:nvSpPr>
        <p:spPr>
          <a:xfrm>
            <a:off x="5166360" y="3456432"/>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Capacity</a:t>
            </a:r>
            <a:endParaRPr lang="en-US" sz="1000" dirty="0"/>
          </a:p>
        </p:txBody>
      </p:sp>
      <p:sp>
        <p:nvSpPr>
          <p:cNvPr id="16" name="Text 14"/>
          <p:cNvSpPr/>
          <p:nvPr/>
        </p:nvSpPr>
        <p:spPr>
          <a:xfrm>
            <a:off x="5166360" y="3739896"/>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Location</a:t>
            </a:r>
            <a:endParaRPr lang="en-US" sz="1000" dirty="0"/>
          </a:p>
        </p:txBody>
      </p:sp>
      <p:sp>
        <p:nvSpPr>
          <p:cNvPr id="18" name="Text 16"/>
          <p:cNvSpPr/>
          <p:nvPr/>
        </p:nvSpPr>
        <p:spPr>
          <a:xfrm>
            <a:off x="5166360" y="4023360"/>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Scope</a:t>
            </a:r>
            <a:endParaRPr lang="en-US" sz="1000" dirty="0"/>
          </a:p>
        </p:txBody>
      </p:sp>
      <p:sp>
        <p:nvSpPr>
          <p:cNvPr id="20" name="Text 18"/>
          <p:cNvSpPr/>
          <p:nvPr/>
        </p:nvSpPr>
        <p:spPr>
          <a:xfrm>
            <a:off x="5166360" y="4306824"/>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Status</a:t>
            </a:r>
            <a:endParaRPr lang="en-US" sz="1000" dirty="0"/>
          </a:p>
        </p:txBody>
      </p:sp>
      <p:pic>
        <p:nvPicPr>
          <p:cNvPr id="22" name="Picture 21"/>
          <p:cNvPicPr>
            <a:picLocks noChangeAspect="1"/>
          </p:cNvPicPr>
          <p:nvPr/>
        </p:nvPicPr>
        <p:blipFill>
          <a:blip r:embed="rId3"/>
          <a:stretch>
            <a:fillRect/>
          </a:stretch>
        </p:blipFill>
        <p:spPr>
          <a:xfrm>
            <a:off x="548641" y="1377188"/>
            <a:ext cx="4343400" cy="3194812"/>
          </a:xfrm>
          <a:prstGeom prst="rect">
            <a:avLst/>
          </a:prstGeom>
        </p:spPr>
      </p:pic>
      <p:sp>
        <p:nvSpPr>
          <p:cNvPr id="23" name="Rectangle 22"/>
          <p:cNvSpPr/>
          <p:nvPr/>
        </p:nvSpPr>
        <p:spPr>
          <a:xfrm>
            <a:off x="6124877" y="3952050"/>
            <a:ext cx="90281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Turnkey EPC</a:t>
            </a:r>
            <a:endParaRPr lang="en-US" sz="1000" dirty="0">
              <a:solidFill>
                <a:prstClr val="black"/>
              </a:solidFill>
            </a:endParaRPr>
          </a:p>
        </p:txBody>
      </p:sp>
      <p:sp>
        <p:nvSpPr>
          <p:cNvPr id="24" name="Rectangle 23"/>
          <p:cNvSpPr/>
          <p:nvPr/>
        </p:nvSpPr>
        <p:spPr>
          <a:xfrm>
            <a:off x="6124877" y="4266718"/>
            <a:ext cx="81144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Completed</a:t>
            </a:r>
            <a:endParaRPr lang="en-US" sz="1000" dirty="0">
              <a:solidFill>
                <a:prstClr val="black"/>
              </a:solidFill>
            </a:endParaRPr>
          </a:p>
        </p:txBody>
      </p:sp>
      <p:sp>
        <p:nvSpPr>
          <p:cNvPr id="25" name="Rectangle 24"/>
          <p:cNvSpPr/>
          <p:nvPr/>
        </p:nvSpPr>
        <p:spPr>
          <a:xfrm>
            <a:off x="6126480" y="3437358"/>
            <a:ext cx="607859" cy="246221"/>
          </a:xfrm>
          <a:prstGeom prst="rect">
            <a:avLst/>
          </a:prstGeom>
        </p:spPr>
        <p:txBody>
          <a:bodyPr wrap="none">
            <a:spAutoFit/>
          </a:bodyPr>
          <a:lstStyle/>
          <a:p>
            <a:pPr lvl="0"/>
            <a:r>
              <a:rPr lang="en-US" sz="1000" dirty="0" smtClean="0">
                <a:solidFill>
                  <a:srgbClr val="45413B"/>
                </a:solidFill>
                <a:latin typeface="Trebuchet MS" pitchFamily="34" charset="0"/>
              </a:rPr>
              <a:t>500 KW</a:t>
            </a:r>
            <a:endParaRPr lang="en-US" sz="1000" dirty="0">
              <a:solidFill>
                <a:prstClr val="black"/>
              </a:solidFill>
            </a:endParaRPr>
          </a:p>
        </p:txBody>
      </p:sp>
      <p:sp>
        <p:nvSpPr>
          <p:cNvPr id="26" name="Rectangle 25"/>
          <p:cNvSpPr/>
          <p:nvPr/>
        </p:nvSpPr>
        <p:spPr>
          <a:xfrm>
            <a:off x="6126480" y="3689167"/>
            <a:ext cx="899605" cy="246221"/>
          </a:xfrm>
          <a:prstGeom prst="rect">
            <a:avLst/>
          </a:prstGeom>
        </p:spPr>
        <p:txBody>
          <a:bodyPr wrap="none">
            <a:spAutoFit/>
          </a:bodyPr>
          <a:lstStyle/>
          <a:p>
            <a:pPr lvl="0"/>
            <a:r>
              <a:rPr lang="en-US" sz="1000" dirty="0" smtClean="0">
                <a:solidFill>
                  <a:srgbClr val="45413B"/>
                </a:solidFill>
                <a:latin typeface="Trebuchet MS" pitchFamily="34" charset="0"/>
              </a:rPr>
              <a:t>Saudi Arabia</a:t>
            </a:r>
            <a:endParaRPr lang="en-US" sz="1000" dirty="0">
              <a:solidFill>
                <a:prstClr val="black"/>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08  ·  SITE GALLERY</a:t>
            </a:r>
            <a:endParaRPr lang="en-US" sz="1000" dirty="0"/>
          </a:p>
        </p:txBody>
      </p:sp>
      <p:sp>
        <p:nvSpPr>
          <p:cNvPr id="4" name="Text 2"/>
          <p:cNvSpPr/>
          <p:nvPr/>
        </p:nvSpPr>
        <p:spPr>
          <a:xfrm>
            <a:off x="548640" y="809244"/>
            <a:ext cx="5120640" cy="457200"/>
          </a:xfrm>
          <a:prstGeom prst="rect">
            <a:avLst/>
          </a:prstGeom>
          <a:noFill/>
          <a:ln/>
        </p:spPr>
        <p:txBody>
          <a:bodyPr wrap="square" lIns="0" tIns="0" rIns="0" bIns="0" rtlCol="0" anchor="ctr"/>
          <a:lstStyle/>
          <a:p>
            <a:r>
              <a:rPr lang="en-US" sz="2100" b="1" dirty="0" smtClean="0">
                <a:solidFill>
                  <a:srgbClr val="2B2926"/>
                </a:solidFill>
                <a:latin typeface="Georgia" pitchFamily="34" charset="0"/>
                <a:ea typeface="Georgia" pitchFamily="34" charset="-122"/>
                <a:cs typeface="Georgia" pitchFamily="34" charset="-120"/>
              </a:rPr>
              <a:t>Solar </a:t>
            </a:r>
            <a:r>
              <a:rPr lang="en-US" sz="2100" b="1" dirty="0">
                <a:solidFill>
                  <a:srgbClr val="2B2926"/>
                </a:solidFill>
                <a:latin typeface="Georgia" pitchFamily="34" charset="0"/>
                <a:ea typeface="Georgia" pitchFamily="34" charset="-122"/>
                <a:cs typeface="Georgia" pitchFamily="34" charset="-120"/>
              </a:rPr>
              <a:t>Traffic Monitoring System</a:t>
            </a:r>
            <a:endParaRPr lang="en-US" sz="2100" dirty="0"/>
          </a:p>
          <a:p>
            <a:pPr marL="0" indent="0">
              <a:buNone/>
            </a:pP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Images &amp; delivery notes</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2560320" cy="196596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1682496" y="2098548"/>
            <a:ext cx="292608" cy="32004"/>
          </a:xfrm>
          <a:prstGeom prst="rect">
            <a:avLst/>
          </a:prstGeom>
          <a:solidFill>
            <a:srgbClr val="B4632B"/>
          </a:solidFill>
          <a:ln/>
        </p:spPr>
      </p:sp>
      <p:sp>
        <p:nvSpPr>
          <p:cNvPr id="9" name="Text 7"/>
          <p:cNvSpPr/>
          <p:nvPr/>
        </p:nvSpPr>
        <p:spPr>
          <a:xfrm>
            <a:off x="6858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0" name="Image placeholder frame">
            <a:extLst>
              <a:ext uri="{C183D7F6-B498-43B3-948B-1728B52AA6E4}">
                <adec:decorative xmlns="" xmlns:adec="http://schemas.microsoft.com/office/drawing/2017/decorative" val="1"/>
              </a:ext>
            </a:extLst>
          </p:cNvPr>
          <p:cNvSpPr/>
          <p:nvPr/>
        </p:nvSpPr>
        <p:spPr>
          <a:xfrm>
            <a:off x="3291840" y="1371600"/>
            <a:ext cx="2560320" cy="1965960"/>
          </a:xfrm>
          <a:prstGeom prst="rect">
            <a:avLst/>
          </a:prstGeom>
          <a:solidFill>
            <a:srgbClr val="E4DACA"/>
          </a:solidFill>
          <a:ln w="12700">
            <a:solidFill>
              <a:srgbClr val="CBBDA6"/>
            </a:solidFill>
            <a:prstDash val="dash"/>
          </a:ln>
        </p:spPr>
      </p:sp>
      <p:sp>
        <p:nvSpPr>
          <p:cNvPr id="11" name="Placeholder mark">
            <a:extLst>
              <a:ext uri="{C183D7F6-B498-43B3-948B-1728B52AA6E4}">
                <adec:decorative xmlns="" xmlns:adec="http://schemas.microsoft.com/office/drawing/2017/decorative" val="1"/>
              </a:ext>
            </a:extLst>
          </p:cNvPr>
          <p:cNvSpPr/>
          <p:nvPr/>
        </p:nvSpPr>
        <p:spPr>
          <a:xfrm>
            <a:off x="4425696" y="2098548"/>
            <a:ext cx="292608" cy="32004"/>
          </a:xfrm>
          <a:prstGeom prst="rect">
            <a:avLst/>
          </a:prstGeom>
          <a:solidFill>
            <a:srgbClr val="B4632B"/>
          </a:solidFill>
          <a:ln/>
        </p:spPr>
      </p:sp>
      <p:sp>
        <p:nvSpPr>
          <p:cNvPr id="12" name="Text 10"/>
          <p:cNvSpPr/>
          <p:nvPr/>
        </p:nvSpPr>
        <p:spPr>
          <a:xfrm>
            <a:off x="34290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3" name="Image placeholder frame">
            <a:extLst>
              <a:ext uri="{C183D7F6-B498-43B3-948B-1728B52AA6E4}">
                <adec:decorative xmlns="" xmlns:adec="http://schemas.microsoft.com/office/drawing/2017/decorative" val="1"/>
              </a:ext>
            </a:extLst>
          </p:cNvPr>
          <p:cNvSpPr/>
          <p:nvPr/>
        </p:nvSpPr>
        <p:spPr>
          <a:xfrm>
            <a:off x="6035040" y="1371600"/>
            <a:ext cx="2560320" cy="1965960"/>
          </a:xfrm>
          <a:prstGeom prst="rect">
            <a:avLst/>
          </a:prstGeom>
          <a:solidFill>
            <a:srgbClr val="E4DACA"/>
          </a:solidFill>
          <a:ln w="12700">
            <a:solidFill>
              <a:srgbClr val="CBBDA6"/>
            </a:solidFill>
            <a:prstDash val="dash"/>
          </a:ln>
        </p:spPr>
      </p:sp>
      <p:sp>
        <p:nvSpPr>
          <p:cNvPr id="14" name="Placeholder mark">
            <a:extLst>
              <a:ext uri="{C183D7F6-B498-43B3-948B-1728B52AA6E4}">
                <adec:decorative xmlns="" xmlns:adec="http://schemas.microsoft.com/office/drawing/2017/decorative" val="1"/>
              </a:ext>
            </a:extLst>
          </p:cNvPr>
          <p:cNvSpPr/>
          <p:nvPr/>
        </p:nvSpPr>
        <p:spPr>
          <a:xfrm>
            <a:off x="7168896" y="2098548"/>
            <a:ext cx="292608" cy="32004"/>
          </a:xfrm>
          <a:prstGeom prst="rect">
            <a:avLst/>
          </a:prstGeom>
          <a:solidFill>
            <a:srgbClr val="B4632B"/>
          </a:solidFill>
          <a:ln/>
        </p:spPr>
      </p:sp>
      <p:sp>
        <p:nvSpPr>
          <p:cNvPr id="15" name="Text 13"/>
          <p:cNvSpPr/>
          <p:nvPr/>
        </p:nvSpPr>
        <p:spPr>
          <a:xfrm>
            <a:off x="61722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6" name="Text 14"/>
          <p:cNvSpPr/>
          <p:nvPr/>
        </p:nvSpPr>
        <p:spPr>
          <a:xfrm>
            <a:off x="548640" y="3566160"/>
            <a:ext cx="804672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DELIVERY NOTES</a:t>
            </a:r>
            <a:endParaRPr lang="en-US" sz="950" dirty="0"/>
          </a:p>
        </p:txBody>
      </p:sp>
      <p:sp>
        <p:nvSpPr>
          <p:cNvPr id="17" name="Description box">
            <a:extLst>
              <a:ext uri="{C183D7F6-B498-43B3-948B-1728B52AA6E4}">
                <adec:decorative xmlns="" xmlns:adec="http://schemas.microsoft.com/office/drawing/2017/decorative" val="1"/>
              </a:ext>
            </a:extLst>
          </p:cNvPr>
          <p:cNvSpPr/>
          <p:nvPr/>
        </p:nvSpPr>
        <p:spPr>
          <a:xfrm>
            <a:off x="548640" y="3840480"/>
            <a:ext cx="8046720" cy="1051560"/>
          </a:xfrm>
          <a:prstGeom prst="rect">
            <a:avLst/>
          </a:prstGeom>
          <a:solidFill>
            <a:srgbClr val="FFFFFF"/>
          </a:solidFill>
          <a:ln w="12700">
            <a:solidFill>
              <a:srgbClr val="E0D5C2"/>
            </a:solidFill>
            <a:prstDash val="solid"/>
          </a:ln>
        </p:spPr>
      </p:sp>
      <p:sp>
        <p:nvSpPr>
          <p:cNvPr id="18" name="Text 16"/>
          <p:cNvSpPr/>
          <p:nvPr/>
        </p:nvSpPr>
        <p:spPr>
          <a:xfrm>
            <a:off x="713232" y="3968496"/>
            <a:ext cx="7717536" cy="795528"/>
          </a:xfrm>
          <a:prstGeom prst="rect">
            <a:avLst/>
          </a:prstGeom>
          <a:noFill/>
          <a:ln/>
        </p:spPr>
        <p:txBody>
          <a:bodyPr wrap="square" lIns="0" tIns="0" rIns="0" bIns="0" rtlCol="0" anchor="ctr"/>
          <a:lstStyle/>
          <a:p>
            <a:pPr>
              <a:lnSpc>
                <a:spcPts val="1500"/>
              </a:lnSpc>
            </a:pPr>
            <a:r>
              <a:rPr lang="en-US" sz="1050" i="1" dirty="0" smtClean="0">
                <a:latin typeface="Trebuchet MS" pitchFamily="34" charset="0"/>
                <a:ea typeface="Trebuchet MS" pitchFamily="34" charset="-122"/>
                <a:cs typeface="Trebuchet MS" pitchFamily="34" charset="-120"/>
              </a:rPr>
              <a:t>Successfully </a:t>
            </a:r>
            <a:r>
              <a:rPr lang="en-US" sz="1050" i="1" dirty="0">
                <a:latin typeface="Trebuchet MS" pitchFamily="34" charset="0"/>
                <a:ea typeface="Trebuchet MS" pitchFamily="34" charset="-122"/>
                <a:cs typeface="Trebuchet MS" pitchFamily="34" charset="-120"/>
              </a:rPr>
              <a:t>delivered an integrated renewable-energy solution combining solar PV, energy storage, power management, and monitoring equipment, enabling reliable 24/7 </a:t>
            </a:r>
            <a:r>
              <a:rPr lang="en-US" sz="1050" i="1" dirty="0" smtClean="0">
                <a:latin typeface="Trebuchet MS" pitchFamily="34" charset="0"/>
                <a:ea typeface="Trebuchet MS" pitchFamily="34" charset="-122"/>
                <a:cs typeface="Trebuchet MS" pitchFamily="34" charset="-120"/>
              </a:rPr>
              <a:t>operation.</a:t>
            </a:r>
            <a:endParaRPr lang="en-US" sz="1050" dirty="0"/>
          </a:p>
        </p:txBody>
      </p:sp>
      <p:pic>
        <p:nvPicPr>
          <p:cNvPr id="19" name="Picture 18"/>
          <p:cNvPicPr>
            <a:picLocks noChangeAspect="1"/>
          </p:cNvPicPr>
          <p:nvPr/>
        </p:nvPicPr>
        <p:blipFill>
          <a:blip r:embed="rId3"/>
          <a:stretch>
            <a:fillRect/>
          </a:stretch>
        </p:blipFill>
        <p:spPr>
          <a:xfrm rot="16200000">
            <a:off x="843432" y="1072032"/>
            <a:ext cx="1970736" cy="2560320"/>
          </a:xfrm>
          <a:prstGeom prst="rect">
            <a:avLst/>
          </a:prstGeom>
        </p:spPr>
      </p:pic>
      <p:pic>
        <p:nvPicPr>
          <p:cNvPr id="20" name="Picture 19"/>
          <p:cNvPicPr>
            <a:picLocks noChangeAspect="1"/>
          </p:cNvPicPr>
          <p:nvPr/>
        </p:nvPicPr>
        <p:blipFill>
          <a:blip r:embed="rId4"/>
          <a:stretch>
            <a:fillRect/>
          </a:stretch>
        </p:blipFill>
        <p:spPr>
          <a:xfrm>
            <a:off x="3316277" y="1390700"/>
            <a:ext cx="2535884" cy="1946860"/>
          </a:xfrm>
          <a:prstGeom prst="rect">
            <a:avLst/>
          </a:prstGeom>
        </p:spPr>
      </p:pic>
      <p:pic>
        <p:nvPicPr>
          <p:cNvPr id="21" name="Picture 20"/>
          <p:cNvPicPr>
            <a:picLocks noChangeAspect="1"/>
          </p:cNvPicPr>
          <p:nvPr/>
        </p:nvPicPr>
        <p:blipFill>
          <a:blip r:embed="rId5"/>
          <a:stretch>
            <a:fillRect/>
          </a:stretch>
        </p:blipFill>
        <p:spPr>
          <a:xfrm>
            <a:off x="6035039" y="1390701"/>
            <a:ext cx="2578608" cy="19468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a:t>
            </a:r>
            <a:r>
              <a:rPr lang="en-US" sz="1000" b="1" kern="0" spc="300" dirty="0" smtClean="0">
                <a:solidFill>
                  <a:srgbClr val="B4632B"/>
                </a:solidFill>
                <a:latin typeface="Trebuchet MS" pitchFamily="34" charset="0"/>
                <a:ea typeface="Trebuchet MS" pitchFamily="34" charset="-122"/>
                <a:cs typeface="Trebuchet MS" pitchFamily="34" charset="-120"/>
              </a:rPr>
              <a:t>09</a:t>
            </a:r>
            <a:endParaRPr lang="en-US" sz="1000" dirty="0"/>
          </a:p>
        </p:txBody>
      </p:sp>
      <p:sp>
        <p:nvSpPr>
          <p:cNvPr id="4" name="Text 2"/>
          <p:cNvSpPr/>
          <p:nvPr/>
        </p:nvSpPr>
        <p:spPr>
          <a:xfrm>
            <a:off x="548640" y="731520"/>
            <a:ext cx="5577840" cy="457200"/>
          </a:xfrm>
          <a:prstGeom prst="rect">
            <a:avLst/>
          </a:prstGeom>
          <a:noFill/>
          <a:ln/>
        </p:spPr>
        <p:txBody>
          <a:bodyPr wrap="square" lIns="0" tIns="0" rIns="0" bIns="0" rtlCol="0" anchor="ctr"/>
          <a:lstStyle/>
          <a:p>
            <a:r>
              <a:rPr lang="en-US" sz="2100" b="1" dirty="0" smtClean="0">
                <a:solidFill>
                  <a:srgbClr val="2B2926"/>
                </a:solidFill>
                <a:latin typeface="Georgia" pitchFamily="34" charset="0"/>
                <a:ea typeface="Georgia" pitchFamily="34" charset="-122"/>
                <a:cs typeface="Georgia" pitchFamily="34" charset="-120"/>
              </a:rPr>
              <a:t>Off-Grid </a:t>
            </a:r>
            <a:r>
              <a:rPr lang="en-US" sz="2100" b="1" dirty="0">
                <a:solidFill>
                  <a:srgbClr val="2B2926"/>
                </a:solidFill>
                <a:latin typeface="Georgia" pitchFamily="34" charset="0"/>
                <a:ea typeface="Georgia" pitchFamily="34" charset="-122"/>
                <a:cs typeface="Georgia" pitchFamily="34" charset="-120"/>
              </a:rPr>
              <a:t>Solar Container for EV Vehicles</a:t>
            </a: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Completed project</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4343400" cy="320040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2574036" y="2715768"/>
            <a:ext cx="292608" cy="32004"/>
          </a:xfrm>
          <a:prstGeom prst="rect">
            <a:avLst/>
          </a:prstGeom>
          <a:solidFill>
            <a:srgbClr val="B4632B"/>
          </a:solidFill>
          <a:ln/>
        </p:spPr>
      </p:sp>
      <p:sp>
        <p:nvSpPr>
          <p:cNvPr id="9" name="Text 7"/>
          <p:cNvSpPr/>
          <p:nvPr/>
        </p:nvSpPr>
        <p:spPr>
          <a:xfrm>
            <a:off x="685800" y="2825496"/>
            <a:ext cx="406908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project image here</a:t>
            </a:r>
            <a:endParaRPr lang="en-US" sz="1050" dirty="0"/>
          </a:p>
        </p:txBody>
      </p:sp>
      <p:sp>
        <p:nvSpPr>
          <p:cNvPr id="10" name="Text 8"/>
          <p:cNvSpPr/>
          <p:nvPr/>
        </p:nvSpPr>
        <p:spPr>
          <a:xfrm>
            <a:off x="5166360" y="137160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PROJECT DESCRIPTION</a:t>
            </a:r>
            <a:endParaRPr lang="en-US" sz="950" dirty="0"/>
          </a:p>
        </p:txBody>
      </p:sp>
      <p:sp>
        <p:nvSpPr>
          <p:cNvPr id="11" name="Description box">
            <a:extLst>
              <a:ext uri="{C183D7F6-B498-43B3-948B-1728B52AA6E4}">
                <adec:decorative xmlns="" xmlns:adec="http://schemas.microsoft.com/office/drawing/2017/decorative" val="1"/>
              </a:ext>
            </a:extLst>
          </p:cNvPr>
          <p:cNvSpPr/>
          <p:nvPr/>
        </p:nvSpPr>
        <p:spPr>
          <a:xfrm>
            <a:off x="5166360" y="1645920"/>
            <a:ext cx="3429000" cy="1417320"/>
          </a:xfrm>
          <a:prstGeom prst="rect">
            <a:avLst/>
          </a:prstGeom>
          <a:solidFill>
            <a:srgbClr val="FFFFFF"/>
          </a:solidFill>
          <a:ln w="12700">
            <a:solidFill>
              <a:srgbClr val="E0D5C2"/>
            </a:solidFill>
            <a:prstDash val="solid"/>
          </a:ln>
        </p:spPr>
      </p:sp>
      <p:sp>
        <p:nvSpPr>
          <p:cNvPr id="12" name="Text 10"/>
          <p:cNvSpPr/>
          <p:nvPr/>
        </p:nvSpPr>
        <p:spPr>
          <a:xfrm>
            <a:off x="5330952" y="1773936"/>
            <a:ext cx="3099816" cy="1161288"/>
          </a:xfrm>
          <a:prstGeom prst="rect">
            <a:avLst/>
          </a:prstGeom>
          <a:noFill/>
          <a:ln/>
        </p:spPr>
        <p:txBody>
          <a:bodyPr wrap="square" lIns="0" tIns="0" rIns="0" bIns="0" rtlCol="0" anchor="ctr"/>
          <a:lstStyle/>
          <a:p>
            <a:pPr>
              <a:lnSpc>
                <a:spcPts val="1500"/>
              </a:lnSpc>
            </a:pPr>
            <a:r>
              <a:rPr lang="en-US" sz="1050" i="1" dirty="0" smtClean="0">
                <a:latin typeface="Trebuchet MS" pitchFamily="34" charset="0"/>
                <a:ea typeface="Trebuchet MS" pitchFamily="34" charset="-122"/>
                <a:cs typeface="Trebuchet MS" pitchFamily="34" charset="-120"/>
              </a:rPr>
              <a:t>Designed </a:t>
            </a:r>
            <a:r>
              <a:rPr lang="en-US" sz="1050" i="1" dirty="0">
                <a:latin typeface="Trebuchet MS" pitchFamily="34" charset="0"/>
                <a:ea typeface="Trebuchet MS" pitchFamily="34" charset="-122"/>
                <a:cs typeface="Trebuchet MS" pitchFamily="34" charset="-120"/>
              </a:rPr>
              <a:t>and delivered an off-grid solar container solution supporting electric vehicle (EV) applications, integrating renewable energy generation and energy storage to provide an independent power source for EV charging infrastructure</a:t>
            </a:r>
            <a:r>
              <a:rPr lang="en-US" sz="1050" i="1" dirty="0" smtClean="0">
                <a:latin typeface="Trebuchet MS" pitchFamily="34" charset="0"/>
                <a:ea typeface="Trebuchet MS" pitchFamily="34" charset="-122"/>
                <a:cs typeface="Trebuchet MS" pitchFamily="34" charset="-120"/>
              </a:rPr>
              <a:t>. </a:t>
            </a:r>
            <a:endParaRPr lang="en-US" sz="1050" dirty="0"/>
          </a:p>
        </p:txBody>
      </p:sp>
      <p:sp>
        <p:nvSpPr>
          <p:cNvPr id="13" name="Text 11"/>
          <p:cNvSpPr/>
          <p:nvPr/>
        </p:nvSpPr>
        <p:spPr>
          <a:xfrm>
            <a:off x="5166360" y="315468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KEY FACTS</a:t>
            </a:r>
            <a:endParaRPr lang="en-US" sz="950" dirty="0"/>
          </a:p>
        </p:txBody>
      </p:sp>
      <p:sp>
        <p:nvSpPr>
          <p:cNvPr id="14" name="Text 12"/>
          <p:cNvSpPr/>
          <p:nvPr/>
        </p:nvSpPr>
        <p:spPr>
          <a:xfrm>
            <a:off x="5166360" y="3456432"/>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Capacity</a:t>
            </a:r>
            <a:endParaRPr lang="en-US" sz="1000" dirty="0"/>
          </a:p>
        </p:txBody>
      </p:sp>
      <p:sp>
        <p:nvSpPr>
          <p:cNvPr id="16" name="Text 14"/>
          <p:cNvSpPr/>
          <p:nvPr/>
        </p:nvSpPr>
        <p:spPr>
          <a:xfrm>
            <a:off x="5166360" y="3739896"/>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Location</a:t>
            </a:r>
            <a:endParaRPr lang="en-US" sz="1000" dirty="0"/>
          </a:p>
        </p:txBody>
      </p:sp>
      <p:sp>
        <p:nvSpPr>
          <p:cNvPr id="18" name="Text 16"/>
          <p:cNvSpPr/>
          <p:nvPr/>
        </p:nvSpPr>
        <p:spPr>
          <a:xfrm>
            <a:off x="5166360" y="4023360"/>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Scope</a:t>
            </a:r>
            <a:endParaRPr lang="en-US" sz="1000" dirty="0"/>
          </a:p>
        </p:txBody>
      </p:sp>
      <p:sp>
        <p:nvSpPr>
          <p:cNvPr id="20" name="Text 18"/>
          <p:cNvSpPr/>
          <p:nvPr/>
        </p:nvSpPr>
        <p:spPr>
          <a:xfrm>
            <a:off x="5166360" y="4306824"/>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Status</a:t>
            </a:r>
            <a:endParaRPr lang="en-US" sz="1000" dirty="0"/>
          </a:p>
        </p:txBody>
      </p:sp>
      <p:pic>
        <p:nvPicPr>
          <p:cNvPr id="22" name="Picture 21"/>
          <p:cNvPicPr>
            <a:picLocks noChangeAspect="1"/>
          </p:cNvPicPr>
          <p:nvPr/>
        </p:nvPicPr>
        <p:blipFill>
          <a:blip r:embed="rId3"/>
          <a:stretch>
            <a:fillRect/>
          </a:stretch>
        </p:blipFill>
        <p:spPr>
          <a:xfrm>
            <a:off x="548641" y="1377188"/>
            <a:ext cx="4343400" cy="3194812"/>
          </a:xfrm>
          <a:prstGeom prst="rect">
            <a:avLst/>
          </a:prstGeom>
        </p:spPr>
      </p:pic>
      <p:sp>
        <p:nvSpPr>
          <p:cNvPr id="23" name="Rectangle 22"/>
          <p:cNvSpPr/>
          <p:nvPr/>
        </p:nvSpPr>
        <p:spPr>
          <a:xfrm>
            <a:off x="6124877" y="3952050"/>
            <a:ext cx="90281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Turnkey EPC</a:t>
            </a:r>
            <a:endParaRPr lang="en-US" sz="1000" dirty="0">
              <a:solidFill>
                <a:prstClr val="black"/>
              </a:solidFill>
            </a:endParaRPr>
          </a:p>
        </p:txBody>
      </p:sp>
      <p:sp>
        <p:nvSpPr>
          <p:cNvPr id="24" name="Rectangle 23"/>
          <p:cNvSpPr/>
          <p:nvPr/>
        </p:nvSpPr>
        <p:spPr>
          <a:xfrm>
            <a:off x="6124877" y="4266718"/>
            <a:ext cx="81144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Completed</a:t>
            </a:r>
            <a:endParaRPr lang="en-US" sz="1000" dirty="0">
              <a:solidFill>
                <a:prstClr val="black"/>
              </a:solidFill>
            </a:endParaRPr>
          </a:p>
        </p:txBody>
      </p:sp>
      <p:sp>
        <p:nvSpPr>
          <p:cNvPr id="25" name="Rectangle 24"/>
          <p:cNvSpPr/>
          <p:nvPr/>
        </p:nvSpPr>
        <p:spPr>
          <a:xfrm>
            <a:off x="6126480" y="3437358"/>
            <a:ext cx="607859" cy="246221"/>
          </a:xfrm>
          <a:prstGeom prst="rect">
            <a:avLst/>
          </a:prstGeom>
        </p:spPr>
        <p:txBody>
          <a:bodyPr wrap="none">
            <a:spAutoFit/>
          </a:bodyPr>
          <a:lstStyle/>
          <a:p>
            <a:pPr lvl="0"/>
            <a:r>
              <a:rPr lang="en-US" sz="1000" dirty="0" smtClean="0">
                <a:solidFill>
                  <a:srgbClr val="45413B"/>
                </a:solidFill>
                <a:latin typeface="Trebuchet MS" pitchFamily="34" charset="0"/>
              </a:rPr>
              <a:t>500 KW</a:t>
            </a:r>
            <a:endParaRPr lang="en-US" sz="1000" dirty="0">
              <a:solidFill>
                <a:prstClr val="black"/>
              </a:solidFill>
            </a:endParaRPr>
          </a:p>
        </p:txBody>
      </p:sp>
      <p:sp>
        <p:nvSpPr>
          <p:cNvPr id="26" name="Rectangle 25"/>
          <p:cNvSpPr/>
          <p:nvPr/>
        </p:nvSpPr>
        <p:spPr>
          <a:xfrm>
            <a:off x="6126480" y="3689167"/>
            <a:ext cx="899605" cy="246221"/>
          </a:xfrm>
          <a:prstGeom prst="rect">
            <a:avLst/>
          </a:prstGeom>
        </p:spPr>
        <p:txBody>
          <a:bodyPr wrap="none">
            <a:spAutoFit/>
          </a:bodyPr>
          <a:lstStyle/>
          <a:p>
            <a:pPr lvl="0"/>
            <a:r>
              <a:rPr lang="en-US" sz="1000" dirty="0" smtClean="0">
                <a:solidFill>
                  <a:srgbClr val="45413B"/>
                </a:solidFill>
                <a:latin typeface="Trebuchet MS" pitchFamily="34" charset="0"/>
              </a:rPr>
              <a:t>Saudi Arabia</a:t>
            </a:r>
            <a:endParaRPr lang="en-US" sz="1000" dirty="0">
              <a:solidFill>
                <a:prstClr val="black"/>
              </a:solidFill>
            </a:endParaRPr>
          </a:p>
        </p:txBody>
      </p:sp>
    </p:spTree>
    <p:extLst>
      <p:ext uri="{BB962C8B-B14F-4D97-AF65-F5344CB8AC3E}">
        <p14:creationId xmlns:p14="http://schemas.microsoft.com/office/powerpoint/2010/main" val="2883260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a:t>
            </a:r>
            <a:r>
              <a:rPr lang="en-US" sz="1000" b="1" kern="0" spc="300" dirty="0" smtClean="0">
                <a:solidFill>
                  <a:srgbClr val="B4632B"/>
                </a:solidFill>
                <a:latin typeface="Trebuchet MS" pitchFamily="34" charset="0"/>
                <a:ea typeface="Trebuchet MS" pitchFamily="34" charset="-122"/>
                <a:cs typeface="Trebuchet MS" pitchFamily="34" charset="-120"/>
              </a:rPr>
              <a:t>09  </a:t>
            </a:r>
            <a:r>
              <a:rPr lang="en-US" sz="1000" b="1" kern="0" spc="300" dirty="0">
                <a:solidFill>
                  <a:srgbClr val="B4632B"/>
                </a:solidFill>
                <a:latin typeface="Trebuchet MS" pitchFamily="34" charset="0"/>
                <a:ea typeface="Trebuchet MS" pitchFamily="34" charset="-122"/>
                <a:cs typeface="Trebuchet MS" pitchFamily="34" charset="-120"/>
              </a:rPr>
              <a:t>·  SITE GALLERY</a:t>
            </a:r>
            <a:endParaRPr lang="en-US" sz="1000" dirty="0"/>
          </a:p>
        </p:txBody>
      </p:sp>
      <p:sp>
        <p:nvSpPr>
          <p:cNvPr id="4" name="Text 2"/>
          <p:cNvSpPr/>
          <p:nvPr/>
        </p:nvSpPr>
        <p:spPr>
          <a:xfrm>
            <a:off x="548640" y="809244"/>
            <a:ext cx="5791200" cy="457200"/>
          </a:xfrm>
          <a:prstGeom prst="rect">
            <a:avLst/>
          </a:prstGeom>
          <a:noFill/>
          <a:ln/>
        </p:spPr>
        <p:txBody>
          <a:bodyPr wrap="square" lIns="0" tIns="0" rIns="0" bIns="0" rtlCol="0" anchor="ctr"/>
          <a:lstStyle/>
          <a:p>
            <a:r>
              <a:rPr lang="en-US" sz="2100" b="1" dirty="0">
                <a:solidFill>
                  <a:srgbClr val="2B2926"/>
                </a:solidFill>
                <a:latin typeface="Georgia" pitchFamily="34" charset="0"/>
                <a:ea typeface="Georgia" pitchFamily="34" charset="-122"/>
                <a:cs typeface="Georgia" pitchFamily="34" charset="-120"/>
              </a:rPr>
              <a:t>Off-Grid Solar Container for EV Vehicles</a:t>
            </a:r>
            <a:endParaRPr lang="en-US" sz="2100" dirty="0"/>
          </a:p>
          <a:p>
            <a:pPr marL="0" indent="0">
              <a:buNone/>
            </a:pP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Images &amp; delivery notes</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2560320" cy="196596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1682496" y="2098548"/>
            <a:ext cx="292608" cy="32004"/>
          </a:xfrm>
          <a:prstGeom prst="rect">
            <a:avLst/>
          </a:prstGeom>
          <a:solidFill>
            <a:srgbClr val="B4632B"/>
          </a:solidFill>
          <a:ln/>
        </p:spPr>
      </p:sp>
      <p:sp>
        <p:nvSpPr>
          <p:cNvPr id="9" name="Text 7"/>
          <p:cNvSpPr/>
          <p:nvPr/>
        </p:nvSpPr>
        <p:spPr>
          <a:xfrm>
            <a:off x="6858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0" name="Image placeholder frame">
            <a:extLst>
              <a:ext uri="{C183D7F6-B498-43B3-948B-1728B52AA6E4}">
                <adec:decorative xmlns="" xmlns:adec="http://schemas.microsoft.com/office/drawing/2017/decorative" val="1"/>
              </a:ext>
            </a:extLst>
          </p:cNvPr>
          <p:cNvSpPr/>
          <p:nvPr/>
        </p:nvSpPr>
        <p:spPr>
          <a:xfrm>
            <a:off x="3291840" y="1371600"/>
            <a:ext cx="2560320" cy="1965960"/>
          </a:xfrm>
          <a:prstGeom prst="rect">
            <a:avLst/>
          </a:prstGeom>
          <a:solidFill>
            <a:srgbClr val="E4DACA"/>
          </a:solidFill>
          <a:ln w="12700">
            <a:solidFill>
              <a:srgbClr val="CBBDA6"/>
            </a:solidFill>
            <a:prstDash val="dash"/>
          </a:ln>
        </p:spPr>
      </p:sp>
      <p:sp>
        <p:nvSpPr>
          <p:cNvPr id="11" name="Placeholder mark">
            <a:extLst>
              <a:ext uri="{C183D7F6-B498-43B3-948B-1728B52AA6E4}">
                <adec:decorative xmlns="" xmlns:adec="http://schemas.microsoft.com/office/drawing/2017/decorative" val="1"/>
              </a:ext>
            </a:extLst>
          </p:cNvPr>
          <p:cNvSpPr/>
          <p:nvPr/>
        </p:nvSpPr>
        <p:spPr>
          <a:xfrm>
            <a:off x="4425696" y="2098548"/>
            <a:ext cx="292608" cy="32004"/>
          </a:xfrm>
          <a:prstGeom prst="rect">
            <a:avLst/>
          </a:prstGeom>
          <a:solidFill>
            <a:srgbClr val="B4632B"/>
          </a:solidFill>
          <a:ln/>
        </p:spPr>
      </p:sp>
      <p:sp>
        <p:nvSpPr>
          <p:cNvPr id="12" name="Text 10"/>
          <p:cNvSpPr/>
          <p:nvPr/>
        </p:nvSpPr>
        <p:spPr>
          <a:xfrm>
            <a:off x="34290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3" name="Image placeholder frame">
            <a:extLst>
              <a:ext uri="{C183D7F6-B498-43B3-948B-1728B52AA6E4}">
                <adec:decorative xmlns="" xmlns:adec="http://schemas.microsoft.com/office/drawing/2017/decorative" val="1"/>
              </a:ext>
            </a:extLst>
          </p:cNvPr>
          <p:cNvSpPr/>
          <p:nvPr/>
        </p:nvSpPr>
        <p:spPr>
          <a:xfrm>
            <a:off x="6035040" y="1371600"/>
            <a:ext cx="2560320" cy="1965960"/>
          </a:xfrm>
          <a:prstGeom prst="rect">
            <a:avLst/>
          </a:prstGeom>
          <a:solidFill>
            <a:srgbClr val="E4DACA"/>
          </a:solidFill>
          <a:ln w="12700">
            <a:solidFill>
              <a:srgbClr val="CBBDA6"/>
            </a:solidFill>
            <a:prstDash val="dash"/>
          </a:ln>
        </p:spPr>
      </p:sp>
      <p:sp>
        <p:nvSpPr>
          <p:cNvPr id="14" name="Placeholder mark">
            <a:extLst>
              <a:ext uri="{C183D7F6-B498-43B3-948B-1728B52AA6E4}">
                <adec:decorative xmlns="" xmlns:adec="http://schemas.microsoft.com/office/drawing/2017/decorative" val="1"/>
              </a:ext>
            </a:extLst>
          </p:cNvPr>
          <p:cNvSpPr/>
          <p:nvPr/>
        </p:nvSpPr>
        <p:spPr>
          <a:xfrm>
            <a:off x="7168896" y="2098548"/>
            <a:ext cx="292608" cy="32004"/>
          </a:xfrm>
          <a:prstGeom prst="rect">
            <a:avLst/>
          </a:prstGeom>
          <a:solidFill>
            <a:srgbClr val="B4632B"/>
          </a:solidFill>
          <a:ln/>
        </p:spPr>
      </p:sp>
      <p:sp>
        <p:nvSpPr>
          <p:cNvPr id="15" name="Text 13"/>
          <p:cNvSpPr/>
          <p:nvPr/>
        </p:nvSpPr>
        <p:spPr>
          <a:xfrm>
            <a:off x="61722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6" name="Text 14"/>
          <p:cNvSpPr/>
          <p:nvPr/>
        </p:nvSpPr>
        <p:spPr>
          <a:xfrm>
            <a:off x="548640" y="3566160"/>
            <a:ext cx="804672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DELIVERY NOTES</a:t>
            </a:r>
            <a:endParaRPr lang="en-US" sz="950" dirty="0"/>
          </a:p>
        </p:txBody>
      </p:sp>
      <p:sp>
        <p:nvSpPr>
          <p:cNvPr id="17" name="Description box">
            <a:extLst>
              <a:ext uri="{C183D7F6-B498-43B3-948B-1728B52AA6E4}">
                <adec:decorative xmlns="" xmlns:adec="http://schemas.microsoft.com/office/drawing/2017/decorative" val="1"/>
              </a:ext>
            </a:extLst>
          </p:cNvPr>
          <p:cNvSpPr/>
          <p:nvPr/>
        </p:nvSpPr>
        <p:spPr>
          <a:xfrm>
            <a:off x="548640" y="3840480"/>
            <a:ext cx="8046720" cy="1051560"/>
          </a:xfrm>
          <a:prstGeom prst="rect">
            <a:avLst/>
          </a:prstGeom>
          <a:solidFill>
            <a:srgbClr val="FFFFFF"/>
          </a:solidFill>
          <a:ln w="12700">
            <a:solidFill>
              <a:srgbClr val="E0D5C2"/>
            </a:solidFill>
            <a:prstDash val="solid"/>
          </a:ln>
        </p:spPr>
      </p:sp>
      <p:sp>
        <p:nvSpPr>
          <p:cNvPr id="18" name="Text 16"/>
          <p:cNvSpPr/>
          <p:nvPr/>
        </p:nvSpPr>
        <p:spPr>
          <a:xfrm>
            <a:off x="713232" y="3968496"/>
            <a:ext cx="7717536" cy="795528"/>
          </a:xfrm>
          <a:prstGeom prst="rect">
            <a:avLst/>
          </a:prstGeom>
          <a:noFill/>
          <a:ln/>
        </p:spPr>
        <p:txBody>
          <a:bodyPr wrap="square" lIns="0" tIns="0" rIns="0" bIns="0" rtlCol="0" anchor="ctr"/>
          <a:lstStyle/>
          <a:p>
            <a:pPr>
              <a:lnSpc>
                <a:spcPts val="1500"/>
              </a:lnSpc>
            </a:pPr>
            <a:r>
              <a:rPr lang="en-US" sz="1050" i="1" dirty="0">
                <a:latin typeface="Trebuchet MS" pitchFamily="34" charset="0"/>
                <a:ea typeface="Trebuchet MS" pitchFamily="34" charset="-122"/>
                <a:cs typeface="Trebuchet MS" pitchFamily="34" charset="-120"/>
              </a:rPr>
              <a:t>Delivered a complete and scalable solar-powered energy system, providing clean, independent power for EV applications while reducing reliance on conventional grid infrastructure.</a:t>
            </a:r>
            <a:endParaRPr lang="en-US" sz="1050" dirty="0"/>
          </a:p>
        </p:txBody>
      </p:sp>
      <p:pic>
        <p:nvPicPr>
          <p:cNvPr id="19" name="Picture 18"/>
          <p:cNvPicPr>
            <a:picLocks noChangeAspect="1"/>
          </p:cNvPicPr>
          <p:nvPr/>
        </p:nvPicPr>
        <p:blipFill>
          <a:blip r:embed="rId3"/>
          <a:stretch>
            <a:fillRect/>
          </a:stretch>
        </p:blipFill>
        <p:spPr>
          <a:xfrm rot="16200000">
            <a:off x="843432" y="1072032"/>
            <a:ext cx="1970736" cy="2560320"/>
          </a:xfrm>
          <a:prstGeom prst="rect">
            <a:avLst/>
          </a:prstGeom>
        </p:spPr>
      </p:pic>
      <p:pic>
        <p:nvPicPr>
          <p:cNvPr id="20" name="Picture 19"/>
          <p:cNvPicPr>
            <a:picLocks noChangeAspect="1"/>
          </p:cNvPicPr>
          <p:nvPr/>
        </p:nvPicPr>
        <p:blipFill>
          <a:blip r:embed="rId4"/>
          <a:stretch>
            <a:fillRect/>
          </a:stretch>
        </p:blipFill>
        <p:spPr>
          <a:xfrm>
            <a:off x="3316277" y="1390700"/>
            <a:ext cx="2535884" cy="1946860"/>
          </a:xfrm>
          <a:prstGeom prst="rect">
            <a:avLst/>
          </a:prstGeom>
        </p:spPr>
      </p:pic>
      <p:pic>
        <p:nvPicPr>
          <p:cNvPr id="21" name="Picture 20"/>
          <p:cNvPicPr>
            <a:picLocks noChangeAspect="1"/>
          </p:cNvPicPr>
          <p:nvPr/>
        </p:nvPicPr>
        <p:blipFill>
          <a:blip r:embed="rId5"/>
          <a:stretch>
            <a:fillRect/>
          </a:stretch>
        </p:blipFill>
        <p:spPr>
          <a:xfrm>
            <a:off x="6035039" y="1390701"/>
            <a:ext cx="2578608" cy="1946860"/>
          </a:xfrm>
          <a:prstGeom prst="rect">
            <a:avLst/>
          </a:prstGeom>
        </p:spPr>
      </p:pic>
    </p:spTree>
    <p:extLst>
      <p:ext uri="{BB962C8B-B14F-4D97-AF65-F5344CB8AC3E}">
        <p14:creationId xmlns:p14="http://schemas.microsoft.com/office/powerpoint/2010/main" val="3068920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a:t>
            </a:r>
            <a:r>
              <a:rPr lang="en-US" sz="1000" b="1" kern="0" spc="300" dirty="0" smtClean="0">
                <a:solidFill>
                  <a:srgbClr val="B4632B"/>
                </a:solidFill>
                <a:latin typeface="Trebuchet MS" pitchFamily="34" charset="0"/>
                <a:ea typeface="Trebuchet MS" pitchFamily="34" charset="-122"/>
                <a:cs typeface="Trebuchet MS" pitchFamily="34" charset="-120"/>
              </a:rPr>
              <a:t>10</a:t>
            </a:r>
            <a:endParaRPr lang="en-US" sz="1000" dirty="0"/>
          </a:p>
        </p:txBody>
      </p:sp>
      <p:sp>
        <p:nvSpPr>
          <p:cNvPr id="4" name="Text 2"/>
          <p:cNvSpPr/>
          <p:nvPr/>
        </p:nvSpPr>
        <p:spPr>
          <a:xfrm>
            <a:off x="548640" y="731520"/>
            <a:ext cx="8260080" cy="457200"/>
          </a:xfrm>
          <a:prstGeom prst="rect">
            <a:avLst/>
          </a:prstGeom>
          <a:noFill/>
          <a:ln/>
        </p:spPr>
        <p:txBody>
          <a:bodyPr wrap="square" lIns="0" tIns="0" rIns="0" bIns="0" rtlCol="0" anchor="ctr"/>
          <a:lstStyle/>
          <a:p>
            <a:r>
              <a:rPr lang="en-US" sz="2100" b="1" dirty="0" smtClean="0">
                <a:solidFill>
                  <a:srgbClr val="2B2926"/>
                </a:solidFill>
                <a:latin typeface="Georgia" pitchFamily="34" charset="0"/>
                <a:ea typeface="Georgia" pitchFamily="34" charset="-122"/>
                <a:cs typeface="Georgia" pitchFamily="34" charset="-120"/>
              </a:rPr>
              <a:t>Off-Grid Solution - Weather </a:t>
            </a:r>
            <a:r>
              <a:rPr lang="en-US" sz="2100" b="1" dirty="0">
                <a:solidFill>
                  <a:srgbClr val="2B2926"/>
                </a:solidFill>
                <a:latin typeface="Georgia" pitchFamily="34" charset="0"/>
                <a:ea typeface="Georgia" pitchFamily="34" charset="-122"/>
                <a:cs typeface="Georgia" pitchFamily="34" charset="-120"/>
              </a:rPr>
              <a:t>Monitoring Systems</a:t>
            </a: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Completed project</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4343400" cy="320040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2574036" y="2715768"/>
            <a:ext cx="292608" cy="32004"/>
          </a:xfrm>
          <a:prstGeom prst="rect">
            <a:avLst/>
          </a:prstGeom>
          <a:solidFill>
            <a:srgbClr val="B4632B"/>
          </a:solidFill>
          <a:ln/>
        </p:spPr>
      </p:sp>
      <p:sp>
        <p:nvSpPr>
          <p:cNvPr id="9" name="Text 7"/>
          <p:cNvSpPr/>
          <p:nvPr/>
        </p:nvSpPr>
        <p:spPr>
          <a:xfrm>
            <a:off x="685800" y="2825496"/>
            <a:ext cx="406908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project image here</a:t>
            </a:r>
            <a:endParaRPr lang="en-US" sz="1050" dirty="0"/>
          </a:p>
        </p:txBody>
      </p:sp>
      <p:sp>
        <p:nvSpPr>
          <p:cNvPr id="10" name="Text 8"/>
          <p:cNvSpPr/>
          <p:nvPr/>
        </p:nvSpPr>
        <p:spPr>
          <a:xfrm>
            <a:off x="5166360" y="137160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PROJECT DESCRIPTION</a:t>
            </a:r>
            <a:endParaRPr lang="en-US" sz="950" dirty="0"/>
          </a:p>
        </p:txBody>
      </p:sp>
      <p:sp>
        <p:nvSpPr>
          <p:cNvPr id="11" name="Description box">
            <a:extLst>
              <a:ext uri="{C183D7F6-B498-43B3-948B-1728B52AA6E4}">
                <adec:decorative xmlns="" xmlns:adec="http://schemas.microsoft.com/office/drawing/2017/decorative" val="1"/>
              </a:ext>
            </a:extLst>
          </p:cNvPr>
          <p:cNvSpPr/>
          <p:nvPr/>
        </p:nvSpPr>
        <p:spPr>
          <a:xfrm>
            <a:off x="5166360" y="1645920"/>
            <a:ext cx="3429000" cy="1417320"/>
          </a:xfrm>
          <a:prstGeom prst="rect">
            <a:avLst/>
          </a:prstGeom>
          <a:solidFill>
            <a:srgbClr val="FFFFFF"/>
          </a:solidFill>
          <a:ln w="12700">
            <a:solidFill>
              <a:srgbClr val="E0D5C2"/>
            </a:solidFill>
            <a:prstDash val="solid"/>
          </a:ln>
        </p:spPr>
      </p:sp>
      <p:sp>
        <p:nvSpPr>
          <p:cNvPr id="12" name="Text 10"/>
          <p:cNvSpPr/>
          <p:nvPr/>
        </p:nvSpPr>
        <p:spPr>
          <a:xfrm>
            <a:off x="5330952" y="1773936"/>
            <a:ext cx="3099816" cy="1161288"/>
          </a:xfrm>
          <a:prstGeom prst="rect">
            <a:avLst/>
          </a:prstGeom>
          <a:noFill/>
          <a:ln/>
        </p:spPr>
        <p:txBody>
          <a:bodyPr wrap="square" lIns="0" tIns="0" rIns="0" bIns="0" rtlCol="0" anchor="ctr"/>
          <a:lstStyle/>
          <a:p>
            <a:pPr>
              <a:lnSpc>
                <a:spcPts val="1500"/>
              </a:lnSpc>
            </a:pPr>
            <a:r>
              <a:rPr lang="en-US" sz="1050" i="1" dirty="0">
                <a:latin typeface="Trebuchet MS" pitchFamily="34" charset="0"/>
                <a:ea typeface="Trebuchet MS" pitchFamily="34" charset="-122"/>
                <a:cs typeface="Trebuchet MS" pitchFamily="34" charset="-120"/>
              </a:rPr>
              <a:t>Implemented a stand-alone solar energy solution for weather monitoring systems, providing dependable power to remote sensing, data acquisition, communication, and monitoring equipment.</a:t>
            </a:r>
            <a:endParaRPr lang="en-US" sz="1050" dirty="0"/>
          </a:p>
        </p:txBody>
      </p:sp>
      <p:sp>
        <p:nvSpPr>
          <p:cNvPr id="13" name="Text 11"/>
          <p:cNvSpPr/>
          <p:nvPr/>
        </p:nvSpPr>
        <p:spPr>
          <a:xfrm>
            <a:off x="5166360" y="315468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KEY FACTS</a:t>
            </a:r>
            <a:endParaRPr lang="en-US" sz="950" dirty="0"/>
          </a:p>
        </p:txBody>
      </p:sp>
      <p:sp>
        <p:nvSpPr>
          <p:cNvPr id="14" name="Text 12"/>
          <p:cNvSpPr/>
          <p:nvPr/>
        </p:nvSpPr>
        <p:spPr>
          <a:xfrm>
            <a:off x="5166360" y="3456432"/>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Capacity</a:t>
            </a:r>
            <a:endParaRPr lang="en-US" sz="1000" dirty="0"/>
          </a:p>
        </p:txBody>
      </p:sp>
      <p:sp>
        <p:nvSpPr>
          <p:cNvPr id="16" name="Text 14"/>
          <p:cNvSpPr/>
          <p:nvPr/>
        </p:nvSpPr>
        <p:spPr>
          <a:xfrm>
            <a:off x="5166360" y="3739896"/>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Location</a:t>
            </a:r>
            <a:endParaRPr lang="en-US" sz="1000" dirty="0"/>
          </a:p>
        </p:txBody>
      </p:sp>
      <p:sp>
        <p:nvSpPr>
          <p:cNvPr id="18" name="Text 16"/>
          <p:cNvSpPr/>
          <p:nvPr/>
        </p:nvSpPr>
        <p:spPr>
          <a:xfrm>
            <a:off x="5166360" y="4023360"/>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Scope</a:t>
            </a:r>
            <a:endParaRPr lang="en-US" sz="1000" dirty="0"/>
          </a:p>
        </p:txBody>
      </p:sp>
      <p:sp>
        <p:nvSpPr>
          <p:cNvPr id="20" name="Text 18"/>
          <p:cNvSpPr/>
          <p:nvPr/>
        </p:nvSpPr>
        <p:spPr>
          <a:xfrm>
            <a:off x="5166360" y="4306824"/>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Status</a:t>
            </a:r>
            <a:endParaRPr lang="en-US" sz="1000" dirty="0"/>
          </a:p>
        </p:txBody>
      </p:sp>
      <p:pic>
        <p:nvPicPr>
          <p:cNvPr id="22" name="Picture 21"/>
          <p:cNvPicPr>
            <a:picLocks noChangeAspect="1"/>
          </p:cNvPicPr>
          <p:nvPr/>
        </p:nvPicPr>
        <p:blipFill>
          <a:blip r:embed="rId3"/>
          <a:stretch>
            <a:fillRect/>
          </a:stretch>
        </p:blipFill>
        <p:spPr>
          <a:xfrm>
            <a:off x="548641" y="1377188"/>
            <a:ext cx="4343400" cy="3194812"/>
          </a:xfrm>
          <a:prstGeom prst="rect">
            <a:avLst/>
          </a:prstGeom>
        </p:spPr>
      </p:pic>
      <p:sp>
        <p:nvSpPr>
          <p:cNvPr id="23" name="Rectangle 22"/>
          <p:cNvSpPr/>
          <p:nvPr/>
        </p:nvSpPr>
        <p:spPr>
          <a:xfrm>
            <a:off x="6124877" y="3952050"/>
            <a:ext cx="90281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Turnkey EPC</a:t>
            </a:r>
            <a:endParaRPr lang="en-US" sz="1000" dirty="0">
              <a:solidFill>
                <a:prstClr val="black"/>
              </a:solidFill>
            </a:endParaRPr>
          </a:p>
        </p:txBody>
      </p:sp>
      <p:sp>
        <p:nvSpPr>
          <p:cNvPr id="24" name="Rectangle 23"/>
          <p:cNvSpPr/>
          <p:nvPr/>
        </p:nvSpPr>
        <p:spPr>
          <a:xfrm>
            <a:off x="6124877" y="4266718"/>
            <a:ext cx="81144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Completed</a:t>
            </a:r>
            <a:endParaRPr lang="en-US" sz="1000" dirty="0">
              <a:solidFill>
                <a:prstClr val="black"/>
              </a:solidFill>
            </a:endParaRPr>
          </a:p>
        </p:txBody>
      </p:sp>
      <p:sp>
        <p:nvSpPr>
          <p:cNvPr id="25" name="Rectangle 24"/>
          <p:cNvSpPr/>
          <p:nvPr/>
        </p:nvSpPr>
        <p:spPr>
          <a:xfrm>
            <a:off x="6126480" y="3437358"/>
            <a:ext cx="607859" cy="246221"/>
          </a:xfrm>
          <a:prstGeom prst="rect">
            <a:avLst/>
          </a:prstGeom>
        </p:spPr>
        <p:txBody>
          <a:bodyPr wrap="none">
            <a:spAutoFit/>
          </a:bodyPr>
          <a:lstStyle/>
          <a:p>
            <a:pPr lvl="0"/>
            <a:r>
              <a:rPr lang="en-US" sz="1000" dirty="0" smtClean="0">
                <a:solidFill>
                  <a:srgbClr val="45413B"/>
                </a:solidFill>
                <a:latin typeface="Trebuchet MS" pitchFamily="34" charset="0"/>
              </a:rPr>
              <a:t>500 KW</a:t>
            </a:r>
            <a:endParaRPr lang="en-US" sz="1000" dirty="0">
              <a:solidFill>
                <a:prstClr val="black"/>
              </a:solidFill>
            </a:endParaRPr>
          </a:p>
        </p:txBody>
      </p:sp>
      <p:sp>
        <p:nvSpPr>
          <p:cNvPr id="26" name="Rectangle 25"/>
          <p:cNvSpPr/>
          <p:nvPr/>
        </p:nvSpPr>
        <p:spPr>
          <a:xfrm>
            <a:off x="6126480" y="3689167"/>
            <a:ext cx="899605" cy="246221"/>
          </a:xfrm>
          <a:prstGeom prst="rect">
            <a:avLst/>
          </a:prstGeom>
        </p:spPr>
        <p:txBody>
          <a:bodyPr wrap="none">
            <a:spAutoFit/>
          </a:bodyPr>
          <a:lstStyle/>
          <a:p>
            <a:pPr lvl="0"/>
            <a:r>
              <a:rPr lang="en-US" sz="1000" dirty="0" smtClean="0">
                <a:solidFill>
                  <a:srgbClr val="45413B"/>
                </a:solidFill>
                <a:latin typeface="Trebuchet MS" pitchFamily="34" charset="0"/>
              </a:rPr>
              <a:t>Saudi Arabia</a:t>
            </a:r>
            <a:endParaRPr lang="en-US" sz="1000" dirty="0">
              <a:solidFill>
                <a:prstClr val="black"/>
              </a:solidFill>
            </a:endParaRPr>
          </a:p>
        </p:txBody>
      </p:sp>
    </p:spTree>
    <p:extLst>
      <p:ext uri="{BB962C8B-B14F-4D97-AF65-F5344CB8AC3E}">
        <p14:creationId xmlns:p14="http://schemas.microsoft.com/office/powerpoint/2010/main" val="4040289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a:t>
            </a:r>
            <a:r>
              <a:rPr lang="en-US" sz="1000" b="1" kern="0" spc="300" dirty="0" smtClean="0">
                <a:solidFill>
                  <a:srgbClr val="B4632B"/>
                </a:solidFill>
                <a:latin typeface="Trebuchet MS" pitchFamily="34" charset="0"/>
                <a:ea typeface="Trebuchet MS" pitchFamily="34" charset="-122"/>
                <a:cs typeface="Trebuchet MS" pitchFamily="34" charset="-120"/>
              </a:rPr>
              <a:t>10  </a:t>
            </a:r>
            <a:r>
              <a:rPr lang="en-US" sz="1000" b="1" kern="0" spc="300" dirty="0">
                <a:solidFill>
                  <a:srgbClr val="B4632B"/>
                </a:solidFill>
                <a:latin typeface="Trebuchet MS" pitchFamily="34" charset="0"/>
                <a:ea typeface="Trebuchet MS" pitchFamily="34" charset="-122"/>
                <a:cs typeface="Trebuchet MS" pitchFamily="34" charset="-120"/>
              </a:rPr>
              <a:t>·  SITE GALLERY</a:t>
            </a:r>
            <a:endParaRPr lang="en-US" sz="1000" dirty="0"/>
          </a:p>
        </p:txBody>
      </p:sp>
      <p:sp>
        <p:nvSpPr>
          <p:cNvPr id="4" name="Text 2"/>
          <p:cNvSpPr/>
          <p:nvPr/>
        </p:nvSpPr>
        <p:spPr>
          <a:xfrm>
            <a:off x="347499" y="880668"/>
            <a:ext cx="8473440" cy="457200"/>
          </a:xfrm>
          <a:prstGeom prst="rect">
            <a:avLst/>
          </a:prstGeom>
          <a:noFill/>
          <a:ln/>
        </p:spPr>
        <p:txBody>
          <a:bodyPr wrap="square" lIns="0" tIns="0" rIns="0" bIns="0" rtlCol="0" anchor="ctr"/>
          <a:lstStyle/>
          <a:p>
            <a:r>
              <a:rPr lang="en-US" sz="2100" b="1" dirty="0">
                <a:solidFill>
                  <a:srgbClr val="2B2926"/>
                </a:solidFill>
                <a:latin typeface="Georgia" pitchFamily="34" charset="0"/>
                <a:ea typeface="Georgia" pitchFamily="34" charset="-122"/>
                <a:cs typeface="Georgia" pitchFamily="34" charset="-120"/>
              </a:rPr>
              <a:t>Off-Grid Solution - Weather Monitoring Systems</a:t>
            </a:r>
            <a:endParaRPr lang="en-US" sz="2100" dirty="0"/>
          </a:p>
          <a:p>
            <a:pPr marL="0" indent="0">
              <a:buNone/>
            </a:pP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Images &amp; delivery notes</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2560320" cy="196596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1682496" y="2098548"/>
            <a:ext cx="292608" cy="32004"/>
          </a:xfrm>
          <a:prstGeom prst="rect">
            <a:avLst/>
          </a:prstGeom>
          <a:solidFill>
            <a:srgbClr val="B4632B"/>
          </a:solidFill>
          <a:ln/>
        </p:spPr>
      </p:sp>
      <p:sp>
        <p:nvSpPr>
          <p:cNvPr id="9" name="Text 7"/>
          <p:cNvSpPr/>
          <p:nvPr/>
        </p:nvSpPr>
        <p:spPr>
          <a:xfrm>
            <a:off x="6858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0" name="Image placeholder frame">
            <a:extLst>
              <a:ext uri="{C183D7F6-B498-43B3-948B-1728B52AA6E4}">
                <adec:decorative xmlns="" xmlns:adec="http://schemas.microsoft.com/office/drawing/2017/decorative" val="1"/>
              </a:ext>
            </a:extLst>
          </p:cNvPr>
          <p:cNvSpPr/>
          <p:nvPr/>
        </p:nvSpPr>
        <p:spPr>
          <a:xfrm>
            <a:off x="3291840" y="1371600"/>
            <a:ext cx="2560320" cy="1965960"/>
          </a:xfrm>
          <a:prstGeom prst="rect">
            <a:avLst/>
          </a:prstGeom>
          <a:solidFill>
            <a:srgbClr val="E4DACA"/>
          </a:solidFill>
          <a:ln w="12700">
            <a:solidFill>
              <a:srgbClr val="CBBDA6"/>
            </a:solidFill>
            <a:prstDash val="dash"/>
          </a:ln>
        </p:spPr>
      </p:sp>
      <p:sp>
        <p:nvSpPr>
          <p:cNvPr id="11" name="Placeholder mark">
            <a:extLst>
              <a:ext uri="{C183D7F6-B498-43B3-948B-1728B52AA6E4}">
                <adec:decorative xmlns="" xmlns:adec="http://schemas.microsoft.com/office/drawing/2017/decorative" val="1"/>
              </a:ext>
            </a:extLst>
          </p:cNvPr>
          <p:cNvSpPr/>
          <p:nvPr/>
        </p:nvSpPr>
        <p:spPr>
          <a:xfrm>
            <a:off x="4425696" y="2098548"/>
            <a:ext cx="292608" cy="32004"/>
          </a:xfrm>
          <a:prstGeom prst="rect">
            <a:avLst/>
          </a:prstGeom>
          <a:solidFill>
            <a:srgbClr val="B4632B"/>
          </a:solidFill>
          <a:ln/>
        </p:spPr>
      </p:sp>
      <p:sp>
        <p:nvSpPr>
          <p:cNvPr id="12" name="Text 10"/>
          <p:cNvSpPr/>
          <p:nvPr/>
        </p:nvSpPr>
        <p:spPr>
          <a:xfrm>
            <a:off x="34290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3" name="Image placeholder frame">
            <a:extLst>
              <a:ext uri="{C183D7F6-B498-43B3-948B-1728B52AA6E4}">
                <adec:decorative xmlns="" xmlns:adec="http://schemas.microsoft.com/office/drawing/2017/decorative" val="1"/>
              </a:ext>
            </a:extLst>
          </p:cNvPr>
          <p:cNvSpPr/>
          <p:nvPr/>
        </p:nvSpPr>
        <p:spPr>
          <a:xfrm>
            <a:off x="6035040" y="1371600"/>
            <a:ext cx="2560320" cy="1965960"/>
          </a:xfrm>
          <a:prstGeom prst="rect">
            <a:avLst/>
          </a:prstGeom>
          <a:solidFill>
            <a:srgbClr val="E4DACA"/>
          </a:solidFill>
          <a:ln w="12700">
            <a:solidFill>
              <a:srgbClr val="CBBDA6"/>
            </a:solidFill>
            <a:prstDash val="dash"/>
          </a:ln>
        </p:spPr>
      </p:sp>
      <p:sp>
        <p:nvSpPr>
          <p:cNvPr id="14" name="Placeholder mark">
            <a:extLst>
              <a:ext uri="{C183D7F6-B498-43B3-948B-1728B52AA6E4}">
                <adec:decorative xmlns="" xmlns:adec="http://schemas.microsoft.com/office/drawing/2017/decorative" val="1"/>
              </a:ext>
            </a:extLst>
          </p:cNvPr>
          <p:cNvSpPr/>
          <p:nvPr/>
        </p:nvSpPr>
        <p:spPr>
          <a:xfrm>
            <a:off x="7168896" y="2098548"/>
            <a:ext cx="292608" cy="32004"/>
          </a:xfrm>
          <a:prstGeom prst="rect">
            <a:avLst/>
          </a:prstGeom>
          <a:solidFill>
            <a:srgbClr val="B4632B"/>
          </a:solidFill>
          <a:ln/>
        </p:spPr>
      </p:sp>
      <p:sp>
        <p:nvSpPr>
          <p:cNvPr id="15" name="Text 13"/>
          <p:cNvSpPr/>
          <p:nvPr/>
        </p:nvSpPr>
        <p:spPr>
          <a:xfrm>
            <a:off x="61722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6" name="Text 14"/>
          <p:cNvSpPr/>
          <p:nvPr/>
        </p:nvSpPr>
        <p:spPr>
          <a:xfrm>
            <a:off x="548640" y="3566160"/>
            <a:ext cx="804672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DELIVERY NOTES</a:t>
            </a:r>
            <a:endParaRPr lang="en-US" sz="950" dirty="0"/>
          </a:p>
        </p:txBody>
      </p:sp>
      <p:sp>
        <p:nvSpPr>
          <p:cNvPr id="17" name="Description box">
            <a:extLst>
              <a:ext uri="{C183D7F6-B498-43B3-948B-1728B52AA6E4}">
                <adec:decorative xmlns="" xmlns:adec="http://schemas.microsoft.com/office/drawing/2017/decorative" val="1"/>
              </a:ext>
            </a:extLst>
          </p:cNvPr>
          <p:cNvSpPr/>
          <p:nvPr/>
        </p:nvSpPr>
        <p:spPr>
          <a:xfrm>
            <a:off x="548640" y="3840480"/>
            <a:ext cx="8046720" cy="1051560"/>
          </a:xfrm>
          <a:prstGeom prst="rect">
            <a:avLst/>
          </a:prstGeom>
          <a:solidFill>
            <a:srgbClr val="FFFFFF"/>
          </a:solidFill>
          <a:ln w="12700">
            <a:solidFill>
              <a:srgbClr val="E0D5C2"/>
            </a:solidFill>
            <a:prstDash val="solid"/>
          </a:ln>
        </p:spPr>
      </p:sp>
      <p:sp>
        <p:nvSpPr>
          <p:cNvPr id="18" name="Text 16"/>
          <p:cNvSpPr/>
          <p:nvPr/>
        </p:nvSpPr>
        <p:spPr>
          <a:xfrm>
            <a:off x="713232" y="3968496"/>
            <a:ext cx="7717536" cy="795528"/>
          </a:xfrm>
          <a:prstGeom prst="rect">
            <a:avLst/>
          </a:prstGeom>
          <a:noFill/>
          <a:ln/>
        </p:spPr>
        <p:txBody>
          <a:bodyPr wrap="square" lIns="0" tIns="0" rIns="0" bIns="0" rtlCol="0" anchor="ctr"/>
          <a:lstStyle/>
          <a:p>
            <a:pPr>
              <a:lnSpc>
                <a:spcPts val="1500"/>
              </a:lnSpc>
            </a:pPr>
            <a:r>
              <a:rPr lang="en-US" sz="1050" i="1" dirty="0">
                <a:latin typeface="Trebuchet MS" pitchFamily="34" charset="0"/>
                <a:ea typeface="Trebuchet MS" pitchFamily="34" charset="-122"/>
                <a:cs typeface="Trebuchet MS" pitchFamily="34" charset="-120"/>
              </a:rPr>
              <a:t>Successfully delivered a reliable off-grid power system incorporating solar PV, battery storage, charge control, and power distribution, enabling continuous operation in remote locations.</a:t>
            </a:r>
            <a:endParaRPr lang="en-US" sz="1050" dirty="0"/>
          </a:p>
        </p:txBody>
      </p:sp>
      <p:pic>
        <p:nvPicPr>
          <p:cNvPr id="19" name="Picture 18"/>
          <p:cNvPicPr>
            <a:picLocks noChangeAspect="1"/>
          </p:cNvPicPr>
          <p:nvPr/>
        </p:nvPicPr>
        <p:blipFill>
          <a:blip r:embed="rId3"/>
          <a:stretch>
            <a:fillRect/>
          </a:stretch>
        </p:blipFill>
        <p:spPr>
          <a:xfrm rot="16200000">
            <a:off x="843432" y="1072032"/>
            <a:ext cx="1970736" cy="2560320"/>
          </a:xfrm>
          <a:prstGeom prst="rect">
            <a:avLst/>
          </a:prstGeom>
        </p:spPr>
      </p:pic>
      <p:pic>
        <p:nvPicPr>
          <p:cNvPr id="20" name="Picture 19"/>
          <p:cNvPicPr>
            <a:picLocks noChangeAspect="1"/>
          </p:cNvPicPr>
          <p:nvPr/>
        </p:nvPicPr>
        <p:blipFill>
          <a:blip r:embed="rId4"/>
          <a:stretch>
            <a:fillRect/>
          </a:stretch>
        </p:blipFill>
        <p:spPr>
          <a:xfrm>
            <a:off x="3316277" y="1390700"/>
            <a:ext cx="2535884" cy="1946860"/>
          </a:xfrm>
          <a:prstGeom prst="rect">
            <a:avLst/>
          </a:prstGeom>
        </p:spPr>
      </p:pic>
      <p:pic>
        <p:nvPicPr>
          <p:cNvPr id="21" name="Picture 20"/>
          <p:cNvPicPr>
            <a:picLocks noChangeAspect="1"/>
          </p:cNvPicPr>
          <p:nvPr/>
        </p:nvPicPr>
        <p:blipFill>
          <a:blip r:embed="rId5"/>
          <a:stretch>
            <a:fillRect/>
          </a:stretch>
        </p:blipFill>
        <p:spPr>
          <a:xfrm>
            <a:off x="6035039" y="1390701"/>
            <a:ext cx="2578608" cy="1946860"/>
          </a:xfrm>
          <a:prstGeom prst="rect">
            <a:avLst/>
          </a:prstGeom>
        </p:spPr>
      </p:pic>
    </p:spTree>
    <p:extLst>
      <p:ext uri="{BB962C8B-B14F-4D97-AF65-F5344CB8AC3E}">
        <p14:creationId xmlns:p14="http://schemas.microsoft.com/office/powerpoint/2010/main" val="484544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a:t>
            </a:r>
            <a:r>
              <a:rPr lang="en-US" sz="1000" b="1" kern="0" spc="300" dirty="0" smtClean="0">
                <a:solidFill>
                  <a:srgbClr val="B4632B"/>
                </a:solidFill>
                <a:latin typeface="Trebuchet MS" pitchFamily="34" charset="0"/>
                <a:ea typeface="Trebuchet MS" pitchFamily="34" charset="-122"/>
                <a:cs typeface="Trebuchet MS" pitchFamily="34" charset="-120"/>
              </a:rPr>
              <a:t>11</a:t>
            </a:r>
            <a:endParaRPr lang="en-US" sz="1000" dirty="0"/>
          </a:p>
        </p:txBody>
      </p:sp>
      <p:sp>
        <p:nvSpPr>
          <p:cNvPr id="4" name="Text 2"/>
          <p:cNvSpPr/>
          <p:nvPr/>
        </p:nvSpPr>
        <p:spPr>
          <a:xfrm>
            <a:off x="548640" y="731520"/>
            <a:ext cx="5577840" cy="457200"/>
          </a:xfrm>
          <a:prstGeom prst="rect">
            <a:avLst/>
          </a:prstGeom>
          <a:noFill/>
          <a:ln/>
        </p:spPr>
        <p:txBody>
          <a:bodyPr wrap="square" lIns="0" tIns="0" rIns="0" bIns="0" rtlCol="0" anchor="ctr"/>
          <a:lstStyle/>
          <a:p>
            <a:r>
              <a:rPr lang="en-US" sz="2100" b="1" dirty="0" smtClean="0">
                <a:solidFill>
                  <a:srgbClr val="2B2926"/>
                </a:solidFill>
                <a:latin typeface="Georgia" pitchFamily="34" charset="0"/>
                <a:ea typeface="Georgia" pitchFamily="34" charset="-122"/>
                <a:cs typeface="Georgia" pitchFamily="34" charset="-120"/>
              </a:rPr>
              <a:t> </a:t>
            </a:r>
            <a:r>
              <a:rPr lang="en-US" sz="2100" b="1" dirty="0">
                <a:solidFill>
                  <a:srgbClr val="2B2926"/>
                </a:solidFill>
                <a:latin typeface="Georgia" pitchFamily="34" charset="0"/>
                <a:ea typeface="Georgia" pitchFamily="34" charset="-122"/>
                <a:cs typeface="Georgia" pitchFamily="34" charset="-120"/>
              </a:rPr>
              <a:t>KAFD – Solar Water Heater Project</a:t>
            </a: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Completed project</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4343400" cy="320040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2574036" y="2715768"/>
            <a:ext cx="292608" cy="32004"/>
          </a:xfrm>
          <a:prstGeom prst="rect">
            <a:avLst/>
          </a:prstGeom>
          <a:solidFill>
            <a:srgbClr val="B4632B"/>
          </a:solidFill>
          <a:ln/>
        </p:spPr>
      </p:sp>
      <p:sp>
        <p:nvSpPr>
          <p:cNvPr id="9" name="Text 7"/>
          <p:cNvSpPr/>
          <p:nvPr/>
        </p:nvSpPr>
        <p:spPr>
          <a:xfrm>
            <a:off x="685800" y="2825496"/>
            <a:ext cx="406908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project image here</a:t>
            </a:r>
            <a:endParaRPr lang="en-US" sz="1050" dirty="0"/>
          </a:p>
        </p:txBody>
      </p:sp>
      <p:sp>
        <p:nvSpPr>
          <p:cNvPr id="10" name="Text 8"/>
          <p:cNvSpPr/>
          <p:nvPr/>
        </p:nvSpPr>
        <p:spPr>
          <a:xfrm>
            <a:off x="5166360" y="137160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PROJECT DESCRIPTION</a:t>
            </a:r>
            <a:endParaRPr lang="en-US" sz="950" dirty="0"/>
          </a:p>
        </p:txBody>
      </p:sp>
      <p:sp>
        <p:nvSpPr>
          <p:cNvPr id="11" name="Description box">
            <a:extLst>
              <a:ext uri="{C183D7F6-B498-43B3-948B-1728B52AA6E4}">
                <adec:decorative xmlns="" xmlns:adec="http://schemas.microsoft.com/office/drawing/2017/decorative" val="1"/>
              </a:ext>
            </a:extLst>
          </p:cNvPr>
          <p:cNvSpPr/>
          <p:nvPr/>
        </p:nvSpPr>
        <p:spPr>
          <a:xfrm>
            <a:off x="5166360" y="1645920"/>
            <a:ext cx="3429000" cy="1417320"/>
          </a:xfrm>
          <a:prstGeom prst="rect">
            <a:avLst/>
          </a:prstGeom>
          <a:solidFill>
            <a:srgbClr val="FFFFFF"/>
          </a:solidFill>
          <a:ln w="12700">
            <a:solidFill>
              <a:srgbClr val="E0D5C2"/>
            </a:solidFill>
            <a:prstDash val="solid"/>
          </a:ln>
        </p:spPr>
      </p:sp>
      <p:sp>
        <p:nvSpPr>
          <p:cNvPr id="12" name="Text 10"/>
          <p:cNvSpPr/>
          <p:nvPr/>
        </p:nvSpPr>
        <p:spPr>
          <a:xfrm>
            <a:off x="5330952" y="1773936"/>
            <a:ext cx="3099816" cy="1161288"/>
          </a:xfrm>
          <a:prstGeom prst="rect">
            <a:avLst/>
          </a:prstGeom>
          <a:noFill/>
          <a:ln/>
        </p:spPr>
        <p:txBody>
          <a:bodyPr wrap="square" lIns="0" tIns="0" rIns="0" bIns="0" rtlCol="0" anchor="ctr"/>
          <a:lstStyle/>
          <a:p>
            <a:pPr>
              <a:lnSpc>
                <a:spcPts val="1500"/>
              </a:lnSpc>
            </a:pPr>
            <a:r>
              <a:rPr lang="en-US" sz="1050" i="1" dirty="0">
                <a:latin typeface="Trebuchet MS" pitchFamily="34" charset="0"/>
                <a:ea typeface="Trebuchet MS" pitchFamily="34" charset="-122"/>
                <a:cs typeface="Trebuchet MS" pitchFamily="34" charset="-120"/>
              </a:rPr>
              <a:t>Solar thermal project at King Abdullah Financial District (KAFD) utilizing solar energy for efficient water heating. The solution was designed to improve energy efficiency and reduce conventional energy consumption through renewable thermal technology</a:t>
            </a:r>
            <a:endParaRPr lang="en-US" sz="1050" dirty="0"/>
          </a:p>
        </p:txBody>
      </p:sp>
      <p:sp>
        <p:nvSpPr>
          <p:cNvPr id="13" name="Text 11"/>
          <p:cNvSpPr/>
          <p:nvPr/>
        </p:nvSpPr>
        <p:spPr>
          <a:xfrm>
            <a:off x="5166360" y="315468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KEY FACTS</a:t>
            </a:r>
            <a:endParaRPr lang="en-US" sz="950" dirty="0"/>
          </a:p>
        </p:txBody>
      </p:sp>
      <p:sp>
        <p:nvSpPr>
          <p:cNvPr id="14" name="Text 12"/>
          <p:cNvSpPr/>
          <p:nvPr/>
        </p:nvSpPr>
        <p:spPr>
          <a:xfrm>
            <a:off x="5166360" y="3456432"/>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Capacity</a:t>
            </a:r>
            <a:endParaRPr lang="en-US" sz="1000" dirty="0"/>
          </a:p>
        </p:txBody>
      </p:sp>
      <p:sp>
        <p:nvSpPr>
          <p:cNvPr id="16" name="Text 14"/>
          <p:cNvSpPr/>
          <p:nvPr/>
        </p:nvSpPr>
        <p:spPr>
          <a:xfrm>
            <a:off x="5166360" y="3739896"/>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Location</a:t>
            </a:r>
            <a:endParaRPr lang="en-US" sz="1000" dirty="0"/>
          </a:p>
        </p:txBody>
      </p:sp>
      <p:sp>
        <p:nvSpPr>
          <p:cNvPr id="18" name="Text 16"/>
          <p:cNvSpPr/>
          <p:nvPr/>
        </p:nvSpPr>
        <p:spPr>
          <a:xfrm>
            <a:off x="5166360" y="4023360"/>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Scope</a:t>
            </a:r>
            <a:endParaRPr lang="en-US" sz="1000" dirty="0"/>
          </a:p>
        </p:txBody>
      </p:sp>
      <p:sp>
        <p:nvSpPr>
          <p:cNvPr id="20" name="Text 18"/>
          <p:cNvSpPr/>
          <p:nvPr/>
        </p:nvSpPr>
        <p:spPr>
          <a:xfrm>
            <a:off x="5166360" y="4306824"/>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Status</a:t>
            </a:r>
            <a:endParaRPr lang="en-US" sz="1000" dirty="0"/>
          </a:p>
        </p:txBody>
      </p:sp>
      <p:pic>
        <p:nvPicPr>
          <p:cNvPr id="22" name="Picture 21"/>
          <p:cNvPicPr>
            <a:picLocks noChangeAspect="1"/>
          </p:cNvPicPr>
          <p:nvPr/>
        </p:nvPicPr>
        <p:blipFill>
          <a:blip r:embed="rId3"/>
          <a:stretch>
            <a:fillRect/>
          </a:stretch>
        </p:blipFill>
        <p:spPr>
          <a:xfrm>
            <a:off x="548641" y="1377188"/>
            <a:ext cx="4343400" cy="3194812"/>
          </a:xfrm>
          <a:prstGeom prst="rect">
            <a:avLst/>
          </a:prstGeom>
        </p:spPr>
      </p:pic>
      <p:sp>
        <p:nvSpPr>
          <p:cNvPr id="23" name="Rectangle 22"/>
          <p:cNvSpPr/>
          <p:nvPr/>
        </p:nvSpPr>
        <p:spPr>
          <a:xfrm>
            <a:off x="6124877" y="3952050"/>
            <a:ext cx="90281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Turnkey EPC</a:t>
            </a:r>
            <a:endParaRPr lang="en-US" sz="1000" dirty="0">
              <a:solidFill>
                <a:prstClr val="black"/>
              </a:solidFill>
            </a:endParaRPr>
          </a:p>
        </p:txBody>
      </p:sp>
      <p:sp>
        <p:nvSpPr>
          <p:cNvPr id="24" name="Rectangle 23"/>
          <p:cNvSpPr/>
          <p:nvPr/>
        </p:nvSpPr>
        <p:spPr>
          <a:xfrm>
            <a:off x="6124877" y="4266718"/>
            <a:ext cx="81144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Completed</a:t>
            </a:r>
            <a:endParaRPr lang="en-US" sz="1000" dirty="0">
              <a:solidFill>
                <a:prstClr val="black"/>
              </a:solidFill>
            </a:endParaRPr>
          </a:p>
        </p:txBody>
      </p:sp>
      <p:sp>
        <p:nvSpPr>
          <p:cNvPr id="25" name="Rectangle 24"/>
          <p:cNvSpPr/>
          <p:nvPr/>
        </p:nvSpPr>
        <p:spPr>
          <a:xfrm>
            <a:off x="6126480" y="3437358"/>
            <a:ext cx="607859" cy="246221"/>
          </a:xfrm>
          <a:prstGeom prst="rect">
            <a:avLst/>
          </a:prstGeom>
        </p:spPr>
        <p:txBody>
          <a:bodyPr wrap="none">
            <a:spAutoFit/>
          </a:bodyPr>
          <a:lstStyle/>
          <a:p>
            <a:pPr lvl="0"/>
            <a:r>
              <a:rPr lang="en-US" sz="1000" dirty="0" smtClean="0">
                <a:solidFill>
                  <a:srgbClr val="45413B"/>
                </a:solidFill>
                <a:latin typeface="Trebuchet MS" pitchFamily="34" charset="0"/>
              </a:rPr>
              <a:t>500 KW</a:t>
            </a:r>
            <a:endParaRPr lang="en-US" sz="1000" dirty="0">
              <a:solidFill>
                <a:prstClr val="black"/>
              </a:solidFill>
            </a:endParaRPr>
          </a:p>
        </p:txBody>
      </p:sp>
      <p:sp>
        <p:nvSpPr>
          <p:cNvPr id="26" name="Rectangle 25"/>
          <p:cNvSpPr/>
          <p:nvPr/>
        </p:nvSpPr>
        <p:spPr>
          <a:xfrm>
            <a:off x="6126480" y="3689167"/>
            <a:ext cx="899605" cy="246221"/>
          </a:xfrm>
          <a:prstGeom prst="rect">
            <a:avLst/>
          </a:prstGeom>
        </p:spPr>
        <p:txBody>
          <a:bodyPr wrap="none">
            <a:spAutoFit/>
          </a:bodyPr>
          <a:lstStyle/>
          <a:p>
            <a:pPr lvl="0"/>
            <a:r>
              <a:rPr lang="en-US" sz="1000" dirty="0" smtClean="0">
                <a:solidFill>
                  <a:srgbClr val="45413B"/>
                </a:solidFill>
                <a:latin typeface="Trebuchet MS" pitchFamily="34" charset="0"/>
              </a:rPr>
              <a:t>Saudi Arabia</a:t>
            </a:r>
            <a:endParaRPr lang="en-US" sz="1000" dirty="0">
              <a:solidFill>
                <a:prstClr val="black"/>
              </a:solidFill>
            </a:endParaRPr>
          </a:p>
        </p:txBody>
      </p:sp>
    </p:spTree>
    <p:extLst>
      <p:ext uri="{BB962C8B-B14F-4D97-AF65-F5344CB8AC3E}">
        <p14:creationId xmlns:p14="http://schemas.microsoft.com/office/powerpoint/2010/main" val="3059273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a:t>
            </a:r>
            <a:r>
              <a:rPr lang="en-US" sz="1000" b="1" kern="0" spc="300" dirty="0" smtClean="0">
                <a:solidFill>
                  <a:srgbClr val="B4632B"/>
                </a:solidFill>
                <a:latin typeface="Trebuchet MS" pitchFamily="34" charset="0"/>
                <a:ea typeface="Trebuchet MS" pitchFamily="34" charset="-122"/>
                <a:cs typeface="Trebuchet MS" pitchFamily="34" charset="-120"/>
              </a:rPr>
              <a:t>11  </a:t>
            </a:r>
            <a:r>
              <a:rPr lang="en-US" sz="1000" b="1" kern="0" spc="300" dirty="0">
                <a:solidFill>
                  <a:srgbClr val="B4632B"/>
                </a:solidFill>
                <a:latin typeface="Trebuchet MS" pitchFamily="34" charset="0"/>
                <a:ea typeface="Trebuchet MS" pitchFamily="34" charset="-122"/>
                <a:cs typeface="Trebuchet MS" pitchFamily="34" charset="-120"/>
              </a:rPr>
              <a:t>·  SITE GALLERY</a:t>
            </a:r>
            <a:endParaRPr lang="en-US" sz="1000" dirty="0"/>
          </a:p>
        </p:txBody>
      </p:sp>
      <p:sp>
        <p:nvSpPr>
          <p:cNvPr id="4" name="Text 2"/>
          <p:cNvSpPr/>
          <p:nvPr/>
        </p:nvSpPr>
        <p:spPr>
          <a:xfrm>
            <a:off x="548640" y="809244"/>
            <a:ext cx="5120640" cy="457200"/>
          </a:xfrm>
          <a:prstGeom prst="rect">
            <a:avLst/>
          </a:prstGeom>
          <a:noFill/>
          <a:ln/>
        </p:spPr>
        <p:txBody>
          <a:bodyPr wrap="square" lIns="0" tIns="0" rIns="0" bIns="0" rtlCol="0" anchor="ctr"/>
          <a:lstStyle/>
          <a:p>
            <a:r>
              <a:rPr lang="en-US" sz="2100" b="1" dirty="0">
                <a:solidFill>
                  <a:srgbClr val="2B2926"/>
                </a:solidFill>
                <a:latin typeface="Georgia" pitchFamily="34" charset="0"/>
                <a:ea typeface="Georgia" pitchFamily="34" charset="-122"/>
                <a:cs typeface="Georgia" pitchFamily="34" charset="-120"/>
              </a:rPr>
              <a:t> KAFD – Solar Water Heater Project</a:t>
            </a:r>
            <a:endParaRPr lang="en-US" sz="2100" dirty="0"/>
          </a:p>
          <a:p>
            <a:pPr marL="0" indent="0">
              <a:buNone/>
            </a:pP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Images &amp; delivery notes</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2560320" cy="196596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1682496" y="2098548"/>
            <a:ext cx="292608" cy="32004"/>
          </a:xfrm>
          <a:prstGeom prst="rect">
            <a:avLst/>
          </a:prstGeom>
          <a:solidFill>
            <a:srgbClr val="B4632B"/>
          </a:solidFill>
          <a:ln/>
        </p:spPr>
      </p:sp>
      <p:sp>
        <p:nvSpPr>
          <p:cNvPr id="9" name="Text 7"/>
          <p:cNvSpPr/>
          <p:nvPr/>
        </p:nvSpPr>
        <p:spPr>
          <a:xfrm>
            <a:off x="6858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0" name="Image placeholder frame">
            <a:extLst>
              <a:ext uri="{C183D7F6-B498-43B3-948B-1728B52AA6E4}">
                <adec:decorative xmlns="" xmlns:adec="http://schemas.microsoft.com/office/drawing/2017/decorative" val="1"/>
              </a:ext>
            </a:extLst>
          </p:cNvPr>
          <p:cNvSpPr/>
          <p:nvPr/>
        </p:nvSpPr>
        <p:spPr>
          <a:xfrm>
            <a:off x="3291840" y="1371600"/>
            <a:ext cx="2560320" cy="1965960"/>
          </a:xfrm>
          <a:prstGeom prst="rect">
            <a:avLst/>
          </a:prstGeom>
          <a:solidFill>
            <a:srgbClr val="E4DACA"/>
          </a:solidFill>
          <a:ln w="12700">
            <a:solidFill>
              <a:srgbClr val="CBBDA6"/>
            </a:solidFill>
            <a:prstDash val="dash"/>
          </a:ln>
        </p:spPr>
      </p:sp>
      <p:sp>
        <p:nvSpPr>
          <p:cNvPr id="11" name="Placeholder mark">
            <a:extLst>
              <a:ext uri="{C183D7F6-B498-43B3-948B-1728B52AA6E4}">
                <adec:decorative xmlns="" xmlns:adec="http://schemas.microsoft.com/office/drawing/2017/decorative" val="1"/>
              </a:ext>
            </a:extLst>
          </p:cNvPr>
          <p:cNvSpPr/>
          <p:nvPr/>
        </p:nvSpPr>
        <p:spPr>
          <a:xfrm>
            <a:off x="4425696" y="2098548"/>
            <a:ext cx="292608" cy="32004"/>
          </a:xfrm>
          <a:prstGeom prst="rect">
            <a:avLst/>
          </a:prstGeom>
          <a:solidFill>
            <a:srgbClr val="B4632B"/>
          </a:solidFill>
          <a:ln/>
        </p:spPr>
      </p:sp>
      <p:sp>
        <p:nvSpPr>
          <p:cNvPr id="12" name="Text 10"/>
          <p:cNvSpPr/>
          <p:nvPr/>
        </p:nvSpPr>
        <p:spPr>
          <a:xfrm>
            <a:off x="34290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3" name="Image placeholder frame">
            <a:extLst>
              <a:ext uri="{C183D7F6-B498-43B3-948B-1728B52AA6E4}">
                <adec:decorative xmlns="" xmlns:adec="http://schemas.microsoft.com/office/drawing/2017/decorative" val="1"/>
              </a:ext>
            </a:extLst>
          </p:cNvPr>
          <p:cNvSpPr/>
          <p:nvPr/>
        </p:nvSpPr>
        <p:spPr>
          <a:xfrm>
            <a:off x="6035040" y="1371600"/>
            <a:ext cx="2560320" cy="1965960"/>
          </a:xfrm>
          <a:prstGeom prst="rect">
            <a:avLst/>
          </a:prstGeom>
          <a:solidFill>
            <a:srgbClr val="E4DACA"/>
          </a:solidFill>
          <a:ln w="12700">
            <a:solidFill>
              <a:srgbClr val="CBBDA6"/>
            </a:solidFill>
            <a:prstDash val="dash"/>
          </a:ln>
        </p:spPr>
      </p:sp>
      <p:sp>
        <p:nvSpPr>
          <p:cNvPr id="14" name="Placeholder mark">
            <a:extLst>
              <a:ext uri="{C183D7F6-B498-43B3-948B-1728B52AA6E4}">
                <adec:decorative xmlns="" xmlns:adec="http://schemas.microsoft.com/office/drawing/2017/decorative" val="1"/>
              </a:ext>
            </a:extLst>
          </p:cNvPr>
          <p:cNvSpPr/>
          <p:nvPr/>
        </p:nvSpPr>
        <p:spPr>
          <a:xfrm>
            <a:off x="7168896" y="2098548"/>
            <a:ext cx="292608" cy="32004"/>
          </a:xfrm>
          <a:prstGeom prst="rect">
            <a:avLst/>
          </a:prstGeom>
          <a:solidFill>
            <a:srgbClr val="B4632B"/>
          </a:solidFill>
          <a:ln/>
        </p:spPr>
      </p:sp>
      <p:sp>
        <p:nvSpPr>
          <p:cNvPr id="15" name="Text 13"/>
          <p:cNvSpPr/>
          <p:nvPr/>
        </p:nvSpPr>
        <p:spPr>
          <a:xfrm>
            <a:off x="61722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6" name="Text 14"/>
          <p:cNvSpPr/>
          <p:nvPr/>
        </p:nvSpPr>
        <p:spPr>
          <a:xfrm>
            <a:off x="548640" y="3566160"/>
            <a:ext cx="804672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DELIVERY NOTES</a:t>
            </a:r>
            <a:endParaRPr lang="en-US" sz="950" dirty="0"/>
          </a:p>
        </p:txBody>
      </p:sp>
      <p:sp>
        <p:nvSpPr>
          <p:cNvPr id="17" name="Description box">
            <a:extLst>
              <a:ext uri="{C183D7F6-B498-43B3-948B-1728B52AA6E4}">
                <adec:decorative xmlns="" xmlns:adec="http://schemas.microsoft.com/office/drawing/2017/decorative" val="1"/>
              </a:ext>
            </a:extLst>
          </p:cNvPr>
          <p:cNvSpPr/>
          <p:nvPr/>
        </p:nvSpPr>
        <p:spPr>
          <a:xfrm>
            <a:off x="548640" y="3840480"/>
            <a:ext cx="8046720" cy="1051560"/>
          </a:xfrm>
          <a:prstGeom prst="rect">
            <a:avLst/>
          </a:prstGeom>
          <a:solidFill>
            <a:srgbClr val="FFFFFF"/>
          </a:solidFill>
          <a:ln w="12700">
            <a:solidFill>
              <a:srgbClr val="E0D5C2"/>
            </a:solidFill>
            <a:prstDash val="solid"/>
          </a:ln>
        </p:spPr>
      </p:sp>
      <p:sp>
        <p:nvSpPr>
          <p:cNvPr id="18" name="Text 16"/>
          <p:cNvSpPr/>
          <p:nvPr/>
        </p:nvSpPr>
        <p:spPr>
          <a:xfrm>
            <a:off x="713232" y="3968496"/>
            <a:ext cx="7717536" cy="795528"/>
          </a:xfrm>
          <a:prstGeom prst="rect">
            <a:avLst/>
          </a:prstGeom>
          <a:noFill/>
          <a:ln/>
        </p:spPr>
        <p:txBody>
          <a:bodyPr wrap="square" lIns="0" tIns="0" rIns="0" bIns="0" rtlCol="0" anchor="ctr"/>
          <a:lstStyle/>
          <a:p>
            <a:pPr>
              <a:lnSpc>
                <a:spcPts val="1500"/>
              </a:lnSpc>
            </a:pPr>
            <a:r>
              <a:rPr lang="en-US" sz="1050" i="1" dirty="0">
                <a:latin typeface="Trebuchet MS" pitchFamily="34" charset="0"/>
                <a:ea typeface="Trebuchet MS" pitchFamily="34" charset="-122"/>
                <a:cs typeface="Trebuchet MS" pitchFamily="34" charset="-120"/>
              </a:rPr>
              <a:t>Successfully delivered the solar water heating solution with focus on system efficiency, reliable operation, installation quality, and integration with the site's existing infrastructure.</a:t>
            </a:r>
            <a:endParaRPr lang="en-US" sz="1050" dirty="0"/>
          </a:p>
        </p:txBody>
      </p:sp>
      <p:pic>
        <p:nvPicPr>
          <p:cNvPr id="19" name="Picture 18"/>
          <p:cNvPicPr>
            <a:picLocks noChangeAspect="1"/>
          </p:cNvPicPr>
          <p:nvPr/>
        </p:nvPicPr>
        <p:blipFill>
          <a:blip r:embed="rId3"/>
          <a:stretch>
            <a:fillRect/>
          </a:stretch>
        </p:blipFill>
        <p:spPr>
          <a:xfrm rot="16200000">
            <a:off x="843432" y="1072032"/>
            <a:ext cx="1970736" cy="2560320"/>
          </a:xfrm>
          <a:prstGeom prst="rect">
            <a:avLst/>
          </a:prstGeom>
        </p:spPr>
      </p:pic>
      <p:pic>
        <p:nvPicPr>
          <p:cNvPr id="20" name="Picture 19"/>
          <p:cNvPicPr>
            <a:picLocks noChangeAspect="1"/>
          </p:cNvPicPr>
          <p:nvPr/>
        </p:nvPicPr>
        <p:blipFill>
          <a:blip r:embed="rId4"/>
          <a:stretch>
            <a:fillRect/>
          </a:stretch>
        </p:blipFill>
        <p:spPr>
          <a:xfrm>
            <a:off x="3316277" y="1390700"/>
            <a:ext cx="2535884" cy="1946860"/>
          </a:xfrm>
          <a:prstGeom prst="rect">
            <a:avLst/>
          </a:prstGeom>
        </p:spPr>
      </p:pic>
      <p:pic>
        <p:nvPicPr>
          <p:cNvPr id="21" name="Picture 20"/>
          <p:cNvPicPr>
            <a:picLocks noChangeAspect="1"/>
          </p:cNvPicPr>
          <p:nvPr/>
        </p:nvPicPr>
        <p:blipFill>
          <a:blip r:embed="rId5"/>
          <a:stretch>
            <a:fillRect/>
          </a:stretch>
        </p:blipFill>
        <p:spPr>
          <a:xfrm>
            <a:off x="6035039" y="1390701"/>
            <a:ext cx="2578608" cy="1946860"/>
          </a:xfrm>
          <a:prstGeom prst="rect">
            <a:avLst/>
          </a:prstGeom>
        </p:spPr>
      </p:pic>
    </p:spTree>
    <p:extLst>
      <p:ext uri="{BB962C8B-B14F-4D97-AF65-F5344CB8AC3E}">
        <p14:creationId xmlns:p14="http://schemas.microsoft.com/office/powerpoint/2010/main" val="606058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a:t>
            </a:r>
            <a:r>
              <a:rPr lang="en-US" sz="1000" b="1" kern="0" spc="300" dirty="0" smtClean="0">
                <a:solidFill>
                  <a:srgbClr val="B4632B"/>
                </a:solidFill>
                <a:latin typeface="Trebuchet MS" pitchFamily="34" charset="0"/>
                <a:ea typeface="Trebuchet MS" pitchFamily="34" charset="-122"/>
                <a:cs typeface="Trebuchet MS" pitchFamily="34" charset="-120"/>
              </a:rPr>
              <a:t>12</a:t>
            </a:r>
            <a:endParaRPr lang="en-US" sz="1000" dirty="0"/>
          </a:p>
        </p:txBody>
      </p:sp>
      <p:sp>
        <p:nvSpPr>
          <p:cNvPr id="4" name="Text 2"/>
          <p:cNvSpPr/>
          <p:nvPr/>
        </p:nvSpPr>
        <p:spPr>
          <a:xfrm>
            <a:off x="548640" y="731520"/>
            <a:ext cx="5577840" cy="457200"/>
          </a:xfrm>
          <a:prstGeom prst="rect">
            <a:avLst/>
          </a:prstGeom>
          <a:noFill/>
          <a:ln/>
        </p:spPr>
        <p:txBody>
          <a:bodyPr wrap="square" lIns="0" tIns="0" rIns="0" bIns="0" rtlCol="0" anchor="ctr"/>
          <a:lstStyle/>
          <a:p>
            <a:r>
              <a:rPr lang="en-US" sz="2100" b="1" dirty="0" smtClean="0">
                <a:solidFill>
                  <a:srgbClr val="2B2926"/>
                </a:solidFill>
                <a:latin typeface="Georgia" pitchFamily="34" charset="0"/>
                <a:ea typeface="Georgia" pitchFamily="34" charset="-122"/>
                <a:cs typeface="Georgia" pitchFamily="34" charset="-120"/>
              </a:rPr>
              <a:t>STC – </a:t>
            </a:r>
            <a:r>
              <a:rPr lang="en-US" sz="2100" b="1" dirty="0">
                <a:solidFill>
                  <a:srgbClr val="2B2926"/>
                </a:solidFill>
                <a:latin typeface="Georgia" pitchFamily="34" charset="0"/>
                <a:ea typeface="Georgia" pitchFamily="34" charset="-122"/>
                <a:cs typeface="Georgia" pitchFamily="34" charset="-120"/>
              </a:rPr>
              <a:t>Rooftop Solar PV Project</a:t>
            </a: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Completed project</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4343400" cy="320040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2574036" y="2715768"/>
            <a:ext cx="292608" cy="32004"/>
          </a:xfrm>
          <a:prstGeom prst="rect">
            <a:avLst/>
          </a:prstGeom>
          <a:solidFill>
            <a:srgbClr val="B4632B"/>
          </a:solidFill>
          <a:ln/>
        </p:spPr>
      </p:sp>
      <p:sp>
        <p:nvSpPr>
          <p:cNvPr id="9" name="Text 7"/>
          <p:cNvSpPr/>
          <p:nvPr/>
        </p:nvSpPr>
        <p:spPr>
          <a:xfrm>
            <a:off x="685800" y="2825496"/>
            <a:ext cx="406908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project image here</a:t>
            </a:r>
            <a:endParaRPr lang="en-US" sz="1050" dirty="0"/>
          </a:p>
        </p:txBody>
      </p:sp>
      <p:sp>
        <p:nvSpPr>
          <p:cNvPr id="10" name="Text 8"/>
          <p:cNvSpPr/>
          <p:nvPr/>
        </p:nvSpPr>
        <p:spPr>
          <a:xfrm>
            <a:off x="5166360" y="137160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PROJECT DESCRIPTION</a:t>
            </a:r>
            <a:endParaRPr lang="en-US" sz="950" dirty="0"/>
          </a:p>
        </p:txBody>
      </p:sp>
      <p:sp>
        <p:nvSpPr>
          <p:cNvPr id="11" name="Description box">
            <a:extLst>
              <a:ext uri="{C183D7F6-B498-43B3-948B-1728B52AA6E4}">
                <adec:decorative xmlns="" xmlns:adec="http://schemas.microsoft.com/office/drawing/2017/decorative" val="1"/>
              </a:ext>
            </a:extLst>
          </p:cNvPr>
          <p:cNvSpPr/>
          <p:nvPr/>
        </p:nvSpPr>
        <p:spPr>
          <a:xfrm>
            <a:off x="5166360" y="1645920"/>
            <a:ext cx="3429000" cy="1417320"/>
          </a:xfrm>
          <a:prstGeom prst="rect">
            <a:avLst/>
          </a:prstGeom>
          <a:solidFill>
            <a:srgbClr val="FFFFFF"/>
          </a:solidFill>
          <a:ln w="12700">
            <a:solidFill>
              <a:srgbClr val="E0D5C2"/>
            </a:solidFill>
            <a:prstDash val="solid"/>
          </a:ln>
        </p:spPr>
      </p:sp>
      <p:sp>
        <p:nvSpPr>
          <p:cNvPr id="12" name="Text 10"/>
          <p:cNvSpPr/>
          <p:nvPr/>
        </p:nvSpPr>
        <p:spPr>
          <a:xfrm>
            <a:off x="5330952" y="1773936"/>
            <a:ext cx="3099816" cy="1161288"/>
          </a:xfrm>
          <a:prstGeom prst="rect">
            <a:avLst/>
          </a:prstGeom>
          <a:noFill/>
          <a:ln/>
        </p:spPr>
        <p:txBody>
          <a:bodyPr wrap="square" lIns="0" tIns="0" rIns="0" bIns="0" rtlCol="0" anchor="ctr"/>
          <a:lstStyle/>
          <a:p>
            <a:pPr>
              <a:lnSpc>
                <a:spcPts val="1500"/>
              </a:lnSpc>
            </a:pPr>
            <a:r>
              <a:rPr lang="en-US" sz="1050" i="1" dirty="0">
                <a:latin typeface="Trebuchet MS" pitchFamily="34" charset="0"/>
                <a:ea typeface="Trebuchet MS" pitchFamily="34" charset="-122"/>
                <a:cs typeface="Trebuchet MS" pitchFamily="34" charset="-120"/>
              </a:rPr>
              <a:t>50 </a:t>
            </a:r>
            <a:r>
              <a:rPr lang="en-US" sz="1050" i="1" dirty="0" err="1">
                <a:latin typeface="Trebuchet MS" pitchFamily="34" charset="0"/>
                <a:ea typeface="Trebuchet MS" pitchFamily="34" charset="-122"/>
                <a:cs typeface="Trebuchet MS" pitchFamily="34" charset="-120"/>
              </a:rPr>
              <a:t>kWp</a:t>
            </a:r>
            <a:r>
              <a:rPr lang="en-US" sz="1050" i="1" dirty="0">
                <a:latin typeface="Trebuchet MS" pitchFamily="34" charset="0"/>
                <a:ea typeface="Trebuchet MS" pitchFamily="34" charset="-122"/>
                <a:cs typeface="Trebuchet MS" pitchFamily="34" charset="-120"/>
              </a:rPr>
              <a:t> rooftop solar PV installation for STC, utilizing available rooftop space to generate clean electricity and improve the facility's renewable energy contribution. The project included system integration, installation, testing, and commissioning.</a:t>
            </a:r>
            <a:endParaRPr lang="en-US" sz="1050" dirty="0"/>
          </a:p>
        </p:txBody>
      </p:sp>
      <p:sp>
        <p:nvSpPr>
          <p:cNvPr id="13" name="Text 11"/>
          <p:cNvSpPr/>
          <p:nvPr/>
        </p:nvSpPr>
        <p:spPr>
          <a:xfrm>
            <a:off x="5166360" y="3154680"/>
            <a:ext cx="342900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KEY FACTS</a:t>
            </a:r>
            <a:endParaRPr lang="en-US" sz="950" dirty="0"/>
          </a:p>
        </p:txBody>
      </p:sp>
      <p:sp>
        <p:nvSpPr>
          <p:cNvPr id="14" name="Text 12"/>
          <p:cNvSpPr/>
          <p:nvPr/>
        </p:nvSpPr>
        <p:spPr>
          <a:xfrm>
            <a:off x="5166360" y="3456432"/>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Capacity</a:t>
            </a:r>
            <a:endParaRPr lang="en-US" sz="1000" dirty="0"/>
          </a:p>
        </p:txBody>
      </p:sp>
      <p:sp>
        <p:nvSpPr>
          <p:cNvPr id="16" name="Text 14"/>
          <p:cNvSpPr/>
          <p:nvPr/>
        </p:nvSpPr>
        <p:spPr>
          <a:xfrm>
            <a:off x="5166360" y="3739896"/>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Location</a:t>
            </a:r>
            <a:endParaRPr lang="en-US" sz="1000" dirty="0"/>
          </a:p>
        </p:txBody>
      </p:sp>
      <p:sp>
        <p:nvSpPr>
          <p:cNvPr id="18" name="Text 16"/>
          <p:cNvSpPr/>
          <p:nvPr/>
        </p:nvSpPr>
        <p:spPr>
          <a:xfrm>
            <a:off x="5166360" y="4023360"/>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Scope</a:t>
            </a:r>
            <a:endParaRPr lang="en-US" sz="1000" dirty="0"/>
          </a:p>
        </p:txBody>
      </p:sp>
      <p:sp>
        <p:nvSpPr>
          <p:cNvPr id="20" name="Text 18"/>
          <p:cNvSpPr/>
          <p:nvPr/>
        </p:nvSpPr>
        <p:spPr>
          <a:xfrm>
            <a:off x="5166360" y="4306824"/>
            <a:ext cx="960120" cy="228600"/>
          </a:xfrm>
          <a:prstGeom prst="rect">
            <a:avLst/>
          </a:prstGeom>
          <a:noFill/>
          <a:ln/>
        </p:spPr>
        <p:txBody>
          <a:bodyPr wrap="square" lIns="0" tIns="0" rIns="0" bIns="0" rtlCol="0" anchor="ctr"/>
          <a:lstStyle/>
          <a:p>
            <a:pPr marL="0" indent="0">
              <a:buNone/>
            </a:pPr>
            <a:r>
              <a:rPr lang="en-US" sz="1000" b="1" dirty="0">
                <a:solidFill>
                  <a:srgbClr val="8A8175"/>
                </a:solidFill>
                <a:latin typeface="Trebuchet MS" pitchFamily="34" charset="0"/>
                <a:ea typeface="Trebuchet MS" pitchFamily="34" charset="-122"/>
                <a:cs typeface="Trebuchet MS" pitchFamily="34" charset="-120"/>
              </a:rPr>
              <a:t>Status</a:t>
            </a:r>
            <a:endParaRPr lang="en-US" sz="1000" dirty="0"/>
          </a:p>
        </p:txBody>
      </p:sp>
      <p:pic>
        <p:nvPicPr>
          <p:cNvPr id="22" name="Picture 21"/>
          <p:cNvPicPr>
            <a:picLocks noChangeAspect="1"/>
          </p:cNvPicPr>
          <p:nvPr/>
        </p:nvPicPr>
        <p:blipFill>
          <a:blip r:embed="rId3"/>
          <a:stretch>
            <a:fillRect/>
          </a:stretch>
        </p:blipFill>
        <p:spPr>
          <a:xfrm>
            <a:off x="548641" y="1377188"/>
            <a:ext cx="4343400" cy="3194812"/>
          </a:xfrm>
          <a:prstGeom prst="rect">
            <a:avLst/>
          </a:prstGeom>
        </p:spPr>
      </p:pic>
      <p:sp>
        <p:nvSpPr>
          <p:cNvPr id="23" name="Rectangle 22"/>
          <p:cNvSpPr/>
          <p:nvPr/>
        </p:nvSpPr>
        <p:spPr>
          <a:xfrm>
            <a:off x="6124877" y="3952050"/>
            <a:ext cx="90281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Turnkey EPC</a:t>
            </a:r>
            <a:endParaRPr lang="en-US" sz="1000" dirty="0">
              <a:solidFill>
                <a:prstClr val="black"/>
              </a:solidFill>
            </a:endParaRPr>
          </a:p>
        </p:txBody>
      </p:sp>
      <p:sp>
        <p:nvSpPr>
          <p:cNvPr id="24" name="Rectangle 23"/>
          <p:cNvSpPr/>
          <p:nvPr/>
        </p:nvSpPr>
        <p:spPr>
          <a:xfrm>
            <a:off x="6124877" y="4266718"/>
            <a:ext cx="811441" cy="246221"/>
          </a:xfrm>
          <a:prstGeom prst="rect">
            <a:avLst/>
          </a:prstGeom>
        </p:spPr>
        <p:txBody>
          <a:bodyPr wrap="none">
            <a:spAutoFit/>
          </a:bodyPr>
          <a:lstStyle/>
          <a:p>
            <a:pPr lvl="0"/>
            <a:r>
              <a:rPr lang="en-US" sz="1000" dirty="0">
                <a:solidFill>
                  <a:srgbClr val="45413B"/>
                </a:solidFill>
                <a:latin typeface="Trebuchet MS" pitchFamily="34" charset="0"/>
                <a:ea typeface="Trebuchet MS" pitchFamily="34" charset="-122"/>
                <a:cs typeface="Trebuchet MS" pitchFamily="34" charset="-120"/>
              </a:rPr>
              <a:t>Completed</a:t>
            </a:r>
            <a:endParaRPr lang="en-US" sz="1000" dirty="0">
              <a:solidFill>
                <a:prstClr val="black"/>
              </a:solidFill>
            </a:endParaRPr>
          </a:p>
        </p:txBody>
      </p:sp>
      <p:sp>
        <p:nvSpPr>
          <p:cNvPr id="25" name="Rectangle 24"/>
          <p:cNvSpPr/>
          <p:nvPr/>
        </p:nvSpPr>
        <p:spPr>
          <a:xfrm>
            <a:off x="6126480" y="3437358"/>
            <a:ext cx="607859" cy="246221"/>
          </a:xfrm>
          <a:prstGeom prst="rect">
            <a:avLst/>
          </a:prstGeom>
        </p:spPr>
        <p:txBody>
          <a:bodyPr wrap="none">
            <a:spAutoFit/>
          </a:bodyPr>
          <a:lstStyle/>
          <a:p>
            <a:pPr lvl="0"/>
            <a:r>
              <a:rPr lang="en-US" sz="1000" dirty="0" smtClean="0">
                <a:solidFill>
                  <a:srgbClr val="45413B"/>
                </a:solidFill>
                <a:latin typeface="Trebuchet MS" pitchFamily="34" charset="0"/>
              </a:rPr>
              <a:t>500 KW</a:t>
            </a:r>
            <a:endParaRPr lang="en-US" sz="1000" dirty="0">
              <a:solidFill>
                <a:prstClr val="black"/>
              </a:solidFill>
            </a:endParaRPr>
          </a:p>
        </p:txBody>
      </p:sp>
      <p:sp>
        <p:nvSpPr>
          <p:cNvPr id="26" name="Rectangle 25"/>
          <p:cNvSpPr/>
          <p:nvPr/>
        </p:nvSpPr>
        <p:spPr>
          <a:xfrm>
            <a:off x="6126480" y="3689167"/>
            <a:ext cx="899605" cy="246221"/>
          </a:xfrm>
          <a:prstGeom prst="rect">
            <a:avLst/>
          </a:prstGeom>
        </p:spPr>
        <p:txBody>
          <a:bodyPr wrap="none">
            <a:spAutoFit/>
          </a:bodyPr>
          <a:lstStyle/>
          <a:p>
            <a:pPr lvl="0"/>
            <a:r>
              <a:rPr lang="en-US" sz="1000" dirty="0" smtClean="0">
                <a:solidFill>
                  <a:srgbClr val="45413B"/>
                </a:solidFill>
                <a:latin typeface="Trebuchet MS" pitchFamily="34" charset="0"/>
              </a:rPr>
              <a:t>Saudi Arabia</a:t>
            </a:r>
            <a:endParaRPr lang="en-US" sz="1000" dirty="0">
              <a:solidFill>
                <a:prstClr val="black"/>
              </a:solidFill>
            </a:endParaRPr>
          </a:p>
        </p:txBody>
      </p:sp>
      <p:pic>
        <p:nvPicPr>
          <p:cNvPr id="15" name="Picture 14"/>
          <p:cNvPicPr>
            <a:picLocks noChangeAspect="1"/>
          </p:cNvPicPr>
          <p:nvPr/>
        </p:nvPicPr>
        <p:blipFill>
          <a:blip r:embed="rId4"/>
          <a:stretch>
            <a:fillRect/>
          </a:stretch>
        </p:blipFill>
        <p:spPr>
          <a:xfrm>
            <a:off x="548639" y="1371601"/>
            <a:ext cx="4325975" cy="3200400"/>
          </a:xfrm>
          <a:prstGeom prst="rect">
            <a:avLst/>
          </a:prstGeom>
        </p:spPr>
      </p:pic>
      <p:pic>
        <p:nvPicPr>
          <p:cNvPr id="17" name="Picture 16"/>
          <p:cNvPicPr>
            <a:picLocks noChangeAspect="1"/>
          </p:cNvPicPr>
          <p:nvPr/>
        </p:nvPicPr>
        <p:blipFill>
          <a:blip r:embed="rId5"/>
          <a:stretch>
            <a:fillRect/>
          </a:stretch>
        </p:blipFill>
        <p:spPr>
          <a:xfrm>
            <a:off x="548639" y="1344169"/>
            <a:ext cx="4343401" cy="3227832"/>
          </a:xfrm>
          <a:prstGeom prst="rect">
            <a:avLst/>
          </a:prstGeom>
        </p:spPr>
      </p:pic>
    </p:spTree>
    <p:extLst>
      <p:ext uri="{BB962C8B-B14F-4D97-AF65-F5344CB8AC3E}">
        <p14:creationId xmlns:p14="http://schemas.microsoft.com/office/powerpoint/2010/main" val="3309140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FE7DA"/>
        </a:solidFill>
        <a:effectLst/>
      </p:bgPr>
    </p:bg>
    <p:spTree>
      <p:nvGrpSpPr>
        <p:cNvPr id="1" name=""/>
        <p:cNvGrpSpPr/>
        <p:nvPr/>
      </p:nvGrpSpPr>
      <p:grpSpPr>
        <a:xfrm>
          <a:off x="0" y="0"/>
          <a:ext cx="0" cy="0"/>
          <a:chOff x="0" y="0"/>
          <a:chExt cx="0" cy="0"/>
        </a:xfrm>
      </p:grpSpPr>
      <p:sp>
        <p:nvSpPr>
          <p:cNvPr id="2" name="Top accent bar">
            <a:extLst>
              <a:ext uri="{C183D7F6-B498-43B3-948B-1728B52AA6E4}">
                <adec:decorative xmlns="" xmlns:adec="http://schemas.microsoft.com/office/drawing/2017/decorative" val="1"/>
              </a:ext>
            </a:extLst>
          </p:cNvPr>
          <p:cNvSpPr/>
          <p:nvPr/>
        </p:nvSpPr>
        <p:spPr>
          <a:xfrm>
            <a:off x="0" y="0"/>
            <a:ext cx="9144000" cy="82296"/>
          </a:xfrm>
          <a:prstGeom prst="rect">
            <a:avLst/>
          </a:prstGeom>
          <a:solidFill>
            <a:srgbClr val="B4632B"/>
          </a:solidFill>
          <a:ln/>
        </p:spPr>
      </p:sp>
      <p:sp>
        <p:nvSpPr>
          <p:cNvPr id="3" name="Text 1"/>
          <p:cNvSpPr/>
          <p:nvPr/>
        </p:nvSpPr>
        <p:spPr>
          <a:xfrm>
            <a:off x="548640" y="384048"/>
            <a:ext cx="4572000" cy="256032"/>
          </a:xfrm>
          <a:prstGeom prst="rect">
            <a:avLst/>
          </a:prstGeom>
          <a:noFill/>
          <a:ln/>
        </p:spPr>
        <p:txBody>
          <a:bodyPr wrap="square" lIns="0" tIns="0" rIns="0" bIns="0" rtlCol="0" anchor="ctr"/>
          <a:lstStyle/>
          <a:p>
            <a:pPr marL="0" indent="0">
              <a:buNone/>
            </a:pPr>
            <a:r>
              <a:rPr lang="en-US" sz="1000" b="1" kern="0" spc="300" dirty="0">
                <a:solidFill>
                  <a:srgbClr val="B4632B"/>
                </a:solidFill>
                <a:latin typeface="Trebuchet MS" pitchFamily="34" charset="0"/>
                <a:ea typeface="Trebuchet MS" pitchFamily="34" charset="-122"/>
                <a:cs typeface="Trebuchet MS" pitchFamily="34" charset="-120"/>
              </a:rPr>
              <a:t>PROJECT </a:t>
            </a:r>
            <a:r>
              <a:rPr lang="en-US" sz="1000" b="1" kern="0" spc="300" dirty="0" smtClean="0">
                <a:solidFill>
                  <a:srgbClr val="B4632B"/>
                </a:solidFill>
                <a:latin typeface="Trebuchet MS" pitchFamily="34" charset="0"/>
                <a:ea typeface="Trebuchet MS" pitchFamily="34" charset="-122"/>
                <a:cs typeface="Trebuchet MS" pitchFamily="34" charset="-120"/>
              </a:rPr>
              <a:t>12  </a:t>
            </a:r>
            <a:r>
              <a:rPr lang="en-US" sz="1000" b="1" kern="0" spc="300" dirty="0">
                <a:solidFill>
                  <a:srgbClr val="B4632B"/>
                </a:solidFill>
                <a:latin typeface="Trebuchet MS" pitchFamily="34" charset="0"/>
                <a:ea typeface="Trebuchet MS" pitchFamily="34" charset="-122"/>
                <a:cs typeface="Trebuchet MS" pitchFamily="34" charset="-120"/>
              </a:rPr>
              <a:t>·  SITE GALLERY</a:t>
            </a:r>
            <a:endParaRPr lang="en-US" sz="1000" dirty="0"/>
          </a:p>
        </p:txBody>
      </p:sp>
      <p:sp>
        <p:nvSpPr>
          <p:cNvPr id="4" name="Text 2"/>
          <p:cNvSpPr/>
          <p:nvPr/>
        </p:nvSpPr>
        <p:spPr>
          <a:xfrm>
            <a:off x="548640" y="809244"/>
            <a:ext cx="5120640" cy="457200"/>
          </a:xfrm>
          <a:prstGeom prst="rect">
            <a:avLst/>
          </a:prstGeom>
          <a:noFill/>
          <a:ln/>
        </p:spPr>
        <p:txBody>
          <a:bodyPr wrap="square" lIns="0" tIns="0" rIns="0" bIns="0" rtlCol="0" anchor="ctr"/>
          <a:lstStyle/>
          <a:p>
            <a:r>
              <a:rPr lang="en-US" sz="2100" b="1" dirty="0">
                <a:solidFill>
                  <a:srgbClr val="2B2926"/>
                </a:solidFill>
                <a:latin typeface="Georgia" pitchFamily="34" charset="0"/>
                <a:ea typeface="Georgia" pitchFamily="34" charset="-122"/>
                <a:cs typeface="Georgia" pitchFamily="34" charset="-120"/>
              </a:rPr>
              <a:t>STC – Rooftop Solar PV Project</a:t>
            </a:r>
            <a:endParaRPr lang="en-US" sz="2100" dirty="0"/>
          </a:p>
          <a:p>
            <a:pPr marL="0" indent="0">
              <a:buNone/>
            </a:pPr>
            <a:endParaRPr lang="en-US" sz="2100" dirty="0"/>
          </a:p>
        </p:txBody>
      </p:sp>
      <p:sp>
        <p:nvSpPr>
          <p:cNvPr id="5" name="Text 3"/>
          <p:cNvSpPr/>
          <p:nvPr/>
        </p:nvSpPr>
        <p:spPr>
          <a:xfrm>
            <a:off x="5760720" y="786384"/>
            <a:ext cx="2834640" cy="320040"/>
          </a:xfrm>
          <a:prstGeom prst="rect">
            <a:avLst/>
          </a:prstGeom>
          <a:noFill/>
          <a:ln/>
        </p:spPr>
        <p:txBody>
          <a:bodyPr wrap="square" lIns="0" tIns="0" rIns="0" bIns="0" rtlCol="0" anchor="ctr"/>
          <a:lstStyle/>
          <a:p>
            <a:pPr marL="0" indent="0" algn="r">
              <a:buNone/>
            </a:pPr>
            <a:r>
              <a:rPr lang="en-US" sz="1100" dirty="0">
                <a:solidFill>
                  <a:srgbClr val="8A8175"/>
                </a:solidFill>
                <a:latin typeface="Trebuchet MS" pitchFamily="34" charset="0"/>
                <a:ea typeface="Trebuchet MS" pitchFamily="34" charset="-122"/>
                <a:cs typeface="Trebuchet MS" pitchFamily="34" charset="-120"/>
              </a:rPr>
              <a:t>Images &amp; delivery notes</a:t>
            </a:r>
            <a:endParaRPr lang="en-US" sz="1100" dirty="0"/>
          </a:p>
        </p:txBody>
      </p:sp>
      <p:sp>
        <p:nvSpPr>
          <p:cNvPr id="6" name="Header rule">
            <a:extLst>
              <a:ext uri="{C183D7F6-B498-43B3-948B-1728B52AA6E4}">
                <adec:decorative xmlns="" xmlns:adec="http://schemas.microsoft.com/office/drawing/2017/decorative" val="1"/>
              </a:ext>
            </a:extLst>
          </p:cNvPr>
          <p:cNvSpPr/>
          <p:nvPr/>
        </p:nvSpPr>
        <p:spPr>
          <a:xfrm>
            <a:off x="548640" y="1188720"/>
            <a:ext cx="8046720" cy="13716"/>
          </a:xfrm>
          <a:prstGeom prst="rect">
            <a:avLst/>
          </a:prstGeom>
          <a:solidFill>
            <a:srgbClr val="E2D6C3"/>
          </a:solidFill>
          <a:ln/>
        </p:spPr>
      </p:sp>
      <p:sp>
        <p:nvSpPr>
          <p:cNvPr id="7" name="Image placeholder frame">
            <a:extLst>
              <a:ext uri="{C183D7F6-B498-43B3-948B-1728B52AA6E4}">
                <adec:decorative xmlns="" xmlns:adec="http://schemas.microsoft.com/office/drawing/2017/decorative" val="1"/>
              </a:ext>
            </a:extLst>
          </p:cNvPr>
          <p:cNvSpPr/>
          <p:nvPr/>
        </p:nvSpPr>
        <p:spPr>
          <a:xfrm>
            <a:off x="548640" y="1371600"/>
            <a:ext cx="2560320" cy="1965960"/>
          </a:xfrm>
          <a:prstGeom prst="rect">
            <a:avLst/>
          </a:prstGeom>
          <a:solidFill>
            <a:srgbClr val="E4DACA"/>
          </a:solidFill>
          <a:ln w="12700">
            <a:solidFill>
              <a:srgbClr val="CBBDA6"/>
            </a:solidFill>
            <a:prstDash val="dash"/>
          </a:ln>
        </p:spPr>
      </p:sp>
      <p:sp>
        <p:nvSpPr>
          <p:cNvPr id="8" name="Placeholder mark">
            <a:extLst>
              <a:ext uri="{C183D7F6-B498-43B3-948B-1728B52AA6E4}">
                <adec:decorative xmlns="" xmlns:adec="http://schemas.microsoft.com/office/drawing/2017/decorative" val="1"/>
              </a:ext>
            </a:extLst>
          </p:cNvPr>
          <p:cNvSpPr/>
          <p:nvPr/>
        </p:nvSpPr>
        <p:spPr>
          <a:xfrm>
            <a:off x="1682496" y="2098548"/>
            <a:ext cx="292608" cy="32004"/>
          </a:xfrm>
          <a:prstGeom prst="rect">
            <a:avLst/>
          </a:prstGeom>
          <a:solidFill>
            <a:srgbClr val="B4632B"/>
          </a:solidFill>
          <a:ln/>
        </p:spPr>
      </p:sp>
      <p:sp>
        <p:nvSpPr>
          <p:cNvPr id="9" name="Text 7"/>
          <p:cNvSpPr/>
          <p:nvPr/>
        </p:nvSpPr>
        <p:spPr>
          <a:xfrm>
            <a:off x="6858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0" name="Image placeholder frame">
            <a:extLst>
              <a:ext uri="{C183D7F6-B498-43B3-948B-1728B52AA6E4}">
                <adec:decorative xmlns="" xmlns:adec="http://schemas.microsoft.com/office/drawing/2017/decorative" val="1"/>
              </a:ext>
            </a:extLst>
          </p:cNvPr>
          <p:cNvSpPr/>
          <p:nvPr/>
        </p:nvSpPr>
        <p:spPr>
          <a:xfrm>
            <a:off x="3291840" y="1371600"/>
            <a:ext cx="2560320" cy="1965960"/>
          </a:xfrm>
          <a:prstGeom prst="rect">
            <a:avLst/>
          </a:prstGeom>
          <a:solidFill>
            <a:srgbClr val="E4DACA"/>
          </a:solidFill>
          <a:ln w="12700">
            <a:solidFill>
              <a:srgbClr val="CBBDA6"/>
            </a:solidFill>
            <a:prstDash val="dash"/>
          </a:ln>
        </p:spPr>
      </p:sp>
      <p:sp>
        <p:nvSpPr>
          <p:cNvPr id="11" name="Placeholder mark">
            <a:extLst>
              <a:ext uri="{C183D7F6-B498-43B3-948B-1728B52AA6E4}">
                <adec:decorative xmlns="" xmlns:adec="http://schemas.microsoft.com/office/drawing/2017/decorative" val="1"/>
              </a:ext>
            </a:extLst>
          </p:cNvPr>
          <p:cNvSpPr/>
          <p:nvPr/>
        </p:nvSpPr>
        <p:spPr>
          <a:xfrm>
            <a:off x="4425696" y="2098548"/>
            <a:ext cx="292608" cy="32004"/>
          </a:xfrm>
          <a:prstGeom prst="rect">
            <a:avLst/>
          </a:prstGeom>
          <a:solidFill>
            <a:srgbClr val="B4632B"/>
          </a:solidFill>
          <a:ln/>
        </p:spPr>
      </p:sp>
      <p:sp>
        <p:nvSpPr>
          <p:cNvPr id="12" name="Text 10"/>
          <p:cNvSpPr/>
          <p:nvPr/>
        </p:nvSpPr>
        <p:spPr>
          <a:xfrm>
            <a:off x="34290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3" name="Image placeholder frame">
            <a:extLst>
              <a:ext uri="{C183D7F6-B498-43B3-948B-1728B52AA6E4}">
                <adec:decorative xmlns="" xmlns:adec="http://schemas.microsoft.com/office/drawing/2017/decorative" val="1"/>
              </a:ext>
            </a:extLst>
          </p:cNvPr>
          <p:cNvSpPr/>
          <p:nvPr/>
        </p:nvSpPr>
        <p:spPr>
          <a:xfrm>
            <a:off x="6035040" y="1371600"/>
            <a:ext cx="2560320" cy="1965960"/>
          </a:xfrm>
          <a:prstGeom prst="rect">
            <a:avLst/>
          </a:prstGeom>
          <a:solidFill>
            <a:srgbClr val="E4DACA"/>
          </a:solidFill>
          <a:ln w="12700">
            <a:solidFill>
              <a:srgbClr val="CBBDA6"/>
            </a:solidFill>
            <a:prstDash val="dash"/>
          </a:ln>
        </p:spPr>
      </p:sp>
      <p:sp>
        <p:nvSpPr>
          <p:cNvPr id="14" name="Placeholder mark">
            <a:extLst>
              <a:ext uri="{C183D7F6-B498-43B3-948B-1728B52AA6E4}">
                <adec:decorative xmlns="" xmlns:adec="http://schemas.microsoft.com/office/drawing/2017/decorative" val="1"/>
              </a:ext>
            </a:extLst>
          </p:cNvPr>
          <p:cNvSpPr/>
          <p:nvPr/>
        </p:nvSpPr>
        <p:spPr>
          <a:xfrm>
            <a:off x="7168896" y="2098548"/>
            <a:ext cx="292608" cy="32004"/>
          </a:xfrm>
          <a:prstGeom prst="rect">
            <a:avLst/>
          </a:prstGeom>
          <a:solidFill>
            <a:srgbClr val="B4632B"/>
          </a:solidFill>
          <a:ln/>
        </p:spPr>
      </p:sp>
      <p:sp>
        <p:nvSpPr>
          <p:cNvPr id="15" name="Text 13"/>
          <p:cNvSpPr/>
          <p:nvPr/>
        </p:nvSpPr>
        <p:spPr>
          <a:xfrm>
            <a:off x="6172200" y="2208276"/>
            <a:ext cx="2286000" cy="457200"/>
          </a:xfrm>
          <a:prstGeom prst="rect">
            <a:avLst/>
          </a:prstGeom>
          <a:noFill/>
          <a:ln/>
        </p:spPr>
        <p:txBody>
          <a:bodyPr wrap="square" lIns="0" tIns="0" rIns="0" bIns="0" rtlCol="0" anchor="ctr"/>
          <a:lstStyle/>
          <a:p>
            <a:pPr marL="0" indent="0" algn="ctr">
              <a:lnSpc>
                <a:spcPts val="1400"/>
              </a:lnSpc>
              <a:buNone/>
            </a:pPr>
            <a:r>
              <a:rPr lang="en-US" sz="1050" b="1" dirty="0">
                <a:solidFill>
                  <a:srgbClr val="A2947C"/>
                </a:solidFill>
                <a:latin typeface="Trebuchet MS" pitchFamily="34" charset="0"/>
                <a:ea typeface="Trebuchet MS" pitchFamily="34" charset="-122"/>
                <a:cs typeface="Trebuchet MS" pitchFamily="34" charset="-120"/>
              </a:rPr>
              <a:t>Add image</a:t>
            </a:r>
            <a:endParaRPr lang="en-US" sz="1050" dirty="0"/>
          </a:p>
        </p:txBody>
      </p:sp>
      <p:sp>
        <p:nvSpPr>
          <p:cNvPr id="16" name="Text 14"/>
          <p:cNvSpPr/>
          <p:nvPr/>
        </p:nvSpPr>
        <p:spPr>
          <a:xfrm>
            <a:off x="548640" y="3566160"/>
            <a:ext cx="8046720" cy="237744"/>
          </a:xfrm>
          <a:prstGeom prst="rect">
            <a:avLst/>
          </a:prstGeom>
          <a:noFill/>
          <a:ln/>
        </p:spPr>
        <p:txBody>
          <a:bodyPr wrap="square" lIns="0" tIns="0" rIns="0" bIns="0" rtlCol="0" anchor="ctr"/>
          <a:lstStyle/>
          <a:p>
            <a:pPr marL="0" indent="0">
              <a:buNone/>
            </a:pPr>
            <a:r>
              <a:rPr lang="en-US" sz="950" b="1" kern="0" spc="200" dirty="0">
                <a:solidFill>
                  <a:srgbClr val="B4632B"/>
                </a:solidFill>
                <a:latin typeface="Trebuchet MS" pitchFamily="34" charset="0"/>
                <a:ea typeface="Trebuchet MS" pitchFamily="34" charset="-122"/>
                <a:cs typeface="Trebuchet MS" pitchFamily="34" charset="-120"/>
              </a:rPr>
              <a:t>DELIVERY NOTES</a:t>
            </a:r>
            <a:endParaRPr lang="en-US" sz="950" dirty="0"/>
          </a:p>
        </p:txBody>
      </p:sp>
      <p:sp>
        <p:nvSpPr>
          <p:cNvPr id="17" name="Description box">
            <a:extLst>
              <a:ext uri="{C183D7F6-B498-43B3-948B-1728B52AA6E4}">
                <adec:decorative xmlns="" xmlns:adec="http://schemas.microsoft.com/office/drawing/2017/decorative" val="1"/>
              </a:ext>
            </a:extLst>
          </p:cNvPr>
          <p:cNvSpPr/>
          <p:nvPr/>
        </p:nvSpPr>
        <p:spPr>
          <a:xfrm>
            <a:off x="548640" y="3840480"/>
            <a:ext cx="8046720" cy="1051560"/>
          </a:xfrm>
          <a:prstGeom prst="rect">
            <a:avLst/>
          </a:prstGeom>
          <a:solidFill>
            <a:srgbClr val="FFFFFF"/>
          </a:solidFill>
          <a:ln w="12700">
            <a:solidFill>
              <a:srgbClr val="E0D5C2"/>
            </a:solidFill>
            <a:prstDash val="solid"/>
          </a:ln>
        </p:spPr>
      </p:sp>
      <p:sp>
        <p:nvSpPr>
          <p:cNvPr id="18" name="Text 16"/>
          <p:cNvSpPr/>
          <p:nvPr/>
        </p:nvSpPr>
        <p:spPr>
          <a:xfrm>
            <a:off x="713232" y="3968496"/>
            <a:ext cx="7717536" cy="795528"/>
          </a:xfrm>
          <a:prstGeom prst="rect">
            <a:avLst/>
          </a:prstGeom>
          <a:noFill/>
          <a:ln/>
        </p:spPr>
        <p:txBody>
          <a:bodyPr wrap="square" lIns="0" tIns="0" rIns="0" bIns="0" rtlCol="0" anchor="ctr"/>
          <a:lstStyle/>
          <a:p>
            <a:pPr>
              <a:lnSpc>
                <a:spcPts val="1500"/>
              </a:lnSpc>
            </a:pPr>
            <a:r>
              <a:rPr lang="en-US" sz="1050" i="1" dirty="0">
                <a:latin typeface="Trebuchet MS" pitchFamily="34" charset="0"/>
                <a:ea typeface="Trebuchet MS" pitchFamily="34" charset="-122"/>
                <a:cs typeface="Trebuchet MS" pitchFamily="34" charset="-120"/>
              </a:rPr>
              <a:t>Successfully delivered and commissioned the rooftop PV system, ensuring safe installation, efficient energy generation, reliable grid integration, and compliance with project requirements.</a:t>
            </a:r>
            <a:endParaRPr lang="en-US" sz="1050" dirty="0"/>
          </a:p>
        </p:txBody>
      </p:sp>
      <p:pic>
        <p:nvPicPr>
          <p:cNvPr id="19" name="Picture 18"/>
          <p:cNvPicPr>
            <a:picLocks noChangeAspect="1"/>
          </p:cNvPicPr>
          <p:nvPr/>
        </p:nvPicPr>
        <p:blipFill>
          <a:blip r:embed="rId3"/>
          <a:stretch>
            <a:fillRect/>
          </a:stretch>
        </p:blipFill>
        <p:spPr>
          <a:xfrm rot="16200000">
            <a:off x="843432" y="1072032"/>
            <a:ext cx="1970736" cy="2560320"/>
          </a:xfrm>
          <a:prstGeom prst="rect">
            <a:avLst/>
          </a:prstGeom>
        </p:spPr>
      </p:pic>
      <p:pic>
        <p:nvPicPr>
          <p:cNvPr id="20" name="Picture 19"/>
          <p:cNvPicPr>
            <a:picLocks noChangeAspect="1"/>
          </p:cNvPicPr>
          <p:nvPr/>
        </p:nvPicPr>
        <p:blipFill>
          <a:blip r:embed="rId4"/>
          <a:stretch>
            <a:fillRect/>
          </a:stretch>
        </p:blipFill>
        <p:spPr>
          <a:xfrm>
            <a:off x="3316277" y="1390700"/>
            <a:ext cx="2535884" cy="1946860"/>
          </a:xfrm>
          <a:prstGeom prst="rect">
            <a:avLst/>
          </a:prstGeom>
        </p:spPr>
      </p:pic>
      <p:pic>
        <p:nvPicPr>
          <p:cNvPr id="21" name="Picture 20"/>
          <p:cNvPicPr>
            <a:picLocks noChangeAspect="1"/>
          </p:cNvPicPr>
          <p:nvPr/>
        </p:nvPicPr>
        <p:blipFill>
          <a:blip r:embed="rId5"/>
          <a:stretch>
            <a:fillRect/>
          </a:stretch>
        </p:blipFill>
        <p:spPr>
          <a:xfrm>
            <a:off x="6035039" y="1390701"/>
            <a:ext cx="2578608" cy="1946860"/>
          </a:xfrm>
          <a:prstGeom prst="rect">
            <a:avLst/>
          </a:prstGeom>
        </p:spPr>
      </p:pic>
    </p:spTree>
    <p:extLst>
      <p:ext uri="{BB962C8B-B14F-4D97-AF65-F5344CB8AC3E}">
        <p14:creationId xmlns:p14="http://schemas.microsoft.com/office/powerpoint/2010/main" val="649460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FE7DA"/>
        </a:solidFill>
        <a:effectLst/>
      </p:bgPr>
    </p:bg>
    <p:spTree>
      <p:nvGrpSpPr>
        <p:cNvPr id="1" name=""/>
        <p:cNvGrpSpPr/>
        <p:nvPr/>
      </p:nvGrpSpPr>
      <p:grpSpPr>
        <a:xfrm>
          <a:off x="0" y="0"/>
          <a:ext cx="0" cy="0"/>
          <a:chOff x="0" y="0"/>
          <a:chExt cx="0" cy="0"/>
        </a:xfrm>
      </p:grpSpPr>
      <p:pic>
        <p:nvPicPr>
          <p:cNvPr id="2" name="Image 0" descr="Engineer inspecting a ground-mounted solar photovoltaic installation at golden hour"/>
          <p:cNvPicPr>
            <a:picLocks noChangeAspect="1"/>
          </p:cNvPicPr>
          <p:nvPr/>
        </p:nvPicPr>
        <p:blipFill>
          <a:blip r:embed="rId3"/>
          <a:srcRect l="25407" r="25407"/>
          <a:stretch/>
        </p:blipFill>
        <p:spPr>
          <a:xfrm>
            <a:off x="0" y="0"/>
            <a:ext cx="3794760" cy="5143500"/>
          </a:xfrm>
          <a:prstGeom prst="rect">
            <a:avLst/>
          </a:prstGeom>
        </p:spPr>
      </p:pic>
      <p:sp>
        <p:nvSpPr>
          <p:cNvPr id="3" name="Vertical accent">
            <a:extLst>
              <a:ext uri="{C183D7F6-B498-43B3-948B-1728B52AA6E4}">
                <adec:decorative xmlns="" xmlns:adec="http://schemas.microsoft.com/office/drawing/2017/decorative" val="1"/>
              </a:ext>
            </a:extLst>
          </p:cNvPr>
          <p:cNvSpPr/>
          <p:nvPr/>
        </p:nvSpPr>
        <p:spPr>
          <a:xfrm>
            <a:off x="3794760" y="0"/>
            <a:ext cx="54864" cy="5143500"/>
          </a:xfrm>
          <a:prstGeom prst="rect">
            <a:avLst/>
          </a:prstGeom>
          <a:solidFill>
            <a:srgbClr val="B4632B"/>
          </a:solidFill>
          <a:ln/>
        </p:spPr>
      </p:sp>
      <p:sp>
        <p:nvSpPr>
          <p:cNvPr id="4" name="Text 1"/>
          <p:cNvSpPr/>
          <p:nvPr/>
        </p:nvSpPr>
        <p:spPr>
          <a:xfrm>
            <a:off x="4343400" y="640080"/>
            <a:ext cx="4114800" cy="274320"/>
          </a:xfrm>
          <a:prstGeom prst="rect">
            <a:avLst/>
          </a:prstGeom>
          <a:noFill/>
          <a:ln/>
        </p:spPr>
        <p:txBody>
          <a:bodyPr wrap="square" lIns="0" tIns="0" rIns="0" bIns="0" rtlCol="0" anchor="ctr"/>
          <a:lstStyle/>
          <a:p>
            <a:pPr marL="0" indent="0">
              <a:buNone/>
            </a:pPr>
            <a:r>
              <a:rPr lang="en-US" sz="1050" b="1" kern="0" spc="300" dirty="0">
                <a:solidFill>
                  <a:srgbClr val="B4632B"/>
                </a:solidFill>
                <a:latin typeface="Trebuchet MS" pitchFamily="34" charset="0"/>
                <a:ea typeface="Trebuchet MS" pitchFamily="34" charset="-122"/>
                <a:cs typeface="Trebuchet MS" pitchFamily="34" charset="-120"/>
              </a:rPr>
              <a:t>HOW WE DELIVER</a:t>
            </a:r>
            <a:endParaRPr lang="en-US" sz="1050" dirty="0"/>
          </a:p>
        </p:txBody>
      </p:sp>
      <p:sp>
        <p:nvSpPr>
          <p:cNvPr id="5" name="Text 2"/>
          <p:cNvSpPr/>
          <p:nvPr/>
        </p:nvSpPr>
        <p:spPr>
          <a:xfrm>
            <a:off x="4343400" y="960120"/>
            <a:ext cx="4343400" cy="960120"/>
          </a:xfrm>
          <a:prstGeom prst="rect">
            <a:avLst/>
          </a:prstGeom>
          <a:noFill/>
          <a:ln/>
        </p:spPr>
        <p:txBody>
          <a:bodyPr wrap="square" lIns="0" tIns="0" rIns="0" bIns="0" rtlCol="0" anchor="ctr"/>
          <a:lstStyle/>
          <a:p>
            <a:pPr marL="0" indent="0">
              <a:lnSpc>
                <a:spcPts val="3000"/>
              </a:lnSpc>
              <a:buNone/>
            </a:pPr>
            <a:r>
              <a:rPr lang="en-US" sz="2400" b="1" dirty="0">
                <a:solidFill>
                  <a:srgbClr val="2B2926"/>
                </a:solidFill>
                <a:latin typeface="Georgia" pitchFamily="34" charset="0"/>
                <a:ea typeface="Georgia" pitchFamily="34" charset="-122"/>
                <a:cs typeface="Georgia" pitchFamily="34" charset="-120"/>
              </a:rPr>
              <a:t>One delivery model, applied</a:t>
            </a:r>
            <a:endParaRPr lang="en-US" sz="2400" dirty="0"/>
          </a:p>
          <a:p>
            <a:pPr marL="0" indent="0">
              <a:lnSpc>
                <a:spcPts val="3000"/>
              </a:lnSpc>
              <a:buNone/>
            </a:pPr>
            <a:r>
              <a:rPr lang="en-US" sz="2400" b="1" dirty="0">
                <a:solidFill>
                  <a:srgbClr val="2B2926"/>
                </a:solidFill>
                <a:latin typeface="Georgia" pitchFamily="34" charset="0"/>
                <a:ea typeface="Georgia" pitchFamily="34" charset="-122"/>
                <a:cs typeface="Georgia" pitchFamily="34" charset="-120"/>
              </a:rPr>
              <a:t>to every project</a:t>
            </a:r>
            <a:endParaRPr lang="en-US" sz="2400" dirty="0"/>
          </a:p>
        </p:txBody>
      </p:sp>
      <p:sp>
        <p:nvSpPr>
          <p:cNvPr id="6" name="Text 3"/>
          <p:cNvSpPr/>
          <p:nvPr/>
        </p:nvSpPr>
        <p:spPr>
          <a:xfrm>
            <a:off x="4343400" y="2121408"/>
            <a:ext cx="457200" cy="274320"/>
          </a:xfrm>
          <a:prstGeom prst="rect">
            <a:avLst/>
          </a:prstGeom>
          <a:noFill/>
          <a:ln/>
        </p:spPr>
        <p:txBody>
          <a:bodyPr wrap="square" lIns="0" tIns="0" rIns="0" bIns="0" rtlCol="0" anchor="ctr"/>
          <a:lstStyle/>
          <a:p>
            <a:pPr marL="0" indent="0">
              <a:buNone/>
            </a:pPr>
            <a:r>
              <a:rPr lang="en-US" sz="1300" b="1" dirty="0">
                <a:solidFill>
                  <a:srgbClr val="B4632B"/>
                </a:solidFill>
                <a:latin typeface="Georgia" pitchFamily="34" charset="0"/>
                <a:ea typeface="Georgia" pitchFamily="34" charset="-122"/>
                <a:cs typeface="Georgia" pitchFamily="34" charset="-120"/>
              </a:rPr>
              <a:t>01</a:t>
            </a:r>
            <a:endParaRPr lang="en-US" sz="1300" dirty="0"/>
          </a:p>
        </p:txBody>
      </p:sp>
      <p:sp>
        <p:nvSpPr>
          <p:cNvPr id="7" name="Text 4"/>
          <p:cNvSpPr/>
          <p:nvPr/>
        </p:nvSpPr>
        <p:spPr>
          <a:xfrm>
            <a:off x="4846320" y="2103120"/>
            <a:ext cx="3794760" cy="274320"/>
          </a:xfrm>
          <a:prstGeom prst="rect">
            <a:avLst/>
          </a:prstGeom>
          <a:noFill/>
          <a:ln/>
        </p:spPr>
        <p:txBody>
          <a:bodyPr wrap="square" lIns="0" tIns="0" rIns="0" bIns="0" rtlCol="0" anchor="ctr"/>
          <a:lstStyle/>
          <a:p>
            <a:pPr marL="0" indent="0">
              <a:buNone/>
            </a:pPr>
            <a:r>
              <a:rPr lang="en-US" sz="1250" b="1" dirty="0">
                <a:solidFill>
                  <a:srgbClr val="2B2926"/>
                </a:solidFill>
                <a:latin typeface="Trebuchet MS" pitchFamily="34" charset="0"/>
                <a:ea typeface="Trebuchet MS" pitchFamily="34" charset="-122"/>
                <a:cs typeface="Trebuchet MS" pitchFamily="34" charset="-120"/>
              </a:rPr>
              <a:t>Assess &amp; design</a:t>
            </a:r>
            <a:endParaRPr lang="en-US" sz="1250" dirty="0"/>
          </a:p>
        </p:txBody>
      </p:sp>
      <p:sp>
        <p:nvSpPr>
          <p:cNvPr id="8" name="Text 5"/>
          <p:cNvSpPr/>
          <p:nvPr/>
        </p:nvSpPr>
        <p:spPr>
          <a:xfrm>
            <a:off x="4846320" y="2386584"/>
            <a:ext cx="3794760" cy="384048"/>
          </a:xfrm>
          <a:prstGeom prst="rect">
            <a:avLst/>
          </a:prstGeom>
          <a:noFill/>
          <a:ln/>
        </p:spPr>
        <p:txBody>
          <a:bodyPr wrap="square" lIns="0" tIns="0" rIns="0" bIns="0" rtlCol="0" anchor="ctr"/>
          <a:lstStyle/>
          <a:p>
            <a:pPr marL="0" indent="0">
              <a:lnSpc>
                <a:spcPts val="1400"/>
              </a:lnSpc>
              <a:buNone/>
            </a:pPr>
            <a:r>
              <a:rPr lang="en-US" sz="1050" dirty="0">
                <a:solidFill>
                  <a:srgbClr val="45413B"/>
                </a:solidFill>
                <a:latin typeface="Trebuchet MS" pitchFamily="34" charset="0"/>
                <a:ea typeface="Trebuchet MS" pitchFamily="34" charset="-122"/>
                <a:cs typeface="Trebuchet MS" pitchFamily="34" charset="-120"/>
              </a:rPr>
              <a:t>Site survey, yield modelling and structural review.</a:t>
            </a:r>
            <a:endParaRPr lang="en-US" sz="1050" dirty="0"/>
          </a:p>
        </p:txBody>
      </p:sp>
      <p:sp>
        <p:nvSpPr>
          <p:cNvPr id="9" name="Step divider">
            <a:extLst>
              <a:ext uri="{C183D7F6-B498-43B3-948B-1728B52AA6E4}">
                <adec:decorative xmlns="" xmlns:adec="http://schemas.microsoft.com/office/drawing/2017/decorative" val="1"/>
              </a:ext>
            </a:extLst>
          </p:cNvPr>
          <p:cNvSpPr/>
          <p:nvPr/>
        </p:nvSpPr>
        <p:spPr>
          <a:xfrm>
            <a:off x="4343400" y="2825496"/>
            <a:ext cx="4297680" cy="10973"/>
          </a:xfrm>
          <a:prstGeom prst="rect">
            <a:avLst/>
          </a:prstGeom>
          <a:solidFill>
            <a:srgbClr val="E2D6C3"/>
          </a:solidFill>
          <a:ln/>
        </p:spPr>
      </p:sp>
      <p:sp>
        <p:nvSpPr>
          <p:cNvPr id="10" name="Text 7"/>
          <p:cNvSpPr/>
          <p:nvPr/>
        </p:nvSpPr>
        <p:spPr>
          <a:xfrm>
            <a:off x="4343400" y="2962656"/>
            <a:ext cx="457200" cy="274320"/>
          </a:xfrm>
          <a:prstGeom prst="rect">
            <a:avLst/>
          </a:prstGeom>
          <a:noFill/>
          <a:ln/>
        </p:spPr>
        <p:txBody>
          <a:bodyPr wrap="square" lIns="0" tIns="0" rIns="0" bIns="0" rtlCol="0" anchor="ctr"/>
          <a:lstStyle/>
          <a:p>
            <a:pPr marL="0" indent="0">
              <a:buNone/>
            </a:pPr>
            <a:r>
              <a:rPr lang="en-US" sz="1300" b="1" dirty="0">
                <a:solidFill>
                  <a:srgbClr val="B4632B"/>
                </a:solidFill>
                <a:latin typeface="Georgia" pitchFamily="34" charset="0"/>
                <a:ea typeface="Georgia" pitchFamily="34" charset="-122"/>
                <a:cs typeface="Georgia" pitchFamily="34" charset="-120"/>
              </a:rPr>
              <a:t>02</a:t>
            </a:r>
            <a:endParaRPr lang="en-US" sz="1300" dirty="0"/>
          </a:p>
        </p:txBody>
      </p:sp>
      <p:sp>
        <p:nvSpPr>
          <p:cNvPr id="11" name="Text 8"/>
          <p:cNvSpPr/>
          <p:nvPr/>
        </p:nvSpPr>
        <p:spPr>
          <a:xfrm>
            <a:off x="4846320" y="2944368"/>
            <a:ext cx="3794760" cy="274320"/>
          </a:xfrm>
          <a:prstGeom prst="rect">
            <a:avLst/>
          </a:prstGeom>
          <a:noFill/>
          <a:ln/>
        </p:spPr>
        <p:txBody>
          <a:bodyPr wrap="square" lIns="0" tIns="0" rIns="0" bIns="0" rtlCol="0" anchor="ctr"/>
          <a:lstStyle/>
          <a:p>
            <a:pPr marL="0" indent="0">
              <a:buNone/>
            </a:pPr>
            <a:r>
              <a:rPr lang="en-US" sz="1250" b="1" dirty="0">
                <a:solidFill>
                  <a:srgbClr val="2B2926"/>
                </a:solidFill>
                <a:latin typeface="Trebuchet MS" pitchFamily="34" charset="0"/>
                <a:ea typeface="Trebuchet MS" pitchFamily="34" charset="-122"/>
                <a:cs typeface="Trebuchet MS" pitchFamily="34" charset="-120"/>
              </a:rPr>
              <a:t>Procure &amp; build</a:t>
            </a:r>
            <a:endParaRPr lang="en-US" sz="1250" dirty="0"/>
          </a:p>
        </p:txBody>
      </p:sp>
      <p:sp>
        <p:nvSpPr>
          <p:cNvPr id="12" name="Text 9"/>
          <p:cNvSpPr/>
          <p:nvPr/>
        </p:nvSpPr>
        <p:spPr>
          <a:xfrm>
            <a:off x="4846320" y="3227832"/>
            <a:ext cx="3794760" cy="384048"/>
          </a:xfrm>
          <a:prstGeom prst="rect">
            <a:avLst/>
          </a:prstGeom>
          <a:noFill/>
          <a:ln/>
        </p:spPr>
        <p:txBody>
          <a:bodyPr wrap="square" lIns="0" tIns="0" rIns="0" bIns="0" rtlCol="0" anchor="ctr"/>
          <a:lstStyle/>
          <a:p>
            <a:pPr marL="0" indent="0">
              <a:lnSpc>
                <a:spcPts val="1400"/>
              </a:lnSpc>
              <a:buNone/>
            </a:pPr>
            <a:r>
              <a:rPr lang="en-US" sz="1050" dirty="0">
                <a:solidFill>
                  <a:srgbClr val="45413B"/>
                </a:solidFill>
                <a:latin typeface="Trebuchet MS" pitchFamily="34" charset="0"/>
                <a:ea typeface="Trebuchet MS" pitchFamily="34" charset="-122"/>
                <a:cs typeface="Trebuchet MS" pitchFamily="34" charset="-120"/>
              </a:rPr>
              <a:t>Tier-one supply, safe installation, quality control.</a:t>
            </a:r>
            <a:endParaRPr lang="en-US" sz="1050" dirty="0"/>
          </a:p>
        </p:txBody>
      </p:sp>
      <p:sp>
        <p:nvSpPr>
          <p:cNvPr id="13" name="Step divider">
            <a:extLst>
              <a:ext uri="{C183D7F6-B498-43B3-948B-1728B52AA6E4}">
                <adec:decorative xmlns="" xmlns:adec="http://schemas.microsoft.com/office/drawing/2017/decorative" val="1"/>
              </a:ext>
            </a:extLst>
          </p:cNvPr>
          <p:cNvSpPr/>
          <p:nvPr/>
        </p:nvSpPr>
        <p:spPr>
          <a:xfrm>
            <a:off x="4343400" y="3666744"/>
            <a:ext cx="4297680" cy="10973"/>
          </a:xfrm>
          <a:prstGeom prst="rect">
            <a:avLst/>
          </a:prstGeom>
          <a:solidFill>
            <a:srgbClr val="E2D6C3"/>
          </a:solidFill>
          <a:ln/>
        </p:spPr>
      </p:sp>
      <p:sp>
        <p:nvSpPr>
          <p:cNvPr id="14" name="Text 11"/>
          <p:cNvSpPr/>
          <p:nvPr/>
        </p:nvSpPr>
        <p:spPr>
          <a:xfrm>
            <a:off x="4343400" y="3803904"/>
            <a:ext cx="457200" cy="274320"/>
          </a:xfrm>
          <a:prstGeom prst="rect">
            <a:avLst/>
          </a:prstGeom>
          <a:noFill/>
          <a:ln/>
        </p:spPr>
        <p:txBody>
          <a:bodyPr wrap="square" lIns="0" tIns="0" rIns="0" bIns="0" rtlCol="0" anchor="ctr"/>
          <a:lstStyle/>
          <a:p>
            <a:pPr marL="0" indent="0">
              <a:buNone/>
            </a:pPr>
            <a:r>
              <a:rPr lang="en-US" sz="1300" b="1" dirty="0">
                <a:solidFill>
                  <a:srgbClr val="B4632B"/>
                </a:solidFill>
                <a:latin typeface="Georgia" pitchFamily="34" charset="0"/>
                <a:ea typeface="Georgia" pitchFamily="34" charset="-122"/>
                <a:cs typeface="Georgia" pitchFamily="34" charset="-120"/>
              </a:rPr>
              <a:t>03</a:t>
            </a:r>
            <a:endParaRPr lang="en-US" sz="1300" dirty="0"/>
          </a:p>
        </p:txBody>
      </p:sp>
      <p:sp>
        <p:nvSpPr>
          <p:cNvPr id="15" name="Text 12"/>
          <p:cNvSpPr/>
          <p:nvPr/>
        </p:nvSpPr>
        <p:spPr>
          <a:xfrm>
            <a:off x="4846320" y="3785616"/>
            <a:ext cx="3794760" cy="274320"/>
          </a:xfrm>
          <a:prstGeom prst="rect">
            <a:avLst/>
          </a:prstGeom>
          <a:noFill/>
          <a:ln/>
        </p:spPr>
        <p:txBody>
          <a:bodyPr wrap="square" lIns="0" tIns="0" rIns="0" bIns="0" rtlCol="0" anchor="ctr"/>
          <a:lstStyle/>
          <a:p>
            <a:pPr marL="0" indent="0">
              <a:buNone/>
            </a:pPr>
            <a:r>
              <a:rPr lang="en-US" sz="1250" b="1" dirty="0">
                <a:solidFill>
                  <a:srgbClr val="2B2926"/>
                </a:solidFill>
                <a:latin typeface="Trebuchet MS" pitchFamily="34" charset="0"/>
                <a:ea typeface="Trebuchet MS" pitchFamily="34" charset="-122"/>
                <a:cs typeface="Trebuchet MS" pitchFamily="34" charset="-120"/>
              </a:rPr>
              <a:t>Commission &amp; support</a:t>
            </a:r>
            <a:endParaRPr lang="en-US" sz="1250" dirty="0"/>
          </a:p>
        </p:txBody>
      </p:sp>
      <p:sp>
        <p:nvSpPr>
          <p:cNvPr id="16" name="Text 13"/>
          <p:cNvSpPr/>
          <p:nvPr/>
        </p:nvSpPr>
        <p:spPr>
          <a:xfrm>
            <a:off x="4846320" y="4069080"/>
            <a:ext cx="3794760" cy="384048"/>
          </a:xfrm>
          <a:prstGeom prst="rect">
            <a:avLst/>
          </a:prstGeom>
          <a:noFill/>
          <a:ln/>
        </p:spPr>
        <p:txBody>
          <a:bodyPr wrap="square" lIns="0" tIns="0" rIns="0" bIns="0" rtlCol="0" anchor="ctr"/>
          <a:lstStyle/>
          <a:p>
            <a:pPr marL="0" indent="0">
              <a:lnSpc>
                <a:spcPts val="1400"/>
              </a:lnSpc>
              <a:buNone/>
            </a:pPr>
            <a:r>
              <a:rPr lang="en-US" sz="1050" dirty="0">
                <a:solidFill>
                  <a:srgbClr val="45413B"/>
                </a:solidFill>
                <a:latin typeface="Trebuchet MS" pitchFamily="34" charset="0"/>
                <a:ea typeface="Trebuchet MS" pitchFamily="34" charset="-122"/>
                <a:cs typeface="Trebuchet MS" pitchFamily="34" charset="-120"/>
              </a:rPr>
              <a:t>Testing, grid interface, handover and aftercare.</a:t>
            </a:r>
            <a:endParaRPr lang="en-US" sz="10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9bb12b3-bfde-429c-849c-033ed9888e64}" enabled="1" method="Standard" siteId="{90e86ad0-d91a-47cc-9924-6e7b30fcba52}" removed="0"/>
</clbl:labelList>
</file>

<file path=docProps/app.xml><?xml version="1.0" encoding="utf-8"?>
<Properties xmlns="http://schemas.openxmlformats.org/officeDocument/2006/extended-properties" xmlns:vt="http://schemas.openxmlformats.org/officeDocument/2006/docPropsVTypes">
  <Template>office theme</Template>
  <TotalTime>1553</TotalTime>
  <Words>1760</Words>
  <Application>Microsoft Office PowerPoint</Application>
  <PresentationFormat>On-screen Show (16:9)</PresentationFormat>
  <Paragraphs>482</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Fiza Zareen</cp:lastModifiedBy>
  <cp:revision>33</cp:revision>
  <dcterms:created xsi:type="dcterms:W3CDTF">2026-08-13T11:24:59Z</dcterms:created>
  <dcterms:modified xsi:type="dcterms:W3CDTF">2026-09-19T17:19:51Z</dcterms:modified>
</cp:coreProperties>
</file>